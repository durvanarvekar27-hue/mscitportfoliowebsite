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0.xml" ContentType="application/vnd.openxmlformats-officedocument.presentationml.notesSlid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70" r:id="rId5"/>
    <p:sldId id="261" r:id="rId6"/>
    <p:sldId id="723" r:id="rId7"/>
    <p:sldId id="725" r:id="rId8"/>
    <p:sldId id="740" r:id="rId9"/>
    <p:sldId id="727" r:id="rId10"/>
    <p:sldId id="730" r:id="rId11"/>
    <p:sldId id="731" r:id="rId12"/>
    <p:sldId id="739" r:id="rId13"/>
    <p:sldId id="738" r:id="rId14"/>
    <p:sldId id="729" r:id="rId15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3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CCCCFF"/>
    <a:srgbClr val="FFFF99"/>
    <a:srgbClr val="1C1E26"/>
    <a:srgbClr val="99FF99"/>
    <a:srgbClr val="FFCCCC"/>
    <a:srgbClr val="99FFCC"/>
    <a:srgbClr val="FFFFCC"/>
    <a:srgbClr val="F7F7F7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8CF3EA-4D38-0B0F-79E8-BF45E55D2514}" v="1" dt="2021-12-15T07:41:49.936"/>
    <p1510:client id="{E5C62CD4-E8BC-1678-A084-8A948554B523}" v="1" dt="2021-12-15T15:27:58.9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584" autoAdjust="0"/>
  </p:normalViewPr>
  <p:slideViewPr>
    <p:cSldViewPr snapToGrid="0">
      <p:cViewPr varScale="1">
        <p:scale>
          <a:sx n="45" d="100"/>
          <a:sy n="45" d="100"/>
        </p:scale>
        <p:origin x="822" y="48"/>
      </p:cViewPr>
      <p:guideLst>
        <p:guide orient="horz" pos="2160"/>
        <p:guide pos="3840"/>
      </p:guideLst>
    </p:cSldViewPr>
  </p:slideViewPr>
  <p:outlineViewPr>
    <p:cViewPr>
      <p:scale>
        <a:sx n="75" d="100"/>
        <a:sy n="75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44264"/>
    </p:cViewPr>
  </p:sorterViewPr>
  <p:notesViewPr>
    <p:cSldViewPr snapToGrid="0">
      <p:cViewPr varScale="1">
        <p:scale>
          <a:sx n="58" d="100"/>
          <a:sy n="58" d="100"/>
        </p:scale>
        <p:origin x="2965" y="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9E8-4104-A85D-E5A6789B4CCE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9E8-4104-A85D-E5A6789B4CCE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79</c:v>
                </c:pt>
                <c:pt idx="1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9E8-4104-A85D-E5A6789B4C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050-41A2-AFF8-A1F6C4CC9DFD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050-41A2-AFF8-A1F6C4CC9DFD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64</c:v>
                </c:pt>
                <c:pt idx="1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050-41A2-AFF8-A1F6C4CC9D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139-4E8F-BD8B-8052FC3A28DB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139-4E8F-BD8B-8052FC3A28DB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71</c:v>
                </c:pt>
                <c:pt idx="1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139-4E8F-BD8B-8052FC3A28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369-4A71-BF99-C428707D6B18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369-4A71-BF99-C428707D6B18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93</c:v>
                </c:pt>
                <c:pt idx="1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369-4A71-BF99-C428707D6B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D12-4D84-B94F-C1014C1B7445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D12-4D84-B94F-C1014C1B7445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93</c:v>
                </c:pt>
                <c:pt idx="1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D12-4D84-B94F-C1014C1B74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YR1</c:v>
                </c:pt>
                <c:pt idx="1">
                  <c:v>YR2</c:v>
                </c:pt>
                <c:pt idx="2">
                  <c:v>YR3</c:v>
                </c:pt>
              </c:strCache>
            </c:strRef>
          </c:cat>
          <c:val>
            <c:numRef>
              <c:f>Sheet1!$B$2:$B$4</c:f>
              <c:numCache>
                <c:formatCode>"₹"\ #,##0</c:formatCode>
                <c:ptCount val="3"/>
                <c:pt idx="0">
                  <c:v>702000</c:v>
                </c:pt>
                <c:pt idx="1">
                  <c:v>772200</c:v>
                </c:pt>
                <c:pt idx="2">
                  <c:v>849420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D3-48A6-AB9F-851837A3775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COGS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YR1</c:v>
                </c:pt>
                <c:pt idx="1">
                  <c:v>YR2</c:v>
                </c:pt>
                <c:pt idx="2">
                  <c:v>YR3</c:v>
                </c:pt>
              </c:strCache>
            </c:strRef>
          </c:cat>
          <c:val>
            <c:numRef>
              <c:f>Sheet1!$C$2:$C$4</c:f>
              <c:numCache>
                <c:formatCode>"₹"\ #,##0</c:formatCode>
                <c:ptCount val="3"/>
                <c:pt idx="0">
                  <c:v>212000</c:v>
                </c:pt>
                <c:pt idx="1">
                  <c:v>222600</c:v>
                </c:pt>
                <c:pt idx="2">
                  <c:v>233730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D3-48A6-AB9F-851837A3775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NET PROFIT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YR1</c:v>
                </c:pt>
                <c:pt idx="1">
                  <c:v>YR2</c:v>
                </c:pt>
                <c:pt idx="2">
                  <c:v>YR3</c:v>
                </c:pt>
              </c:strCache>
            </c:strRef>
          </c:cat>
          <c:val>
            <c:numRef>
              <c:f>Sheet1!$D$2:$D$4</c:f>
              <c:numCache>
                <c:formatCode>"₹"\ #,##0</c:formatCode>
                <c:ptCount val="3"/>
                <c:pt idx="0">
                  <c:v>490000</c:v>
                </c:pt>
                <c:pt idx="1">
                  <c:v>549600</c:v>
                </c:pt>
                <c:pt idx="2">
                  <c:v>615690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D3-48A6-AB9F-851837A3775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-10"/>
        <c:axId val="2108307928"/>
        <c:axId val="2108311448"/>
      </c:barChart>
      <c:catAx>
        <c:axId val="2108307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  <a:alpha val="27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 sz="1000" b="1"/>
            </a:pPr>
            <a:endParaRPr lang="en-US"/>
          </a:p>
        </c:txPr>
        <c:crossAx val="2108311448"/>
        <c:crosses val="autoZero"/>
        <c:auto val="1"/>
        <c:lblAlgn val="ctr"/>
        <c:lblOffset val="100"/>
        <c:noMultiLvlLbl val="1"/>
      </c:catAx>
      <c:valAx>
        <c:axId val="2108311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  <a:alpha val="30000"/>
                </a:schemeClr>
              </a:solidFill>
              <a:round/>
            </a:ln>
            <a:effectLst/>
          </c:spPr>
        </c:majorGridlines>
        <c:numFmt formatCode="&quot;₹&quot;\ 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2108307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sz="800">
          <a:solidFill>
            <a:schemeClr val="tx2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FF2-4AD8-9422-9941B0FF0CE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FF2-4AD8-9422-9941B0FF0CE3}"/>
              </c:ext>
            </c:extLst>
          </c:dPt>
          <c:dPt>
            <c:idx val="2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6AE-47FB-BCDE-982177D377F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FF2-4AD8-9422-9941B0FF0CE3}"/>
              </c:ext>
            </c:extLst>
          </c:dPt>
          <c:cat>
            <c:strRef>
              <c:f>Sheet1!$A$2:$A$5</c:f>
              <c:strCache>
                <c:ptCount val="4"/>
                <c:pt idx="0">
                  <c:v>DEBT INVESTOR</c:v>
                </c:pt>
                <c:pt idx="1">
                  <c:v>OWNER EQUITY INVESTMENT</c:v>
                </c:pt>
                <c:pt idx="2">
                  <c:v>BANK </c:v>
                </c:pt>
                <c:pt idx="3">
                  <c:v>OTHER INVESTMENT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0.39</c:v>
                </c:pt>
                <c:pt idx="1">
                  <c:v>0.2</c:v>
                </c:pt>
                <c:pt idx="2">
                  <c:v>0.2</c:v>
                </c:pt>
                <c:pt idx="3">
                  <c:v>0.21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AE-47FB-BCDE-982177D377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49"/>
        <c:holeSize val="64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4DB-4C49-A143-869F975FCF5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4DB-4C49-A143-869F975FCF5C}"/>
              </c:ext>
            </c:extLst>
          </c:dPt>
          <c:dPt>
            <c:idx val="2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6AE-47FB-BCDE-982177D377F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4DB-4C49-A143-869F975FCF5C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54DB-4C49-A143-869F975FCF5C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54DB-4C49-A143-869F975FCF5C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54DB-4C49-A143-869F975FCF5C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54DB-4C49-A143-869F975FCF5C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54DB-4C49-A143-869F975FCF5C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54DB-4C49-A143-869F975FCF5C}"/>
              </c:ext>
            </c:extLst>
          </c:dPt>
          <c:cat>
            <c:strRef>
              <c:f>Sheet1!$A$2:$A$11</c:f>
              <c:strCache>
                <c:ptCount val="10"/>
                <c:pt idx="0">
                  <c:v>FF&amp;E</c:v>
                </c:pt>
                <c:pt idx="1">
                  <c:v>IMPROVEMENT</c:v>
                </c:pt>
                <c:pt idx="2">
                  <c:v>RETAIL BUSINESS INSURANCE</c:v>
                </c:pt>
                <c:pt idx="3">
                  <c:v>COFFEE SUPPLIES INVENTORY</c:v>
                </c:pt>
                <c:pt idx="4">
                  <c:v>MARKETING</c:v>
                </c:pt>
                <c:pt idx="5">
                  <c:v>WORKING CAPITAL</c:v>
                </c:pt>
                <c:pt idx="6">
                  <c:v>WEBSITE DEVELOPMENT</c:v>
                </c:pt>
                <c:pt idx="7">
                  <c:v>MISCELLANEOUS COSTS</c:v>
                </c:pt>
                <c:pt idx="8">
                  <c:v>INITIAL LEASE PAYMENTS</c:v>
                </c:pt>
                <c:pt idx="9">
                  <c:v>LEASE DEPOSIT</c:v>
                </c:pt>
              </c:strCache>
            </c:strRef>
          </c:cat>
          <c:val>
            <c:numRef>
              <c:f>Sheet1!$B$2:$B$11</c:f>
              <c:numCache>
                <c:formatCode>0%</c:formatCode>
                <c:ptCount val="10"/>
                <c:pt idx="0">
                  <c:v>0.24</c:v>
                </c:pt>
                <c:pt idx="1">
                  <c:v>0.2</c:v>
                </c:pt>
                <c:pt idx="2">
                  <c:v>0.02</c:v>
                </c:pt>
                <c:pt idx="3">
                  <c:v>0.08</c:v>
                </c:pt>
                <c:pt idx="4">
                  <c:v>0.04</c:v>
                </c:pt>
                <c:pt idx="5">
                  <c:v>0.28000000000000003</c:v>
                </c:pt>
                <c:pt idx="6">
                  <c:v>0.02</c:v>
                </c:pt>
                <c:pt idx="7">
                  <c:v>0.08</c:v>
                </c:pt>
                <c:pt idx="8">
                  <c:v>0.03</c:v>
                </c:pt>
                <c:pt idx="9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AE-47FB-BCDE-982177D377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8"/>
        <c:holeSize val="64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421010-3731-422F-8CF1-CD47B2D7C9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656080-143A-4905-932A-5C7754887A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920ABC-E11D-42B4-A428-76B2C5BC0052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9276-DB8D-43B4-8029-4A695209B9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29EE0F-113C-45AB-9877-4A16FFA6A9C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DB89D3-056A-4F4C-8125-EA71262895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8278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3EED04-A4F0-49ED-B42E-211B56474E8D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220CB7-DCA5-4E5B-97F1-300CDD8D2A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183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220CB7-DCA5-4E5B-97F1-300CDD8D2AA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457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220CB7-DCA5-4E5B-97F1-300CDD8D2AA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636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220CB7-DCA5-4E5B-97F1-300CDD8D2AA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990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220CB7-DCA5-4E5B-97F1-300CDD8D2AA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4963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220CB7-DCA5-4E5B-97F1-300CDD8D2AA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7947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220CB7-DCA5-4E5B-97F1-300CDD8D2AA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3537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220CB7-DCA5-4E5B-97F1-300CDD8D2AA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5975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220CB7-DCA5-4E5B-97F1-300CDD8D2AA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700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220CB7-DCA5-4E5B-97F1-300CDD8D2AA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8149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220CB7-DCA5-4E5B-97F1-300CDD8D2AA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3458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220CB7-DCA5-4E5B-97F1-300CDD8D2AA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117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B8A1A3-5BFE-4E68-81F1-F52462776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1469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A1EF1-BFC9-4361-B215-2D83B16AB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16709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4878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51FFE5-84D8-43BD-9B0D-76C497F55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58921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1428299"/>
            <a:ext cx="1711234" cy="44369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FB4FFF-4547-4B6C-9BF5-9A495C211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3253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 userDrawn="1"/>
        </p:nvGrpSpPr>
        <p:grpSpPr>
          <a:xfrm rot="10800000">
            <a:off x="11858328" y="148422"/>
            <a:ext cx="332874" cy="590718"/>
            <a:chOff x="10026" y="148425"/>
            <a:chExt cx="332874" cy="590718"/>
          </a:xfrm>
        </p:grpSpPr>
        <p:sp>
          <p:nvSpPr>
            <p:cNvPr id="16" name="Rectangle 15"/>
            <p:cNvSpPr/>
            <p:nvPr/>
          </p:nvSpPr>
          <p:spPr>
            <a:xfrm>
              <a:off x="10026" y="148428"/>
              <a:ext cx="203334" cy="59071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Rectangle 1"/>
          <p:cNvSpPr/>
          <p:nvPr userDrawn="1"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E6E6E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11292841" y="6528300"/>
            <a:ext cx="79941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260E2A6B-A809-4840-BF14-8648BC0BDF87}" type="slidenum">
              <a:rPr lang="en-US" sz="1200" b="0" i="0" strike="noStrike" spc="0" noProof="0" smtClean="0">
                <a:solidFill>
                  <a:schemeClr val="accent1"/>
                </a:solidFill>
                <a:latin typeface="+mn-lt"/>
                <a:ea typeface="Roboto Condensed Light" panose="02000000000000000000" pitchFamily="2" charset="0"/>
                <a:cs typeface="Segoe UI Light" panose="020B0502040204020203" pitchFamily="34" charset="0"/>
              </a:rPr>
              <a:pPr algn="r"/>
              <a:t>‹#›</a:t>
            </a:fld>
            <a:endParaRPr lang="en-US" sz="8000" b="0" i="0" strike="noStrike" spc="0" noProof="0" dirty="0">
              <a:solidFill>
                <a:schemeClr val="accent1"/>
              </a:solidFill>
              <a:latin typeface="+mn-lt"/>
              <a:ea typeface="Roboto Condensed Light" panose="02000000000000000000" pitchFamily="2" charset="0"/>
              <a:cs typeface="Segoe UI Light" panose="020B0502040204020203" pitchFamily="34" charset="0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68580" y="6528300"/>
            <a:ext cx="16843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noProof="0" dirty="0">
                <a:solidFill>
                  <a:schemeClr val="accent1"/>
                </a:solidFill>
                <a:latin typeface="+mn-lt"/>
              </a:rPr>
              <a:t>Your </a:t>
            </a:r>
            <a:r>
              <a:rPr lang="en-US" sz="1200" b="1" baseline="0" noProof="0" dirty="0">
                <a:solidFill>
                  <a:schemeClr val="accent1"/>
                </a:solidFill>
                <a:latin typeface="+mn-lt"/>
              </a:rPr>
              <a:t>Coffee Shop</a:t>
            </a:r>
            <a:endParaRPr lang="en-US" sz="1200" b="1" noProof="0" dirty="0">
              <a:solidFill>
                <a:schemeClr val="accent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08118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2" r:id="rId2"/>
    <p:sldLayoutId id="2147483781" r:id="rId3"/>
    <p:sldLayoutId id="214748369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5.xml"/><Relationship Id="rId3" Type="http://schemas.openxmlformats.org/officeDocument/2006/relationships/notesSlide" Target="../notesSlides/notesSlide4.xml"/><Relationship Id="rId7" Type="http://schemas.openxmlformats.org/officeDocument/2006/relationships/chart" Target="../charts/chart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" y="0"/>
            <a:ext cx="1219200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Placeholder 1" descr="Coffee shop artwork and icons"/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11" name="Title 10" hidden="1">
            <a:extLst>
              <a:ext uri="{FF2B5EF4-FFF2-40B4-BE49-F238E27FC236}">
                <a16:creationId xmlns:a16="http://schemas.microsoft.com/office/drawing/2014/main" id="{B825F879-7327-49C3-8A45-B7A226CC3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1</a:t>
            </a:r>
          </a:p>
        </p:txBody>
      </p:sp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Illustration of a coffee cup and saucer with steam coming out and the wording &quot;Coffee Shop&quot; within the steam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647" y="329709"/>
            <a:ext cx="2792701" cy="402302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405545" y="4658381"/>
            <a:ext cx="33809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ROASTING CAFE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89492" y="6423298"/>
            <a:ext cx="42130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spc="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INVESTOR OPPORTUNITY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72233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repeatCount="4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5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8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hotograph of coffee mug filled, on a table and surrounded by coffee bean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" y="0"/>
            <a:ext cx="12192001" cy="6858000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961229" y="1811629"/>
            <a:ext cx="3623472" cy="48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3200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OUR BIG IDEA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1229" y="2563242"/>
            <a:ext cx="3961291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Our mission at </a:t>
            </a:r>
            <a:r>
              <a:rPr lang="en-US" sz="1400" b="1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Roasting Cafe </a:t>
            </a:r>
            <a:r>
              <a:rPr lang="en-US" sz="14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is to become the recognized leader in its target market for providing an outstanding selection of </a:t>
            </a:r>
            <a:r>
              <a:rPr lang="en-US" sz="1400" b="1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premium ground coffees</a:t>
            </a:r>
            <a:r>
              <a:rPr lang="en-US" sz="14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and </a:t>
            </a:r>
            <a:r>
              <a:rPr lang="en-US" sz="1400" b="1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other caffeine beverages</a:t>
            </a:r>
            <a:r>
              <a:rPr lang="en-US" sz="14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</p:txBody>
      </p:sp>
      <p:pic>
        <p:nvPicPr>
          <p:cNvPr id="38" name="Picture 37" descr="Illustration of a coffee cup and saucer with steam coming out and the wording &quot;Coffee Shop&quot; within the steam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229" y="3899962"/>
            <a:ext cx="1907451" cy="2747780"/>
          </a:xfrm>
          <a:prstGeom prst="rect">
            <a:avLst/>
          </a:prstGeom>
        </p:spPr>
      </p:pic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B99C03C8-BF33-4C27-9832-97127EEB1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2</a:t>
            </a:r>
          </a:p>
        </p:txBody>
      </p:sp>
    </p:spTree>
    <p:extLst>
      <p:ext uri="{BB962C8B-B14F-4D97-AF65-F5344CB8AC3E}">
        <p14:creationId xmlns:p14="http://schemas.microsoft.com/office/powerpoint/2010/main" val="3503053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2" presetClass="entr" presetSubtype="2" decel="3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TextBox 1133"/>
          <p:cNvSpPr txBox="1"/>
          <p:nvPr/>
        </p:nvSpPr>
        <p:spPr>
          <a:xfrm>
            <a:off x="381000" y="243235"/>
            <a:ext cx="6099463" cy="495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32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INDUSTRY OUTLOOK</a:t>
            </a:r>
          </a:p>
        </p:txBody>
      </p:sp>
      <p:grpSp>
        <p:nvGrpSpPr>
          <p:cNvPr id="3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148425"/>
            <a:ext cx="342900" cy="590715"/>
            <a:chOff x="0" y="148425"/>
            <a:chExt cx="342900" cy="590715"/>
          </a:xfrm>
        </p:grpSpPr>
        <p:sp>
          <p:nvSpPr>
            <p:cNvPr id="2" name="Rectangle 1"/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 descr="Column 1"/>
          <p:cNvGrpSpPr/>
          <p:nvPr/>
        </p:nvGrpSpPr>
        <p:grpSpPr>
          <a:xfrm>
            <a:off x="902013" y="2187952"/>
            <a:ext cx="1889760" cy="1019056"/>
            <a:chOff x="2506980" y="1891784"/>
            <a:chExt cx="1889760" cy="1019056"/>
          </a:xfrm>
        </p:grpSpPr>
        <p:grpSp>
          <p:nvGrpSpPr>
            <p:cNvPr id="7" name="Group 6"/>
            <p:cNvGrpSpPr/>
            <p:nvPr/>
          </p:nvGrpSpPr>
          <p:grpSpPr>
            <a:xfrm>
              <a:off x="2506980" y="1912620"/>
              <a:ext cx="1889760" cy="998220"/>
              <a:chOff x="960120" y="1737360"/>
              <a:chExt cx="1889760" cy="998220"/>
            </a:xfrm>
          </p:grpSpPr>
          <p:sp>
            <p:nvSpPr>
              <p:cNvPr id="5" name="Rectangle 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60120" y="1737360"/>
                <a:ext cx="1889760" cy="32766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51" name="Rectangle 5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60120" y="2065020"/>
                <a:ext cx="1889760" cy="67056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p:grpSp>
        <p:sp>
          <p:nvSpPr>
            <p:cNvPr id="8" name="TextBox 7"/>
            <p:cNvSpPr txBox="1"/>
            <p:nvPr/>
          </p:nvSpPr>
          <p:spPr>
            <a:xfrm>
              <a:off x="3271070" y="1891784"/>
              <a:ext cx="3193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1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2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2748415" y="2324368"/>
              <a:ext cx="13646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Cafes in Maharashtra</a:t>
              </a:r>
            </a:p>
          </p:txBody>
        </p:sp>
      </p:grpSp>
      <p:grpSp>
        <p:nvGrpSpPr>
          <p:cNvPr id="56" name="Group 55" descr="Column 2"/>
          <p:cNvGrpSpPr/>
          <p:nvPr/>
        </p:nvGrpSpPr>
        <p:grpSpPr>
          <a:xfrm>
            <a:off x="3027993" y="2187952"/>
            <a:ext cx="1889760" cy="1019056"/>
            <a:chOff x="2506980" y="1891784"/>
            <a:chExt cx="1889760" cy="1019056"/>
          </a:xfrm>
        </p:grpSpPr>
        <p:grpSp>
          <p:nvGrpSpPr>
            <p:cNvPr id="57" name="Group 56"/>
            <p:cNvGrpSpPr/>
            <p:nvPr/>
          </p:nvGrpSpPr>
          <p:grpSpPr>
            <a:xfrm>
              <a:off x="2506980" y="1912620"/>
              <a:ext cx="1889760" cy="998220"/>
              <a:chOff x="960120" y="1737360"/>
              <a:chExt cx="1889760" cy="998220"/>
            </a:xfrm>
          </p:grpSpPr>
          <p:sp>
            <p:nvSpPr>
              <p:cNvPr id="60" name="Rectangle 5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60120" y="1737360"/>
                <a:ext cx="1889760" cy="32766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61" name="Rectangle 6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60120" y="2065020"/>
                <a:ext cx="1889760" cy="67056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p:grpSp>
        <p:sp>
          <p:nvSpPr>
            <p:cNvPr id="58" name="TextBox 57"/>
            <p:cNvSpPr txBox="1"/>
            <p:nvPr/>
          </p:nvSpPr>
          <p:spPr>
            <a:xfrm>
              <a:off x="3143632" y="1891784"/>
              <a:ext cx="5741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1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50L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2748415" y="2324368"/>
              <a:ext cx="13646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In Combined Revenue</a:t>
              </a:r>
            </a:p>
          </p:txBody>
        </p:sp>
      </p:grpSp>
      <p:grpSp>
        <p:nvGrpSpPr>
          <p:cNvPr id="62" name="Group 61" descr="Column 3"/>
          <p:cNvGrpSpPr/>
          <p:nvPr/>
        </p:nvGrpSpPr>
        <p:grpSpPr>
          <a:xfrm>
            <a:off x="5153973" y="2187952"/>
            <a:ext cx="1889760" cy="1019056"/>
            <a:chOff x="2506980" y="1891784"/>
            <a:chExt cx="1889760" cy="1019056"/>
          </a:xfrm>
        </p:grpSpPr>
        <p:grpSp>
          <p:nvGrpSpPr>
            <p:cNvPr id="63" name="Group 62"/>
            <p:cNvGrpSpPr/>
            <p:nvPr/>
          </p:nvGrpSpPr>
          <p:grpSpPr>
            <a:xfrm>
              <a:off x="2506980" y="1912620"/>
              <a:ext cx="1889760" cy="998220"/>
              <a:chOff x="960120" y="1737360"/>
              <a:chExt cx="1889760" cy="998220"/>
            </a:xfrm>
          </p:grpSpPr>
          <p:sp>
            <p:nvSpPr>
              <p:cNvPr id="66" name="Rectangle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60120" y="1737360"/>
                <a:ext cx="1889760" cy="32766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67" name="Rectangle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60120" y="2065020"/>
                <a:ext cx="1889760" cy="67056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p:grpSp>
        <p:sp>
          <p:nvSpPr>
            <p:cNvPr id="64" name="TextBox 63"/>
            <p:cNvSpPr txBox="1"/>
            <p:nvPr/>
          </p:nvSpPr>
          <p:spPr>
            <a:xfrm>
              <a:off x="3107565" y="1891784"/>
              <a:ext cx="6463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1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85%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748415" y="2324368"/>
              <a:ext cx="13646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Average Gross Margin</a:t>
              </a:r>
            </a:p>
          </p:txBody>
        </p:sp>
      </p:grpSp>
      <p:grpSp>
        <p:nvGrpSpPr>
          <p:cNvPr id="68" name="Group 67" descr="Column 4"/>
          <p:cNvGrpSpPr/>
          <p:nvPr/>
        </p:nvGrpSpPr>
        <p:grpSpPr>
          <a:xfrm>
            <a:off x="7279953" y="2187952"/>
            <a:ext cx="1889760" cy="1019056"/>
            <a:chOff x="2506980" y="1891784"/>
            <a:chExt cx="1889760" cy="1019056"/>
          </a:xfrm>
        </p:grpSpPr>
        <p:grpSp>
          <p:nvGrpSpPr>
            <p:cNvPr id="69" name="Group 68"/>
            <p:cNvGrpSpPr/>
            <p:nvPr/>
          </p:nvGrpSpPr>
          <p:grpSpPr>
            <a:xfrm>
              <a:off x="2506980" y="1912620"/>
              <a:ext cx="1889760" cy="998220"/>
              <a:chOff x="960120" y="1737360"/>
              <a:chExt cx="1889760" cy="998220"/>
            </a:xfrm>
          </p:grpSpPr>
          <p:sp>
            <p:nvSpPr>
              <p:cNvPr id="72" name="Rectangle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60120" y="1737360"/>
                <a:ext cx="1889760" cy="32766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73" name="Rectangle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60120" y="2065020"/>
                <a:ext cx="1889760" cy="67056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p:grpSp>
        <p:sp>
          <p:nvSpPr>
            <p:cNvPr id="70" name="TextBox 69"/>
            <p:cNvSpPr txBox="1"/>
            <p:nvPr/>
          </p:nvSpPr>
          <p:spPr>
            <a:xfrm>
              <a:off x="2750899" y="1891784"/>
              <a:ext cx="13596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1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50,000 INR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2748415" y="2324368"/>
              <a:ext cx="13646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In Revenue per Worker</a:t>
              </a:r>
            </a:p>
          </p:txBody>
        </p:sp>
      </p:grpSp>
      <p:grpSp>
        <p:nvGrpSpPr>
          <p:cNvPr id="74" name="Group 73" descr="Column 5"/>
          <p:cNvGrpSpPr/>
          <p:nvPr/>
        </p:nvGrpSpPr>
        <p:grpSpPr>
          <a:xfrm>
            <a:off x="9400227" y="2208788"/>
            <a:ext cx="1889760" cy="1019056"/>
            <a:chOff x="2506980" y="1891784"/>
            <a:chExt cx="1889760" cy="1019056"/>
          </a:xfrm>
        </p:grpSpPr>
        <p:grpSp>
          <p:nvGrpSpPr>
            <p:cNvPr id="75" name="Group 74"/>
            <p:cNvGrpSpPr/>
            <p:nvPr/>
          </p:nvGrpSpPr>
          <p:grpSpPr>
            <a:xfrm>
              <a:off x="2506980" y="1912620"/>
              <a:ext cx="1889760" cy="998220"/>
              <a:chOff x="960120" y="1737360"/>
              <a:chExt cx="1889760" cy="998220"/>
            </a:xfrm>
          </p:grpSpPr>
          <p:sp>
            <p:nvSpPr>
              <p:cNvPr id="78" name="Rectangle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60120" y="1737360"/>
                <a:ext cx="1889760" cy="32766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79" name="Rectangle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60120" y="2065020"/>
                <a:ext cx="1889760" cy="67056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p:grpSp>
        <p:sp>
          <p:nvSpPr>
            <p:cNvPr id="76" name="TextBox 75"/>
            <p:cNvSpPr txBox="1"/>
            <p:nvPr/>
          </p:nvSpPr>
          <p:spPr>
            <a:xfrm>
              <a:off x="3107565" y="1891784"/>
              <a:ext cx="6463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1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10%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2605129" y="2324368"/>
              <a:ext cx="16512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Revenue Increase per Year</a:t>
              </a:r>
            </a:p>
          </p:txBody>
        </p:sp>
      </p:grpSp>
      <p:grpSp>
        <p:nvGrpSpPr>
          <p:cNvPr id="83" name="Group 82" descr="Button text"/>
          <p:cNvGrpSpPr/>
          <p:nvPr/>
        </p:nvGrpSpPr>
        <p:grpSpPr>
          <a:xfrm>
            <a:off x="4422086" y="4660751"/>
            <a:ext cx="3347826" cy="702368"/>
            <a:chOff x="2670968" y="1912620"/>
            <a:chExt cx="1561785" cy="327660"/>
          </a:xfrm>
        </p:grpSpPr>
        <p:sp>
          <p:nvSpPr>
            <p:cNvPr id="87" name="Rectangle 8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670968" y="1912620"/>
              <a:ext cx="1561785" cy="3276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2945517" y="1925691"/>
              <a:ext cx="1012688" cy="3015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600" dirty="0">
                  <a:solidFill>
                    <a:schemeClr val="tx2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SUCCESS</a:t>
              </a:r>
            </a:p>
          </p:txBody>
        </p:sp>
      </p:grpSp>
      <p:cxnSp>
        <p:nvCxnSpPr>
          <p:cNvPr id="14" name="Elbow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51" idx="2"/>
            <a:endCxn id="79" idx="2"/>
          </p:cNvCxnSpPr>
          <p:nvPr/>
        </p:nvCxnSpPr>
        <p:spPr>
          <a:xfrm rot="16200000" flipH="1">
            <a:off x="6085582" y="-1031681"/>
            <a:ext cx="20836" cy="8498214"/>
          </a:xfrm>
          <a:prstGeom prst="bentConnector3">
            <a:avLst>
              <a:gd name="adj1" fmla="val 3720561"/>
            </a:avLst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67" idx="2"/>
          </p:cNvCxnSpPr>
          <p:nvPr/>
        </p:nvCxnSpPr>
        <p:spPr>
          <a:xfrm>
            <a:off x="6098853" y="3207008"/>
            <a:ext cx="0" cy="776347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965058" y="3207005"/>
            <a:ext cx="0" cy="776347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224833" y="3207006"/>
            <a:ext cx="0" cy="776347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095999" y="3983352"/>
            <a:ext cx="0" cy="6069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6BE13EF6-C310-4B5C-82B9-B423DA069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52861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250"/>
                            </p:stCondLst>
                            <p:childTnLst>
                              <p:par>
                                <p:cTn id="2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5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750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TextBox 1133"/>
          <p:cNvSpPr txBox="1"/>
          <p:nvPr/>
        </p:nvSpPr>
        <p:spPr>
          <a:xfrm>
            <a:off x="381000" y="243235"/>
            <a:ext cx="6099463" cy="495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3200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THE MARKET</a:t>
            </a:r>
          </a:p>
        </p:txBody>
      </p:sp>
      <p:grpSp>
        <p:nvGrpSpPr>
          <p:cNvPr id="3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148425"/>
            <a:ext cx="342900" cy="590715"/>
            <a:chOff x="0" y="148425"/>
            <a:chExt cx="342900" cy="590715"/>
          </a:xfrm>
        </p:grpSpPr>
        <p:sp>
          <p:nvSpPr>
            <p:cNvPr id="2" name="Rectangle 1"/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4" name="Rectangle 4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376680"/>
            <a:ext cx="12192000" cy="24713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5" name="Chart 44" descr="Pie Chart Style"/>
          <p:cNvGraphicFramePr/>
          <p:nvPr>
            <p:extLst>
              <p:ext uri="{D42A27DB-BD31-4B8C-83A1-F6EECF244321}">
                <p14:modId xmlns:p14="http://schemas.microsoft.com/office/powerpoint/2010/main" val="3788198337"/>
              </p:ext>
            </p:extLst>
          </p:nvPr>
        </p:nvGraphicFramePr>
        <p:xfrm>
          <a:off x="381000" y="1376680"/>
          <a:ext cx="1769456" cy="21639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6" name="Oval 45"/>
          <p:cNvSpPr/>
          <p:nvPr/>
        </p:nvSpPr>
        <p:spPr>
          <a:xfrm>
            <a:off x="741213" y="1928800"/>
            <a:ext cx="1060269" cy="1060268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21%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2231" y="3306568"/>
            <a:ext cx="14269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Local Residents</a:t>
            </a:r>
          </a:p>
        </p:txBody>
      </p:sp>
      <p:graphicFrame>
        <p:nvGraphicFramePr>
          <p:cNvPr id="88" name="Chart 87" descr="Pie Chart Style"/>
          <p:cNvGraphicFramePr/>
          <p:nvPr>
            <p:extLst>
              <p:ext uri="{D42A27DB-BD31-4B8C-83A1-F6EECF244321}">
                <p14:modId xmlns:p14="http://schemas.microsoft.com/office/powerpoint/2010/main" val="2747994896"/>
              </p:ext>
            </p:extLst>
          </p:nvPr>
        </p:nvGraphicFramePr>
        <p:xfrm>
          <a:off x="2796136" y="1376680"/>
          <a:ext cx="1769456" cy="21639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9" name="Oval 88"/>
          <p:cNvSpPr/>
          <p:nvPr/>
        </p:nvSpPr>
        <p:spPr>
          <a:xfrm>
            <a:off x="3156349" y="1928800"/>
            <a:ext cx="1060269" cy="1060268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36%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264727" y="3306568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Tourists</a:t>
            </a:r>
          </a:p>
        </p:txBody>
      </p:sp>
      <p:graphicFrame>
        <p:nvGraphicFramePr>
          <p:cNvPr id="92" name="Chart 91" descr="Pie Chart Style"/>
          <p:cNvGraphicFramePr/>
          <p:nvPr>
            <p:extLst>
              <p:ext uri="{D42A27DB-BD31-4B8C-83A1-F6EECF244321}">
                <p14:modId xmlns:p14="http://schemas.microsoft.com/office/powerpoint/2010/main" val="1126720147"/>
              </p:ext>
            </p:extLst>
          </p:nvPr>
        </p:nvGraphicFramePr>
        <p:xfrm>
          <a:off x="5211272" y="1376680"/>
          <a:ext cx="1769456" cy="21639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3" name="Oval 92"/>
          <p:cNvSpPr/>
          <p:nvPr/>
        </p:nvSpPr>
        <p:spPr>
          <a:xfrm>
            <a:off x="5571485" y="1928800"/>
            <a:ext cx="1060269" cy="1060268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29%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10372" y="3306568"/>
            <a:ext cx="15712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Passing Travelers</a:t>
            </a:r>
          </a:p>
        </p:txBody>
      </p:sp>
      <p:graphicFrame>
        <p:nvGraphicFramePr>
          <p:cNvPr id="96" name="Chart 95" descr="Pie Chart Style"/>
          <p:cNvGraphicFramePr/>
          <p:nvPr>
            <p:extLst>
              <p:ext uri="{D42A27DB-BD31-4B8C-83A1-F6EECF244321}">
                <p14:modId xmlns:p14="http://schemas.microsoft.com/office/powerpoint/2010/main" val="2388507877"/>
              </p:ext>
            </p:extLst>
          </p:nvPr>
        </p:nvGraphicFramePr>
        <p:xfrm>
          <a:off x="7626408" y="1376680"/>
          <a:ext cx="1769456" cy="21639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97" name="Oval 96"/>
          <p:cNvSpPr/>
          <p:nvPr/>
        </p:nvSpPr>
        <p:spPr>
          <a:xfrm>
            <a:off x="7986621" y="1928800"/>
            <a:ext cx="1060269" cy="1060268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7%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062938" y="3306568"/>
            <a:ext cx="8963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Students</a:t>
            </a:r>
          </a:p>
        </p:txBody>
      </p:sp>
      <p:graphicFrame>
        <p:nvGraphicFramePr>
          <p:cNvPr id="100" name="Chart 99" descr="Pie Chart Style"/>
          <p:cNvGraphicFramePr/>
          <p:nvPr>
            <p:extLst>
              <p:ext uri="{D42A27DB-BD31-4B8C-83A1-F6EECF244321}">
                <p14:modId xmlns:p14="http://schemas.microsoft.com/office/powerpoint/2010/main" val="1706463581"/>
              </p:ext>
            </p:extLst>
          </p:nvPr>
        </p:nvGraphicFramePr>
        <p:xfrm>
          <a:off x="10041544" y="1376680"/>
          <a:ext cx="1769456" cy="21639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01" name="Oval 100"/>
          <p:cNvSpPr/>
          <p:nvPr/>
        </p:nvSpPr>
        <p:spPr>
          <a:xfrm>
            <a:off x="10401757" y="1928800"/>
            <a:ext cx="1060269" cy="1060268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7%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167094" y="3306568"/>
            <a:ext cx="1518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Local Businesses</a:t>
            </a:r>
          </a:p>
        </p:txBody>
      </p:sp>
      <p:graphicFrame>
        <p:nvGraphicFramePr>
          <p:cNvPr id="105" name="Table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719651"/>
              </p:ext>
            </p:extLst>
          </p:nvPr>
        </p:nvGraphicFramePr>
        <p:xfrm>
          <a:off x="552231" y="4206573"/>
          <a:ext cx="11133227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4479">
                  <a:extLst>
                    <a:ext uri="{9D8B030D-6E8A-4147-A177-3AD203B41FA5}">
                      <a16:colId xmlns:a16="http://schemas.microsoft.com/office/drawing/2014/main" val="883291324"/>
                    </a:ext>
                  </a:extLst>
                </a:gridCol>
                <a:gridCol w="1964687">
                  <a:extLst>
                    <a:ext uri="{9D8B030D-6E8A-4147-A177-3AD203B41FA5}">
                      <a16:colId xmlns:a16="http://schemas.microsoft.com/office/drawing/2014/main" val="1983756049"/>
                    </a:ext>
                  </a:extLst>
                </a:gridCol>
                <a:gridCol w="1964687">
                  <a:extLst>
                    <a:ext uri="{9D8B030D-6E8A-4147-A177-3AD203B41FA5}">
                      <a16:colId xmlns:a16="http://schemas.microsoft.com/office/drawing/2014/main" val="355586360"/>
                    </a:ext>
                  </a:extLst>
                </a:gridCol>
                <a:gridCol w="1964687">
                  <a:extLst>
                    <a:ext uri="{9D8B030D-6E8A-4147-A177-3AD203B41FA5}">
                      <a16:colId xmlns:a16="http://schemas.microsoft.com/office/drawing/2014/main" val="3626199509"/>
                    </a:ext>
                  </a:extLst>
                </a:gridCol>
                <a:gridCol w="1964687">
                  <a:extLst>
                    <a:ext uri="{9D8B030D-6E8A-4147-A177-3AD203B41FA5}">
                      <a16:colId xmlns:a16="http://schemas.microsoft.com/office/drawing/2014/main" val="216139382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CUSTOMERS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GROWTH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YR1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YR2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YR3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18005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Local Residents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2%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15000 INR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15300 INR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15606 INR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10041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Tourists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5%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25000 INR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26250 INR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27563 INR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75563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Passing travelers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5%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20000 INR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21000 INR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22050 INR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2387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Students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1%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5000 INR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5050 INR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5101 INR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126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Local</a:t>
                      </a:r>
                      <a:r>
                        <a:rPr lang="en-US" sz="1200" b="0" baseline="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Businesses</a:t>
                      </a:r>
                      <a:endParaRPr lang="en-US" sz="1200" b="0" dirty="0">
                        <a:solidFill>
                          <a:schemeClr val="accent2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1%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5000 INR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5050 INR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5101 INR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546698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TOTAL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2.8%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70000 INR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72650 INR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75420 INR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589567"/>
                  </a:ext>
                </a:extLst>
              </a:tr>
            </a:tbl>
          </a:graphicData>
        </a:graphic>
      </p:graphicFrame>
      <p:sp>
        <p:nvSpPr>
          <p:cNvPr id="106" name="TextBox 105"/>
          <p:cNvSpPr txBox="1"/>
          <p:nvPr/>
        </p:nvSpPr>
        <p:spPr>
          <a:xfrm>
            <a:off x="434340" y="1038341"/>
            <a:ext cx="35890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CUSTOMER SEGMENTATION</a:t>
            </a:r>
          </a:p>
        </p:txBody>
      </p:sp>
      <p:sp>
        <p:nvSpPr>
          <p:cNvPr id="5" name="Title 4" hidden="1">
            <a:extLst>
              <a:ext uri="{FF2B5EF4-FFF2-40B4-BE49-F238E27FC236}">
                <a16:creationId xmlns:a16="http://schemas.microsoft.com/office/drawing/2014/main" id="{91EB68CD-5A94-4E59-AA75-8FF956921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603449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000"/>
                            </p:stCondLst>
                            <p:childTnLst>
                              <p:par>
                                <p:cTn id="5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0" dur="2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9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9500"/>
                            </p:stCondLst>
                            <p:childTnLst>
                              <p:par>
                                <p:cTn id="6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8" dur="2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15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2000"/>
                            </p:stCondLst>
                            <p:childTnLst>
                              <p:par>
                                <p:cTn id="7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6" dur="2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40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4500"/>
                            </p:stCondLst>
                            <p:childTnLst>
                              <p:par>
                                <p:cTn id="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4" grpId="0"/>
      <p:bldP spid="44" grpId="0" animBg="1"/>
      <p:bldGraphic spid="45" grpId="0">
        <p:bldAsOne/>
      </p:bldGraphic>
      <p:bldP spid="46" grpId="0" animBg="1"/>
      <p:bldP spid="4" grpId="0"/>
      <p:bldGraphic spid="88" grpId="0">
        <p:bldAsOne/>
      </p:bldGraphic>
      <p:bldP spid="89" grpId="0" animBg="1"/>
      <p:bldP spid="90" grpId="0"/>
      <p:bldGraphic spid="92" grpId="0">
        <p:bldAsOne/>
      </p:bldGraphic>
      <p:bldP spid="93" grpId="0" animBg="1"/>
      <p:bldP spid="94" grpId="0"/>
      <p:bldGraphic spid="96" grpId="0">
        <p:bldAsOne/>
      </p:bldGraphic>
      <p:bldP spid="97" grpId="0" animBg="1"/>
      <p:bldP spid="98" grpId="0"/>
      <p:bldGraphic spid="100" grpId="0">
        <p:bldAsOne/>
      </p:bldGraphic>
      <p:bldP spid="101" grpId="0" animBg="1"/>
      <p:bldP spid="104" grpId="0"/>
      <p:bldP spid="10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hotograph of coffee mug in saucer, spilled over with coffee beans pouring out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961228" y="1811629"/>
            <a:ext cx="6879751" cy="48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3200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OUR PREMIUM OFFERINGS</a:t>
            </a:r>
          </a:p>
        </p:txBody>
      </p:sp>
      <p:pic>
        <p:nvPicPr>
          <p:cNvPr id="38" name="Picture 37" descr="Coffee mug icon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21" y="2767583"/>
            <a:ext cx="343070" cy="49421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838427" y="2870981"/>
            <a:ext cx="3251201" cy="390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Gourmet Bagged Coffee</a:t>
            </a:r>
          </a:p>
        </p:txBody>
      </p:sp>
      <p:pic>
        <p:nvPicPr>
          <p:cNvPr id="31" name="Picture 30" descr="Coffee mug icon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21" y="3359605"/>
            <a:ext cx="343070" cy="494211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1838427" y="3463003"/>
            <a:ext cx="3251201" cy="390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Deluxe Coffee Drinks</a:t>
            </a:r>
          </a:p>
        </p:txBody>
      </p:sp>
      <p:pic>
        <p:nvPicPr>
          <p:cNvPr id="34" name="Picture 33" descr="Coffee mug icon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21" y="3951627"/>
            <a:ext cx="343070" cy="494211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1838427" y="4055025"/>
            <a:ext cx="3251201" cy="390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Delicious Local Food</a:t>
            </a:r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F3820DA-290B-43AA-AA9C-82643FA3E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5</a:t>
            </a:r>
          </a:p>
        </p:txBody>
      </p:sp>
      <p:pic>
        <p:nvPicPr>
          <p:cNvPr id="4" name="Graphic 3" descr="Coffee">
            <a:extLst>
              <a:ext uri="{FF2B5EF4-FFF2-40B4-BE49-F238E27FC236}">
                <a16:creationId xmlns:a16="http://schemas.microsoft.com/office/drawing/2014/main" id="{E8BD21D5-089B-4069-B770-C52AD7DC1A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7506" y="2774566"/>
            <a:ext cx="486287" cy="486287"/>
          </a:xfrm>
          <a:prstGeom prst="rect">
            <a:avLst/>
          </a:prstGeom>
        </p:spPr>
      </p:pic>
      <p:pic>
        <p:nvPicPr>
          <p:cNvPr id="14" name="Graphic 13" descr="Coffee">
            <a:extLst>
              <a:ext uri="{FF2B5EF4-FFF2-40B4-BE49-F238E27FC236}">
                <a16:creationId xmlns:a16="http://schemas.microsoft.com/office/drawing/2014/main" id="{BEE1E105-1035-48DC-AA21-5AD971596C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7504" y="3343169"/>
            <a:ext cx="486287" cy="486287"/>
          </a:xfrm>
          <a:prstGeom prst="rect">
            <a:avLst/>
          </a:prstGeom>
        </p:spPr>
      </p:pic>
      <p:pic>
        <p:nvPicPr>
          <p:cNvPr id="15" name="Graphic 14" descr="Coffee">
            <a:extLst>
              <a:ext uri="{FF2B5EF4-FFF2-40B4-BE49-F238E27FC236}">
                <a16:creationId xmlns:a16="http://schemas.microsoft.com/office/drawing/2014/main" id="{BE62F85F-8C70-4DA6-93A5-F44A1ED489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7505" y="3911773"/>
            <a:ext cx="486287" cy="48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43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6" presetClass="emph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5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6" presetClass="emph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6" presetClass="emph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75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0" grpId="0"/>
      <p:bldP spid="32" grpId="0"/>
      <p:bldP spid="3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TextBox 1133"/>
          <p:cNvSpPr txBox="1"/>
          <p:nvPr/>
        </p:nvSpPr>
        <p:spPr>
          <a:xfrm>
            <a:off x="381000" y="243235"/>
            <a:ext cx="6099463" cy="495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3200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REVENUE MODEL</a:t>
            </a:r>
          </a:p>
        </p:txBody>
      </p:sp>
      <p:grpSp>
        <p:nvGrpSpPr>
          <p:cNvPr id="3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148425"/>
            <a:ext cx="342900" cy="590715"/>
            <a:chOff x="0" y="148425"/>
            <a:chExt cx="342900" cy="590715"/>
          </a:xfrm>
        </p:grpSpPr>
        <p:sp>
          <p:nvSpPr>
            <p:cNvPr id="2" name="Rectangle 1"/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" name="Group 3" descr="Column 1 Heading"/>
          <p:cNvGrpSpPr/>
          <p:nvPr/>
        </p:nvGrpSpPr>
        <p:grpSpPr>
          <a:xfrm>
            <a:off x="935299" y="1724527"/>
            <a:ext cx="3266127" cy="471428"/>
            <a:chOff x="935299" y="1724527"/>
            <a:chExt cx="3266127" cy="471428"/>
          </a:xfrm>
          <a:solidFill>
            <a:srgbClr val="FFFF99"/>
          </a:solidFill>
        </p:grpSpPr>
        <p:sp>
          <p:nvSpPr>
            <p:cNvPr id="5" name="Rectangle 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5299" y="1724527"/>
              <a:ext cx="3266127" cy="471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40131" y="1775575"/>
              <a:ext cx="3056463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1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Bagged Coffee</a:t>
              </a:r>
            </a:p>
          </p:txBody>
        </p:sp>
      </p:grpSp>
      <p:grpSp>
        <p:nvGrpSpPr>
          <p:cNvPr id="6" name="Group 5" descr="Column 1 Text"/>
          <p:cNvGrpSpPr/>
          <p:nvPr/>
        </p:nvGrpSpPr>
        <p:grpSpPr>
          <a:xfrm>
            <a:off x="935299" y="2195955"/>
            <a:ext cx="3371501" cy="3161406"/>
            <a:chOff x="935299" y="2195955"/>
            <a:chExt cx="3371501" cy="3161406"/>
          </a:xfrm>
        </p:grpSpPr>
        <p:sp>
          <p:nvSpPr>
            <p:cNvPr id="51" name="Rectangle 5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5299" y="2195955"/>
              <a:ext cx="3266127" cy="31614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40131" y="2310373"/>
              <a:ext cx="3266669" cy="29874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200000"/>
                </a:lnSpc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35 to 40 different varieties </a:t>
              </a:r>
            </a:p>
            <a:p>
              <a:pPr marL="171450" indent="-171450">
                <a:lnSpc>
                  <a:spcPct val="200000"/>
                </a:lnSpc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Differing flavors, brew strengths, and different regions</a:t>
              </a:r>
            </a:p>
            <a:p>
              <a:pPr marL="171450" indent="-171450">
                <a:lnSpc>
                  <a:spcPct val="200000"/>
                </a:lnSpc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Specialized coffee inventories </a:t>
              </a:r>
            </a:p>
            <a:p>
              <a:pPr marL="171450" indent="-171450">
                <a:lnSpc>
                  <a:spcPct val="200000"/>
                </a:lnSpc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Priced by half a kilo </a:t>
              </a:r>
            </a:p>
            <a:p>
              <a:pPr marL="171450" indent="-171450">
                <a:lnSpc>
                  <a:spcPct val="200000"/>
                </a:lnSpc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Ranging 210 INR to 5000 INR per 500 grams </a:t>
              </a:r>
            </a:p>
            <a:p>
              <a:pPr marL="171450" indent="-171450">
                <a:lnSpc>
                  <a:spcPct val="200000"/>
                </a:lnSpc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Customers choose coffee type and flavor</a:t>
              </a:r>
            </a:p>
          </p:txBody>
        </p:sp>
      </p:grpSp>
      <p:grpSp>
        <p:nvGrpSpPr>
          <p:cNvPr id="10" name="Group 9" descr="Column 2 Heading"/>
          <p:cNvGrpSpPr/>
          <p:nvPr/>
        </p:nvGrpSpPr>
        <p:grpSpPr>
          <a:xfrm>
            <a:off x="4462937" y="1724527"/>
            <a:ext cx="3266127" cy="471428"/>
            <a:chOff x="4462937" y="1724527"/>
            <a:chExt cx="3266127" cy="471428"/>
          </a:xfrm>
          <a:solidFill>
            <a:srgbClr val="CCCCFF"/>
          </a:solidFill>
        </p:grpSpPr>
        <p:sp>
          <p:nvSpPr>
            <p:cNvPr id="48" name="Rectangle 4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62937" y="1724527"/>
              <a:ext cx="3266127" cy="471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567769" y="1775575"/>
              <a:ext cx="3056463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1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Coffee Beverages</a:t>
              </a:r>
            </a:p>
          </p:txBody>
        </p:sp>
      </p:grpSp>
      <p:grpSp>
        <p:nvGrpSpPr>
          <p:cNvPr id="11" name="Group 10" descr="Column 2 text"/>
          <p:cNvGrpSpPr/>
          <p:nvPr/>
        </p:nvGrpSpPr>
        <p:grpSpPr>
          <a:xfrm>
            <a:off x="4462937" y="2195955"/>
            <a:ext cx="3266127" cy="3161406"/>
            <a:chOff x="4462937" y="2195955"/>
            <a:chExt cx="3266127" cy="3161406"/>
          </a:xfrm>
        </p:grpSpPr>
        <p:sp>
          <p:nvSpPr>
            <p:cNvPr id="50" name="Rectangle 4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62937" y="2195955"/>
              <a:ext cx="3266127" cy="31614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567769" y="2310373"/>
              <a:ext cx="3056463" cy="2618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200000"/>
                </a:lnSpc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Variety of coffee beverages </a:t>
              </a:r>
            </a:p>
            <a:p>
              <a:pPr marL="171450" indent="-171450">
                <a:lnSpc>
                  <a:spcPct val="200000"/>
                </a:lnSpc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Three different size cups</a:t>
              </a:r>
            </a:p>
            <a:p>
              <a:pPr marL="171450" indent="-171450">
                <a:lnSpc>
                  <a:spcPct val="200000"/>
                </a:lnSpc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Priced at 110 INR for a Large Cup</a:t>
              </a:r>
            </a:p>
            <a:p>
              <a:pPr marL="171450" indent="-171450">
                <a:lnSpc>
                  <a:spcPct val="200000"/>
                </a:lnSpc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Provides a steady and reliable source of income</a:t>
              </a:r>
            </a:p>
            <a:p>
              <a:pPr marL="171450" indent="-171450">
                <a:lnSpc>
                  <a:spcPct val="200000"/>
                </a:lnSpc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Highly predictable and high profit margin</a:t>
              </a:r>
            </a:p>
          </p:txBody>
        </p:sp>
      </p:grpSp>
      <p:grpSp>
        <p:nvGrpSpPr>
          <p:cNvPr id="12" name="Group 11" descr="Column 3 heading"/>
          <p:cNvGrpSpPr/>
          <p:nvPr/>
        </p:nvGrpSpPr>
        <p:grpSpPr>
          <a:xfrm>
            <a:off x="7990575" y="1724527"/>
            <a:ext cx="3266127" cy="471428"/>
            <a:chOff x="7990575" y="1724527"/>
            <a:chExt cx="3266127" cy="471428"/>
          </a:xfrm>
          <a:solidFill>
            <a:srgbClr val="CCFFCC"/>
          </a:solidFill>
        </p:grpSpPr>
        <p:sp>
          <p:nvSpPr>
            <p:cNvPr id="81" name="Rectangle 8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90575" y="1724527"/>
              <a:ext cx="3266127" cy="471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8095407" y="1775575"/>
              <a:ext cx="3056463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1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Local Food</a:t>
              </a:r>
            </a:p>
          </p:txBody>
        </p:sp>
      </p:grpSp>
      <p:grpSp>
        <p:nvGrpSpPr>
          <p:cNvPr id="13" name="Group 12" descr="Column 3 text"/>
          <p:cNvGrpSpPr/>
          <p:nvPr/>
        </p:nvGrpSpPr>
        <p:grpSpPr>
          <a:xfrm>
            <a:off x="7990575" y="2195955"/>
            <a:ext cx="3266127" cy="3161406"/>
            <a:chOff x="7990575" y="2195955"/>
            <a:chExt cx="3266127" cy="3161406"/>
          </a:xfrm>
        </p:grpSpPr>
        <p:sp>
          <p:nvSpPr>
            <p:cNvPr id="82" name="Rectangle 8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90575" y="2195955"/>
              <a:ext cx="3266127" cy="31614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8095407" y="2310373"/>
              <a:ext cx="3056463" cy="22487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200000"/>
                </a:lnSpc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Direct sale of food products</a:t>
              </a:r>
            </a:p>
            <a:p>
              <a:pPr marL="171450" indent="-171450">
                <a:lnSpc>
                  <a:spcPct val="200000"/>
                </a:lnSpc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Locally sourced</a:t>
              </a:r>
            </a:p>
            <a:p>
              <a:pPr marL="171450" indent="-171450">
                <a:lnSpc>
                  <a:spcPct val="200000"/>
                </a:lnSpc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Reputable and recognizable vendor and/or chefs. </a:t>
              </a:r>
            </a:p>
            <a:p>
              <a:pPr marL="171450" indent="-171450">
                <a:lnSpc>
                  <a:spcPct val="200000"/>
                </a:lnSpc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 include sandwiches, samosas, chaats, pastries, and cookies</a:t>
              </a:r>
            </a:p>
          </p:txBody>
        </p:sp>
      </p:grpSp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D602B064-C2D4-46FC-86C8-40ABA1F36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7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07286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TextBox 1133"/>
          <p:cNvSpPr txBox="1"/>
          <p:nvPr/>
        </p:nvSpPr>
        <p:spPr>
          <a:xfrm>
            <a:off x="381000" y="243235"/>
            <a:ext cx="6099463" cy="495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3200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SALES FORECAST</a:t>
            </a:r>
          </a:p>
        </p:txBody>
      </p:sp>
      <p:grpSp>
        <p:nvGrpSpPr>
          <p:cNvPr id="3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148425"/>
            <a:ext cx="342900" cy="590715"/>
            <a:chOff x="0" y="148425"/>
            <a:chExt cx="342900" cy="590715"/>
          </a:xfrm>
        </p:grpSpPr>
        <p:sp>
          <p:nvSpPr>
            <p:cNvPr id="2" name="Rectangle 1"/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504174"/>
              </p:ext>
            </p:extLst>
          </p:nvPr>
        </p:nvGraphicFramePr>
        <p:xfrm>
          <a:off x="838200" y="1290739"/>
          <a:ext cx="493776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88329132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5558636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626199509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16139382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3 YEAR SALES</a:t>
                      </a:r>
                      <a:r>
                        <a:rPr lang="en-US" sz="1100" b="1" baseline="0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SUMMARY</a:t>
                      </a:r>
                      <a:endParaRPr lang="en-US" sz="1100" b="1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YR1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YR2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YR3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18005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TOTAL SALES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702,000 INR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772,200 INR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849,420 INR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10041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TOTAL</a:t>
                      </a:r>
                      <a:r>
                        <a:rPr lang="en-US" sz="1050" b="0" baseline="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COGS</a:t>
                      </a:r>
                      <a:endParaRPr lang="en-US" sz="1050" b="0" dirty="0">
                        <a:solidFill>
                          <a:schemeClr val="accent2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212,000 INR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222,600 INR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accent2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233,730 INR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75563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NET PROFIT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490,000 INR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549,600 INR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615,690 INR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589567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838200" y="2861781"/>
            <a:ext cx="3409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ANNUAL SALES &amp; GROSS PROFIT</a:t>
            </a:r>
          </a:p>
        </p:txBody>
      </p:sp>
      <p:graphicFrame>
        <p:nvGraphicFramePr>
          <p:cNvPr id="25" name="Chart 24" descr="Bar Chart"/>
          <p:cNvGraphicFramePr/>
          <p:nvPr>
            <p:extLst>
              <p:ext uri="{D42A27DB-BD31-4B8C-83A1-F6EECF244321}">
                <p14:modId xmlns:p14="http://schemas.microsoft.com/office/powerpoint/2010/main" val="2562787901"/>
              </p:ext>
            </p:extLst>
          </p:nvPr>
        </p:nvGraphicFramePr>
        <p:xfrm>
          <a:off x="838200" y="3268980"/>
          <a:ext cx="10454640" cy="3116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2780E10A-BF24-4C26-B32C-C6E96EAD9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8</a:t>
            </a:r>
          </a:p>
        </p:txBody>
      </p:sp>
    </p:spTree>
    <p:extLst>
      <p:ext uri="{BB962C8B-B14F-4D97-AF65-F5344CB8AC3E}">
        <p14:creationId xmlns:p14="http://schemas.microsoft.com/office/powerpoint/2010/main" val="7962810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5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5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5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4" grpId="0"/>
      <p:bldP spid="27" grpId="0"/>
      <p:bldGraphic spid="25" grpId="0">
        <p:bldSub>
          <a:bldChart bld="series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TextBox 1133"/>
          <p:cNvSpPr txBox="1"/>
          <p:nvPr/>
        </p:nvSpPr>
        <p:spPr>
          <a:xfrm>
            <a:off x="381000" y="243235"/>
            <a:ext cx="6099463" cy="495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3200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KEY TIMELINE GOALS</a:t>
            </a:r>
          </a:p>
        </p:txBody>
      </p:sp>
      <p:grpSp>
        <p:nvGrpSpPr>
          <p:cNvPr id="3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148425"/>
            <a:ext cx="342900" cy="590715"/>
            <a:chOff x="0" y="148425"/>
            <a:chExt cx="342900" cy="590715"/>
          </a:xfrm>
        </p:grpSpPr>
        <p:sp>
          <p:nvSpPr>
            <p:cNvPr id="2" name="Rectangle 1"/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857029"/>
              </p:ext>
            </p:extLst>
          </p:nvPr>
        </p:nvGraphicFramePr>
        <p:xfrm>
          <a:off x="840740" y="1544802"/>
          <a:ext cx="10596882" cy="4045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6730">
                  <a:extLst>
                    <a:ext uri="{9D8B030D-6E8A-4147-A177-3AD203B41FA5}">
                      <a16:colId xmlns:a16="http://schemas.microsoft.com/office/drawing/2014/main" val="883291324"/>
                    </a:ext>
                  </a:extLst>
                </a:gridCol>
                <a:gridCol w="1870038">
                  <a:extLst>
                    <a:ext uri="{9D8B030D-6E8A-4147-A177-3AD203B41FA5}">
                      <a16:colId xmlns:a16="http://schemas.microsoft.com/office/drawing/2014/main" val="1983756049"/>
                    </a:ext>
                  </a:extLst>
                </a:gridCol>
                <a:gridCol w="1870038">
                  <a:extLst>
                    <a:ext uri="{9D8B030D-6E8A-4147-A177-3AD203B41FA5}">
                      <a16:colId xmlns:a16="http://schemas.microsoft.com/office/drawing/2014/main" val="355586360"/>
                    </a:ext>
                  </a:extLst>
                </a:gridCol>
                <a:gridCol w="1870038">
                  <a:extLst>
                    <a:ext uri="{9D8B030D-6E8A-4147-A177-3AD203B41FA5}">
                      <a16:colId xmlns:a16="http://schemas.microsoft.com/office/drawing/2014/main" val="3626199509"/>
                    </a:ext>
                  </a:extLst>
                </a:gridCol>
                <a:gridCol w="1870038">
                  <a:extLst>
                    <a:ext uri="{9D8B030D-6E8A-4147-A177-3AD203B41FA5}">
                      <a16:colId xmlns:a16="http://schemas.microsoft.com/office/drawing/2014/main" val="2673655231"/>
                    </a:ext>
                  </a:extLst>
                </a:gridCol>
              </a:tblGrid>
              <a:tr h="674290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206674"/>
                  </a:ext>
                </a:extLst>
              </a:tr>
              <a:tr h="67429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Business / Marketing Plan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1004110"/>
                  </a:ext>
                </a:extLst>
              </a:tr>
              <a:tr h="6742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Secure</a:t>
                      </a:r>
                      <a:r>
                        <a:rPr lang="en-US" sz="1400" baseline="0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Funding</a:t>
                      </a:r>
                      <a:endParaRPr lang="en-US" sz="1400" dirty="0">
                        <a:solidFill>
                          <a:schemeClr val="bg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755630"/>
                  </a:ext>
                </a:extLst>
              </a:tr>
              <a:tr h="6742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Build</a:t>
                      </a:r>
                      <a:r>
                        <a:rPr lang="en-US" sz="1400" baseline="0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Out</a:t>
                      </a:r>
                      <a:endParaRPr lang="en-US" sz="1400" dirty="0">
                        <a:solidFill>
                          <a:schemeClr val="bg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123879"/>
                  </a:ext>
                </a:extLst>
              </a:tr>
              <a:tr h="6742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Grand</a:t>
                      </a:r>
                      <a:r>
                        <a:rPr lang="en-US" sz="1400" baseline="0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Opening</a:t>
                      </a:r>
                      <a:endParaRPr lang="en-US" sz="1400" dirty="0">
                        <a:solidFill>
                          <a:schemeClr val="bg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126002"/>
                  </a:ext>
                </a:extLst>
              </a:tr>
              <a:tr h="67429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Achieve</a:t>
                      </a:r>
                      <a:r>
                        <a:rPr lang="en-US" sz="1400" baseline="0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700+ Daily Customers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546698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435898" y="1798317"/>
            <a:ext cx="9829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2/1/20XX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2099" y="1798317"/>
            <a:ext cx="1087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5/12/20XX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3634" y="1793671"/>
            <a:ext cx="9829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8/1/20XX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6121" y="1793671"/>
            <a:ext cx="11913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11/12/20XX</a:t>
            </a:r>
          </a:p>
        </p:txBody>
      </p:sp>
      <p:sp>
        <p:nvSpPr>
          <p:cNvPr id="4" name="Rounded 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92880" y="2461260"/>
            <a:ext cx="2103120" cy="32766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6" name="Rounded Rectangl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18860" y="3142413"/>
            <a:ext cx="1639040" cy="32766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7" name="Rounded Rectangl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03260" y="3808377"/>
            <a:ext cx="2593040" cy="32766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8" name="Rounded Rectangl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4474341"/>
            <a:ext cx="266698" cy="32766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9" name="Rounded Rectangl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80929" y="5140305"/>
            <a:ext cx="2447365" cy="32766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6" name="Title 5" hidden="1">
            <a:extLst>
              <a:ext uri="{FF2B5EF4-FFF2-40B4-BE49-F238E27FC236}">
                <a16:creationId xmlns:a16="http://schemas.microsoft.com/office/drawing/2014/main" id="{31C055C7-3FCB-433F-9834-9730B6D75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9</a:t>
            </a:r>
          </a:p>
        </p:txBody>
      </p:sp>
    </p:spTree>
    <p:extLst>
      <p:ext uri="{BB962C8B-B14F-4D97-AF65-F5344CB8AC3E}">
        <p14:creationId xmlns:p14="http://schemas.microsoft.com/office/powerpoint/2010/main" val="31165145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2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25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75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4" grpId="0"/>
      <p:bldP spid="5" grpId="0"/>
      <p:bldP spid="13" grpId="0"/>
      <p:bldP spid="14" grpId="0"/>
      <p:bldP spid="15" grpId="0"/>
      <p:bldP spid="4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TextBox 1133"/>
          <p:cNvSpPr txBox="1"/>
          <p:nvPr/>
        </p:nvSpPr>
        <p:spPr>
          <a:xfrm>
            <a:off x="381000" y="243235"/>
            <a:ext cx="6099463" cy="495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3200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REQUIRED FUNDING</a:t>
            </a:r>
          </a:p>
        </p:txBody>
      </p:sp>
      <p:grpSp>
        <p:nvGrpSpPr>
          <p:cNvPr id="3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148425"/>
            <a:ext cx="342900" cy="590715"/>
            <a:chOff x="0" y="148425"/>
            <a:chExt cx="342900" cy="590715"/>
          </a:xfrm>
        </p:grpSpPr>
        <p:sp>
          <p:nvSpPr>
            <p:cNvPr id="2" name="Rectangle 1"/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6" name="Chart 5" descr="Pie Chart"/>
          <p:cNvGraphicFramePr/>
          <p:nvPr>
            <p:extLst>
              <p:ext uri="{D42A27DB-BD31-4B8C-83A1-F6EECF244321}">
                <p14:modId xmlns:p14="http://schemas.microsoft.com/office/powerpoint/2010/main" val="614874153"/>
              </p:ext>
            </p:extLst>
          </p:nvPr>
        </p:nvGraphicFramePr>
        <p:xfrm>
          <a:off x="3008630" y="1800859"/>
          <a:ext cx="6174740" cy="41164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7" name="Group 6" descr="Caption"/>
          <p:cNvGrpSpPr/>
          <p:nvPr/>
        </p:nvGrpSpPr>
        <p:grpSpPr>
          <a:xfrm>
            <a:off x="0" y="1997710"/>
            <a:ext cx="2830505" cy="689677"/>
            <a:chOff x="-432344" y="1549482"/>
            <a:chExt cx="3171289" cy="689677"/>
          </a:xfrm>
        </p:grpSpPr>
        <p:sp>
          <p:nvSpPr>
            <p:cNvPr id="56" name="Rectangle 55"/>
            <p:cNvSpPr/>
            <p:nvPr/>
          </p:nvSpPr>
          <p:spPr>
            <a:xfrm>
              <a:off x="-432344" y="1881497"/>
              <a:ext cx="3127914" cy="3576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sz="1600" b="1" dirty="0">
                  <a:solidFill>
                    <a:schemeClr val="accent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55,000 INR – 21%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620470" y="1549482"/>
              <a:ext cx="2118475" cy="2912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sz="1200" b="1" dirty="0">
                  <a:solidFill>
                    <a:schemeClr val="tx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OTHER INVESTMENT</a:t>
              </a:r>
            </a:p>
          </p:txBody>
        </p:sp>
      </p:grpSp>
      <p:cxnSp>
        <p:nvCxnSpPr>
          <p:cNvPr id="5" name="Elbow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rot="10800000">
            <a:off x="2889880" y="2143359"/>
            <a:ext cx="1744980" cy="356001"/>
          </a:xfrm>
          <a:prstGeom prst="bentConnector3">
            <a:avLst/>
          </a:prstGeom>
          <a:ln w="12700">
            <a:solidFill>
              <a:schemeClr val="accent4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 descr="Caption"/>
          <p:cNvGrpSpPr/>
          <p:nvPr/>
        </p:nvGrpSpPr>
        <p:grpSpPr>
          <a:xfrm>
            <a:off x="0" y="5446403"/>
            <a:ext cx="2830505" cy="689677"/>
            <a:chOff x="-432344" y="1549482"/>
            <a:chExt cx="3171289" cy="689677"/>
          </a:xfrm>
        </p:grpSpPr>
        <p:sp>
          <p:nvSpPr>
            <p:cNvPr id="31" name="Rectangle 30"/>
            <p:cNvSpPr/>
            <p:nvPr/>
          </p:nvSpPr>
          <p:spPr>
            <a:xfrm>
              <a:off x="-432344" y="1881497"/>
              <a:ext cx="3127914" cy="3576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sz="1600" b="1" dirty="0">
                  <a:solidFill>
                    <a:schemeClr val="accent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50,000 INR– 20%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20470" y="1549482"/>
              <a:ext cx="2118475" cy="2912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sz="1200" b="1" dirty="0">
                  <a:solidFill>
                    <a:schemeClr val="tx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BANK</a:t>
              </a:r>
            </a:p>
          </p:txBody>
        </p:sp>
      </p:grpSp>
      <p:cxnSp>
        <p:nvCxnSpPr>
          <p:cNvPr id="34" name="Elbow Connector 3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rot="10800000" flipV="1">
            <a:off x="2889880" y="5237922"/>
            <a:ext cx="1744980" cy="356001"/>
          </a:xfrm>
          <a:prstGeom prst="bentConnector3">
            <a:avLst/>
          </a:prstGeom>
          <a:ln w="12700">
            <a:solidFill>
              <a:schemeClr val="accent4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rot="10800000" flipH="1">
            <a:off x="7560940" y="2143359"/>
            <a:ext cx="1744980" cy="356001"/>
          </a:xfrm>
          <a:prstGeom prst="bentConnector3">
            <a:avLst/>
          </a:prstGeom>
          <a:ln w="12700">
            <a:solidFill>
              <a:schemeClr val="accent4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 descr="Caption"/>
          <p:cNvGrpSpPr/>
          <p:nvPr/>
        </p:nvGrpSpPr>
        <p:grpSpPr>
          <a:xfrm>
            <a:off x="9332600" y="1982269"/>
            <a:ext cx="2830506" cy="689677"/>
            <a:chOff x="-432344" y="1549482"/>
            <a:chExt cx="3171290" cy="689677"/>
          </a:xfrm>
        </p:grpSpPr>
        <p:sp>
          <p:nvSpPr>
            <p:cNvPr id="46" name="Rectangle 45"/>
            <p:cNvSpPr/>
            <p:nvPr/>
          </p:nvSpPr>
          <p:spPr>
            <a:xfrm>
              <a:off x="-432344" y="1881497"/>
              <a:ext cx="3127914" cy="3576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600" b="1" dirty="0">
                  <a:solidFill>
                    <a:schemeClr val="accent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100,000 INR – 39%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-432344" y="1549482"/>
              <a:ext cx="3171290" cy="2912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b="1" dirty="0">
                  <a:solidFill>
                    <a:schemeClr val="tx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DEBT INVESTOR</a:t>
              </a:r>
            </a:p>
          </p:txBody>
        </p:sp>
      </p:grpSp>
      <p:cxnSp>
        <p:nvCxnSpPr>
          <p:cNvPr id="48" name="Elbow Connector 4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rot="10800000" flipH="1" flipV="1">
            <a:off x="7560940" y="5232951"/>
            <a:ext cx="1744980" cy="356001"/>
          </a:xfrm>
          <a:prstGeom prst="bentConnector3">
            <a:avLst/>
          </a:prstGeom>
          <a:ln w="12700">
            <a:solidFill>
              <a:schemeClr val="accent4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oup 53" descr="Caption"/>
          <p:cNvGrpSpPr/>
          <p:nvPr/>
        </p:nvGrpSpPr>
        <p:grpSpPr>
          <a:xfrm>
            <a:off x="9332600" y="5446403"/>
            <a:ext cx="2830506" cy="689677"/>
            <a:chOff x="-432344" y="1549482"/>
            <a:chExt cx="3171290" cy="689677"/>
          </a:xfrm>
        </p:grpSpPr>
        <p:sp>
          <p:nvSpPr>
            <p:cNvPr id="55" name="Rectangle 54"/>
            <p:cNvSpPr/>
            <p:nvPr/>
          </p:nvSpPr>
          <p:spPr>
            <a:xfrm>
              <a:off x="-432344" y="1881497"/>
              <a:ext cx="3127914" cy="3576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600" b="1" dirty="0">
                  <a:solidFill>
                    <a:schemeClr val="accent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50,000 INR– 20%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-432344" y="1549482"/>
              <a:ext cx="3171290" cy="2912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b="1" dirty="0">
                  <a:solidFill>
                    <a:schemeClr val="tx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OWNER EQUITY</a:t>
              </a:r>
            </a:p>
          </p:txBody>
        </p:sp>
      </p:grpSp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F91C6773-6F00-4113-8130-E882AB54A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13</a:t>
            </a:r>
          </a:p>
        </p:txBody>
      </p:sp>
    </p:spTree>
    <p:extLst>
      <p:ext uri="{BB962C8B-B14F-4D97-AF65-F5344CB8AC3E}">
        <p14:creationId xmlns:p14="http://schemas.microsoft.com/office/powerpoint/2010/main" val="8789794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700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50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8500"/>
                            </p:stCondLst>
                            <p:childTnLst>
                              <p:par>
                                <p:cTn id="5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9000"/>
                            </p:stCondLst>
                            <p:childTnLst>
                              <p:par>
                                <p:cTn id="6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9500"/>
                            </p:stCondLst>
                            <p:childTnLst>
                              <p:par>
                                <p:cTn id="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4" grpId="0"/>
      <p:bldGraphic spid="6" grpId="0" uiExpand="1">
        <p:bldSub>
          <a:bldChart bld="category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TextBox 1133"/>
          <p:cNvSpPr txBox="1"/>
          <p:nvPr/>
        </p:nvSpPr>
        <p:spPr>
          <a:xfrm>
            <a:off x="381000" y="243235"/>
            <a:ext cx="6099463" cy="495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3200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USE OF FUNDS</a:t>
            </a:r>
          </a:p>
        </p:txBody>
      </p:sp>
      <p:grpSp>
        <p:nvGrpSpPr>
          <p:cNvPr id="3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148425"/>
            <a:ext cx="342900" cy="590715"/>
            <a:chOff x="0" y="148425"/>
            <a:chExt cx="342900" cy="590715"/>
          </a:xfrm>
        </p:grpSpPr>
        <p:sp>
          <p:nvSpPr>
            <p:cNvPr id="2" name="Rectangle 1"/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6" name="Chart 5" descr="Pie Chart"/>
          <p:cNvGraphicFramePr/>
          <p:nvPr>
            <p:extLst>
              <p:ext uri="{D42A27DB-BD31-4B8C-83A1-F6EECF244321}">
                <p14:modId xmlns:p14="http://schemas.microsoft.com/office/powerpoint/2010/main" val="1135807883"/>
              </p:ext>
            </p:extLst>
          </p:nvPr>
        </p:nvGraphicFramePr>
        <p:xfrm>
          <a:off x="3008630" y="1648459"/>
          <a:ext cx="6174740" cy="41164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4" name="Group 3" descr="Caption"/>
          <p:cNvGrpSpPr/>
          <p:nvPr/>
        </p:nvGrpSpPr>
        <p:grpSpPr>
          <a:xfrm>
            <a:off x="7387585" y="1713633"/>
            <a:ext cx="3362124" cy="489763"/>
            <a:chOff x="7387585" y="1713633"/>
            <a:chExt cx="3362124" cy="489763"/>
          </a:xfrm>
        </p:grpSpPr>
        <p:sp>
          <p:nvSpPr>
            <p:cNvPr id="21" name="Rectangle 20"/>
            <p:cNvSpPr/>
            <p:nvPr/>
          </p:nvSpPr>
          <p:spPr>
            <a:xfrm>
              <a:off x="9183370" y="1713633"/>
              <a:ext cx="1566339" cy="2581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000" b="1" dirty="0">
                  <a:solidFill>
                    <a:schemeClr val="tx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FF&amp;E 24%</a:t>
              </a:r>
            </a:p>
          </p:txBody>
        </p:sp>
        <p:cxnSp>
          <p:nvCxnSpPr>
            <p:cNvPr id="59" name="Elbow Connector 5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rot="10800000" flipH="1">
              <a:off x="7387585" y="1847395"/>
              <a:ext cx="1744980" cy="356001"/>
            </a:xfrm>
            <a:prstGeom prst="bentConnector3">
              <a:avLst>
                <a:gd name="adj1" fmla="val 76368"/>
              </a:avLst>
            </a:prstGeom>
            <a:ln w="12700">
              <a:solidFill>
                <a:schemeClr val="accent4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 descr="Caption"/>
          <p:cNvGrpSpPr/>
          <p:nvPr/>
        </p:nvGrpSpPr>
        <p:grpSpPr>
          <a:xfrm>
            <a:off x="8065765" y="2818449"/>
            <a:ext cx="2679703" cy="499504"/>
            <a:chOff x="8065765" y="2818449"/>
            <a:chExt cx="2679703" cy="499504"/>
          </a:xfrm>
        </p:grpSpPr>
        <p:sp>
          <p:nvSpPr>
            <p:cNvPr id="35" name="Rectangle 34"/>
            <p:cNvSpPr/>
            <p:nvPr/>
          </p:nvSpPr>
          <p:spPr>
            <a:xfrm>
              <a:off x="9179129" y="2818449"/>
              <a:ext cx="1566339" cy="2581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000" b="1" dirty="0">
                  <a:solidFill>
                    <a:schemeClr val="tx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IMPROVEMENTS 20%</a:t>
              </a:r>
            </a:p>
          </p:txBody>
        </p:sp>
        <p:cxnSp>
          <p:nvCxnSpPr>
            <p:cNvPr id="60" name="Elbow Connector 5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flipV="1">
              <a:off x="8065765" y="2947523"/>
              <a:ext cx="1113364" cy="370430"/>
            </a:xfrm>
            <a:prstGeom prst="bentConnector3">
              <a:avLst>
                <a:gd name="adj1" fmla="val 59902"/>
              </a:avLst>
            </a:prstGeom>
            <a:ln w="12700">
              <a:solidFill>
                <a:schemeClr val="accent4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 descr="Caption"/>
          <p:cNvGrpSpPr/>
          <p:nvPr/>
        </p:nvGrpSpPr>
        <p:grpSpPr>
          <a:xfrm>
            <a:off x="7438390" y="4164621"/>
            <a:ext cx="4570308" cy="1039525"/>
            <a:chOff x="7438390" y="4164621"/>
            <a:chExt cx="4570308" cy="1039525"/>
          </a:xfrm>
        </p:grpSpPr>
        <p:sp>
          <p:nvSpPr>
            <p:cNvPr id="45" name="Rectangle 44"/>
            <p:cNvSpPr/>
            <p:nvPr/>
          </p:nvSpPr>
          <p:spPr>
            <a:xfrm>
              <a:off x="9179129" y="4164621"/>
              <a:ext cx="2829569" cy="2581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000" b="1" dirty="0">
                  <a:solidFill>
                    <a:schemeClr val="tx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RETAIL BUSINESS INSURANCE 2%</a:t>
              </a:r>
            </a:p>
          </p:txBody>
        </p:sp>
        <p:cxnSp>
          <p:nvCxnSpPr>
            <p:cNvPr id="61" name="Elbow Connector 6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endCxn id="45" idx="1"/>
            </p:cNvCxnSpPr>
            <p:nvPr/>
          </p:nvCxnSpPr>
          <p:spPr>
            <a:xfrm flipV="1">
              <a:off x="7438390" y="4293695"/>
              <a:ext cx="1740739" cy="910451"/>
            </a:xfrm>
            <a:prstGeom prst="bentConnector3">
              <a:avLst>
                <a:gd name="adj1" fmla="val 73843"/>
              </a:avLst>
            </a:prstGeom>
            <a:ln w="12700">
              <a:solidFill>
                <a:schemeClr val="accent4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 descr="Caption"/>
          <p:cNvGrpSpPr/>
          <p:nvPr/>
        </p:nvGrpSpPr>
        <p:grpSpPr>
          <a:xfrm>
            <a:off x="6934200" y="5501640"/>
            <a:ext cx="5074498" cy="447886"/>
            <a:chOff x="6934200" y="5501640"/>
            <a:chExt cx="5074498" cy="447886"/>
          </a:xfrm>
        </p:grpSpPr>
        <p:sp>
          <p:nvSpPr>
            <p:cNvPr id="46" name="Rectangle 45"/>
            <p:cNvSpPr/>
            <p:nvPr/>
          </p:nvSpPr>
          <p:spPr>
            <a:xfrm>
              <a:off x="9179129" y="5691378"/>
              <a:ext cx="2829569" cy="2581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000" b="1" dirty="0">
                  <a:solidFill>
                    <a:schemeClr val="tx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COFFEE SUPLIES INVENTORY 8%</a:t>
              </a:r>
            </a:p>
          </p:txBody>
        </p:sp>
        <p:cxnSp>
          <p:nvCxnSpPr>
            <p:cNvPr id="62" name="Elbow Connector 6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endCxn id="46" idx="1"/>
            </p:cNvCxnSpPr>
            <p:nvPr/>
          </p:nvCxnSpPr>
          <p:spPr>
            <a:xfrm>
              <a:off x="6934200" y="5501640"/>
              <a:ext cx="2244929" cy="318812"/>
            </a:xfrm>
            <a:prstGeom prst="bentConnector3">
              <a:avLst>
                <a:gd name="adj1" fmla="val 79870"/>
              </a:avLst>
            </a:prstGeom>
            <a:ln w="12700">
              <a:solidFill>
                <a:schemeClr val="accent4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 descr="Caption"/>
          <p:cNvGrpSpPr/>
          <p:nvPr/>
        </p:nvGrpSpPr>
        <p:grpSpPr>
          <a:xfrm>
            <a:off x="1400801" y="5735003"/>
            <a:ext cx="4695199" cy="276999"/>
            <a:chOff x="1400801" y="5735003"/>
            <a:chExt cx="4695199" cy="276999"/>
          </a:xfrm>
        </p:grpSpPr>
        <p:sp>
          <p:nvSpPr>
            <p:cNvPr id="47" name="Rectangle 46"/>
            <p:cNvSpPr/>
            <p:nvPr/>
          </p:nvSpPr>
          <p:spPr>
            <a:xfrm>
              <a:off x="1400801" y="5735003"/>
              <a:ext cx="282956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sz="1000" b="1" dirty="0">
                  <a:solidFill>
                    <a:schemeClr val="tx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MARKETING 4%</a:t>
              </a:r>
            </a:p>
          </p:txBody>
        </p:sp>
        <p:cxnSp>
          <p:nvCxnSpPr>
            <p:cNvPr id="63" name="Elbow Connector 6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stCxn id="6" idx="2"/>
              <a:endCxn id="47" idx="3"/>
            </p:cNvCxnSpPr>
            <p:nvPr/>
          </p:nvCxnSpPr>
          <p:spPr>
            <a:xfrm rot="5400000">
              <a:off x="5108910" y="4886413"/>
              <a:ext cx="108550" cy="1865630"/>
            </a:xfrm>
            <a:prstGeom prst="bentConnector2">
              <a:avLst/>
            </a:prstGeom>
            <a:ln w="12700">
              <a:solidFill>
                <a:schemeClr val="accent4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 descr="Caption"/>
          <p:cNvGrpSpPr/>
          <p:nvPr/>
        </p:nvGrpSpPr>
        <p:grpSpPr>
          <a:xfrm>
            <a:off x="381000" y="4649887"/>
            <a:ext cx="4404357" cy="534724"/>
            <a:chOff x="381000" y="4649887"/>
            <a:chExt cx="4404357" cy="534724"/>
          </a:xfrm>
        </p:grpSpPr>
        <p:sp>
          <p:nvSpPr>
            <p:cNvPr id="48" name="Rectangle 47"/>
            <p:cNvSpPr/>
            <p:nvPr/>
          </p:nvSpPr>
          <p:spPr>
            <a:xfrm>
              <a:off x="381000" y="4649887"/>
              <a:ext cx="2829569" cy="2581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sz="1000" b="1" dirty="0">
                  <a:solidFill>
                    <a:schemeClr val="tx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WORKING CAPITAL 28%</a:t>
              </a:r>
            </a:p>
          </p:txBody>
        </p:sp>
        <p:cxnSp>
          <p:nvCxnSpPr>
            <p:cNvPr id="64" name="Elbow Connector 6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rot="10800000">
              <a:off x="3210569" y="4778961"/>
              <a:ext cx="1574788" cy="405650"/>
            </a:xfrm>
            <a:prstGeom prst="bentConnector3">
              <a:avLst>
                <a:gd name="adj1" fmla="val 70646"/>
              </a:avLst>
            </a:prstGeom>
            <a:ln w="12700">
              <a:solidFill>
                <a:schemeClr val="accent4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 descr="Caption"/>
          <p:cNvGrpSpPr/>
          <p:nvPr/>
        </p:nvGrpSpPr>
        <p:grpSpPr>
          <a:xfrm>
            <a:off x="381000" y="3017520"/>
            <a:ext cx="3849373" cy="525834"/>
            <a:chOff x="381000" y="3017520"/>
            <a:chExt cx="3849373" cy="525834"/>
          </a:xfrm>
        </p:grpSpPr>
        <p:sp>
          <p:nvSpPr>
            <p:cNvPr id="54" name="Rectangle 53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381000" y="3285206"/>
              <a:ext cx="2829569" cy="2581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sz="1000" b="1" dirty="0">
                  <a:solidFill>
                    <a:schemeClr val="tx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WEBSITE DEVELOPMENT 2%</a:t>
              </a:r>
            </a:p>
          </p:txBody>
        </p:sp>
        <p:cxnSp>
          <p:nvCxnSpPr>
            <p:cNvPr id="65" name="Elbow Connector 6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rot="10800000" flipV="1">
              <a:off x="3210568" y="3017520"/>
              <a:ext cx="1019805" cy="391036"/>
            </a:xfrm>
            <a:prstGeom prst="bentConnector3">
              <a:avLst>
                <a:gd name="adj1" fmla="val 53985"/>
              </a:avLst>
            </a:prstGeom>
            <a:ln w="12700">
              <a:solidFill>
                <a:schemeClr val="accent4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 descr="Caption"/>
          <p:cNvGrpSpPr/>
          <p:nvPr/>
        </p:nvGrpSpPr>
        <p:grpSpPr>
          <a:xfrm>
            <a:off x="381000" y="2390477"/>
            <a:ext cx="4242234" cy="384658"/>
            <a:chOff x="381000" y="2390477"/>
            <a:chExt cx="4242234" cy="384658"/>
          </a:xfrm>
        </p:grpSpPr>
        <p:sp>
          <p:nvSpPr>
            <p:cNvPr id="55" name="Rectangle 54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381000" y="2516987"/>
              <a:ext cx="2829569" cy="2581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sz="1000" b="1" dirty="0">
                  <a:solidFill>
                    <a:schemeClr val="tx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MISCELLANEOUS COSTS 8%</a:t>
              </a:r>
            </a:p>
          </p:txBody>
        </p:sp>
        <p:cxnSp>
          <p:nvCxnSpPr>
            <p:cNvPr id="67" name="Elbow Connector 6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rot="10800000" flipV="1">
              <a:off x="3210569" y="2390477"/>
              <a:ext cx="1412665" cy="253676"/>
            </a:xfrm>
            <a:prstGeom prst="bentConnector3">
              <a:avLst>
                <a:gd name="adj1" fmla="val 66901"/>
              </a:avLst>
            </a:prstGeom>
            <a:ln w="12700">
              <a:solidFill>
                <a:schemeClr val="accent4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 descr="Caption"/>
          <p:cNvGrpSpPr/>
          <p:nvPr/>
        </p:nvGrpSpPr>
        <p:grpSpPr>
          <a:xfrm>
            <a:off x="380999" y="1745301"/>
            <a:ext cx="4678681" cy="280094"/>
            <a:chOff x="380999" y="1745301"/>
            <a:chExt cx="4678681" cy="280094"/>
          </a:xfrm>
        </p:grpSpPr>
        <p:sp>
          <p:nvSpPr>
            <p:cNvPr id="58" name="Rectangle 57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380999" y="1745301"/>
              <a:ext cx="2829569" cy="2581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sz="1000" b="1" dirty="0">
                  <a:solidFill>
                    <a:schemeClr val="tx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INITIAL LEASE PAYMENTS 3%</a:t>
              </a:r>
            </a:p>
          </p:txBody>
        </p:sp>
        <p:cxnSp>
          <p:nvCxnSpPr>
            <p:cNvPr id="69" name="Elbow Connector 6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 rot="10800000">
              <a:off x="3210568" y="1874375"/>
              <a:ext cx="1849112" cy="151020"/>
            </a:xfrm>
            <a:prstGeom prst="bentConnector3">
              <a:avLst>
                <a:gd name="adj1" fmla="val 74176"/>
              </a:avLst>
            </a:prstGeom>
            <a:ln w="12700">
              <a:solidFill>
                <a:schemeClr val="accent4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 descr="Caption"/>
          <p:cNvGrpSpPr/>
          <p:nvPr/>
        </p:nvGrpSpPr>
        <p:grpSpPr>
          <a:xfrm>
            <a:off x="5311305" y="1252330"/>
            <a:ext cx="3541869" cy="631918"/>
            <a:chOff x="5311305" y="1252330"/>
            <a:chExt cx="3541869" cy="631918"/>
          </a:xfrm>
        </p:grpSpPr>
        <p:sp>
          <p:nvSpPr>
            <p:cNvPr id="92" name="Rectangle 91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6023605" y="1252330"/>
              <a:ext cx="282956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000" b="1" dirty="0">
                  <a:solidFill>
                    <a:schemeClr val="tx2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LEASE DEPOSIT 1%</a:t>
              </a:r>
            </a:p>
          </p:txBody>
        </p:sp>
        <p:cxnSp>
          <p:nvCxnSpPr>
            <p:cNvPr id="93" name="Elbow Connector 9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stCxn id="92" idx="1"/>
            </p:cNvCxnSpPr>
            <p:nvPr/>
          </p:nvCxnSpPr>
          <p:spPr>
            <a:xfrm rot="10800000" flipV="1">
              <a:off x="5311305" y="1390830"/>
              <a:ext cx="712301" cy="493418"/>
            </a:xfrm>
            <a:prstGeom prst="bentConnector3">
              <a:avLst>
                <a:gd name="adj1" fmla="val 100868"/>
              </a:avLst>
            </a:prstGeom>
            <a:ln w="12700">
              <a:solidFill>
                <a:schemeClr val="accent4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TextBox 99"/>
          <p:cNvSpPr txBox="1"/>
          <p:nvPr/>
        </p:nvSpPr>
        <p:spPr>
          <a:xfrm>
            <a:off x="4717413" y="3344471"/>
            <a:ext cx="27571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FIXED STARTUP EXPENSES</a:t>
            </a:r>
          </a:p>
        </p:txBody>
      </p:sp>
      <p:sp>
        <p:nvSpPr>
          <p:cNvPr id="15" name="Title 14" hidden="1">
            <a:extLst>
              <a:ext uri="{FF2B5EF4-FFF2-40B4-BE49-F238E27FC236}">
                <a16:creationId xmlns:a16="http://schemas.microsoft.com/office/drawing/2014/main" id="{902162D3-74C5-4843-9B02-5592FDA90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14</a:t>
            </a:r>
          </a:p>
        </p:txBody>
      </p:sp>
    </p:spTree>
    <p:extLst>
      <p:ext uri="{BB962C8B-B14F-4D97-AF65-F5344CB8AC3E}">
        <p14:creationId xmlns:p14="http://schemas.microsoft.com/office/powerpoint/2010/main" val="20770290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5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0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4" grpId="0"/>
      <p:bldGraphic spid="6" grpId="0">
        <p:bldAsOne/>
      </p:bldGraphic>
      <p:bldP spid="10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llustration of a coffee cup and saucer with steam coming out and the wording &quot;Coffee Shop&quot; within the steam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900" y="212891"/>
            <a:ext cx="4151464" cy="598039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73749" y="1811629"/>
            <a:ext cx="4601372" cy="48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3200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THANK YOU!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73748" y="2971949"/>
            <a:ext cx="2829569" cy="2912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CONTACT US AT:</a:t>
            </a:r>
          </a:p>
        </p:txBody>
      </p:sp>
      <p:sp>
        <p:nvSpPr>
          <p:cNvPr id="12" name="Shape 509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46626" y="3543124"/>
            <a:ext cx="254834" cy="2432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4490" y="91015"/>
                </a:moveTo>
                <a:lnTo>
                  <a:pt x="94490" y="91015"/>
                </a:lnTo>
                <a:cubicBezTo>
                  <a:pt x="78351" y="83972"/>
                  <a:pt x="73926" y="79097"/>
                  <a:pt x="73926" y="67178"/>
                </a:cubicBezTo>
                <a:cubicBezTo>
                  <a:pt x="73926" y="62302"/>
                  <a:pt x="78351" y="64740"/>
                  <a:pt x="80694" y="52821"/>
                </a:cubicBezTo>
                <a:cubicBezTo>
                  <a:pt x="80694" y="47674"/>
                  <a:pt x="85379" y="52821"/>
                  <a:pt x="85379" y="40902"/>
                </a:cubicBezTo>
                <a:cubicBezTo>
                  <a:pt x="85379" y="35756"/>
                  <a:pt x="83036" y="35756"/>
                  <a:pt x="83036" y="35756"/>
                </a:cubicBezTo>
                <a:cubicBezTo>
                  <a:pt x="83036" y="35756"/>
                  <a:pt x="85379" y="28713"/>
                  <a:pt x="85379" y="23837"/>
                </a:cubicBezTo>
                <a:cubicBezTo>
                  <a:pt x="85379" y="16523"/>
                  <a:pt x="83036" y="0"/>
                  <a:pt x="59869" y="0"/>
                </a:cubicBezTo>
                <a:cubicBezTo>
                  <a:pt x="36702" y="0"/>
                  <a:pt x="34360" y="16523"/>
                  <a:pt x="34360" y="23837"/>
                </a:cubicBezTo>
                <a:cubicBezTo>
                  <a:pt x="34360" y="28713"/>
                  <a:pt x="36702" y="35756"/>
                  <a:pt x="36702" y="35756"/>
                </a:cubicBezTo>
                <a:cubicBezTo>
                  <a:pt x="36702" y="35756"/>
                  <a:pt x="34360" y="35756"/>
                  <a:pt x="34360" y="40902"/>
                </a:cubicBezTo>
                <a:cubicBezTo>
                  <a:pt x="34360" y="52821"/>
                  <a:pt x="39045" y="47674"/>
                  <a:pt x="39045" y="52821"/>
                </a:cubicBezTo>
                <a:cubicBezTo>
                  <a:pt x="41388" y="64740"/>
                  <a:pt x="46073" y="62302"/>
                  <a:pt x="46073" y="67178"/>
                </a:cubicBezTo>
                <a:cubicBezTo>
                  <a:pt x="46073" y="79097"/>
                  <a:pt x="41388" y="83972"/>
                  <a:pt x="25249" y="91015"/>
                </a:cubicBezTo>
                <a:cubicBezTo>
                  <a:pt x="9110" y="95891"/>
                  <a:pt x="0" y="102934"/>
                  <a:pt x="0" y="107810"/>
                </a:cubicBezTo>
                <a:cubicBezTo>
                  <a:pt x="0" y="110248"/>
                  <a:pt x="0" y="119729"/>
                  <a:pt x="0" y="119729"/>
                </a:cubicBezTo>
                <a:cubicBezTo>
                  <a:pt x="59869" y="119729"/>
                  <a:pt x="59869" y="119729"/>
                  <a:pt x="59869" y="119729"/>
                </a:cubicBezTo>
                <a:cubicBezTo>
                  <a:pt x="119739" y="119729"/>
                  <a:pt x="119739" y="119729"/>
                  <a:pt x="119739" y="119729"/>
                </a:cubicBezTo>
                <a:cubicBezTo>
                  <a:pt x="119739" y="119729"/>
                  <a:pt x="119739" y="110248"/>
                  <a:pt x="119739" y="107810"/>
                </a:cubicBezTo>
                <a:cubicBezTo>
                  <a:pt x="119739" y="102934"/>
                  <a:pt x="110629" y="95891"/>
                  <a:pt x="94490" y="91015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492848" y="3533981"/>
            <a:ext cx="2829569" cy="2912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Dinesh J</a:t>
            </a:r>
          </a:p>
        </p:txBody>
      </p:sp>
      <p:sp>
        <p:nvSpPr>
          <p:cNvPr id="13" name="Shape 510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46626" y="4119620"/>
            <a:ext cx="254834" cy="15760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4685" y="11368"/>
                </a:moveTo>
                <a:lnTo>
                  <a:pt x="4685" y="11368"/>
                </a:lnTo>
                <a:cubicBezTo>
                  <a:pt x="9110" y="14736"/>
                  <a:pt x="52841" y="52631"/>
                  <a:pt x="52841" y="52631"/>
                </a:cubicBezTo>
                <a:cubicBezTo>
                  <a:pt x="55184" y="56000"/>
                  <a:pt x="57527" y="56000"/>
                  <a:pt x="60130" y="56000"/>
                </a:cubicBezTo>
                <a:cubicBezTo>
                  <a:pt x="62212" y="56000"/>
                  <a:pt x="64555" y="56000"/>
                  <a:pt x="64555" y="52631"/>
                </a:cubicBezTo>
                <a:cubicBezTo>
                  <a:pt x="66637" y="52631"/>
                  <a:pt x="110629" y="14736"/>
                  <a:pt x="112971" y="11368"/>
                </a:cubicBezTo>
                <a:cubicBezTo>
                  <a:pt x="117657" y="7578"/>
                  <a:pt x="119739" y="0"/>
                  <a:pt x="115314" y="0"/>
                </a:cubicBezTo>
                <a:cubicBezTo>
                  <a:pt x="4685" y="0"/>
                  <a:pt x="4685" y="0"/>
                  <a:pt x="4685" y="0"/>
                </a:cubicBezTo>
                <a:cubicBezTo>
                  <a:pt x="0" y="0"/>
                  <a:pt x="2342" y="7578"/>
                  <a:pt x="4685" y="11368"/>
                </a:cubicBezTo>
                <a:close/>
                <a:moveTo>
                  <a:pt x="115314" y="33684"/>
                </a:moveTo>
                <a:lnTo>
                  <a:pt x="115314" y="33684"/>
                </a:lnTo>
                <a:cubicBezTo>
                  <a:pt x="112971" y="33684"/>
                  <a:pt x="66637" y="71157"/>
                  <a:pt x="64555" y="74947"/>
                </a:cubicBezTo>
                <a:cubicBezTo>
                  <a:pt x="64555" y="74947"/>
                  <a:pt x="62212" y="74947"/>
                  <a:pt x="60130" y="74947"/>
                </a:cubicBezTo>
                <a:cubicBezTo>
                  <a:pt x="57527" y="74947"/>
                  <a:pt x="55184" y="74947"/>
                  <a:pt x="52841" y="74947"/>
                </a:cubicBezTo>
                <a:cubicBezTo>
                  <a:pt x="50498" y="71157"/>
                  <a:pt x="7028" y="33684"/>
                  <a:pt x="4685" y="33684"/>
                </a:cubicBezTo>
                <a:cubicBezTo>
                  <a:pt x="2342" y="30315"/>
                  <a:pt x="2342" y="33684"/>
                  <a:pt x="2342" y="33684"/>
                </a:cubicBezTo>
                <a:cubicBezTo>
                  <a:pt x="2342" y="37052"/>
                  <a:pt x="2342" y="112000"/>
                  <a:pt x="2342" y="112000"/>
                </a:cubicBezTo>
                <a:cubicBezTo>
                  <a:pt x="2342" y="115789"/>
                  <a:pt x="4685" y="119578"/>
                  <a:pt x="9110" y="119578"/>
                </a:cubicBezTo>
                <a:cubicBezTo>
                  <a:pt x="110629" y="119578"/>
                  <a:pt x="110629" y="119578"/>
                  <a:pt x="110629" y="119578"/>
                </a:cubicBezTo>
                <a:cubicBezTo>
                  <a:pt x="115314" y="119578"/>
                  <a:pt x="117657" y="115789"/>
                  <a:pt x="117657" y="112000"/>
                </a:cubicBezTo>
                <a:cubicBezTo>
                  <a:pt x="117657" y="112000"/>
                  <a:pt x="117657" y="37052"/>
                  <a:pt x="117657" y="33684"/>
                </a:cubicBezTo>
                <a:cubicBezTo>
                  <a:pt x="117657" y="33684"/>
                  <a:pt x="117657" y="30315"/>
                  <a:pt x="115314" y="336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492848" y="4052776"/>
            <a:ext cx="2829569" cy="2912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mailus247@roasting.co.in</a:t>
            </a:r>
          </a:p>
        </p:txBody>
      </p:sp>
      <p:sp>
        <p:nvSpPr>
          <p:cNvPr id="14" name="Shape 51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96231" y="4610500"/>
            <a:ext cx="155623" cy="26852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0918" y="0"/>
                </a:moveTo>
                <a:lnTo>
                  <a:pt x="100918" y="0"/>
                </a:lnTo>
                <a:cubicBezTo>
                  <a:pt x="18657" y="0"/>
                  <a:pt x="18657" y="0"/>
                  <a:pt x="18657" y="0"/>
                </a:cubicBezTo>
                <a:cubicBezTo>
                  <a:pt x="7208" y="0"/>
                  <a:pt x="0" y="4417"/>
                  <a:pt x="0" y="10797"/>
                </a:cubicBezTo>
                <a:cubicBezTo>
                  <a:pt x="0" y="106503"/>
                  <a:pt x="0" y="106503"/>
                  <a:pt x="0" y="106503"/>
                </a:cubicBezTo>
                <a:cubicBezTo>
                  <a:pt x="0" y="112883"/>
                  <a:pt x="7208" y="119754"/>
                  <a:pt x="18657" y="119754"/>
                </a:cubicBezTo>
                <a:cubicBezTo>
                  <a:pt x="100918" y="119754"/>
                  <a:pt x="100918" y="119754"/>
                  <a:pt x="100918" y="119754"/>
                </a:cubicBezTo>
                <a:cubicBezTo>
                  <a:pt x="112367" y="119754"/>
                  <a:pt x="119575" y="112883"/>
                  <a:pt x="119575" y="106503"/>
                </a:cubicBezTo>
                <a:cubicBezTo>
                  <a:pt x="119575" y="10797"/>
                  <a:pt x="119575" y="10797"/>
                  <a:pt x="119575" y="10797"/>
                </a:cubicBezTo>
                <a:cubicBezTo>
                  <a:pt x="119575" y="4417"/>
                  <a:pt x="112367" y="0"/>
                  <a:pt x="100918" y="0"/>
                </a:cubicBezTo>
                <a:close/>
                <a:moveTo>
                  <a:pt x="59787" y="112883"/>
                </a:moveTo>
                <a:lnTo>
                  <a:pt x="59787" y="112883"/>
                </a:lnTo>
                <a:cubicBezTo>
                  <a:pt x="52155" y="112883"/>
                  <a:pt x="44946" y="110674"/>
                  <a:pt x="44946" y="108711"/>
                </a:cubicBezTo>
                <a:cubicBezTo>
                  <a:pt x="44946" y="104294"/>
                  <a:pt x="52155" y="102085"/>
                  <a:pt x="59787" y="102085"/>
                </a:cubicBezTo>
                <a:cubicBezTo>
                  <a:pt x="67420" y="102085"/>
                  <a:pt x="74628" y="104294"/>
                  <a:pt x="74628" y="108711"/>
                </a:cubicBezTo>
                <a:cubicBezTo>
                  <a:pt x="74628" y="110674"/>
                  <a:pt x="67420" y="112883"/>
                  <a:pt x="59787" y="112883"/>
                </a:cubicBezTo>
                <a:close/>
                <a:moveTo>
                  <a:pt x="104734" y="95705"/>
                </a:moveTo>
                <a:lnTo>
                  <a:pt x="104734" y="95705"/>
                </a:lnTo>
                <a:cubicBezTo>
                  <a:pt x="14840" y="95705"/>
                  <a:pt x="14840" y="95705"/>
                  <a:pt x="14840" y="95705"/>
                </a:cubicBezTo>
                <a:cubicBezTo>
                  <a:pt x="14840" y="15214"/>
                  <a:pt x="14840" y="15214"/>
                  <a:pt x="14840" y="15214"/>
                </a:cubicBezTo>
                <a:cubicBezTo>
                  <a:pt x="104734" y="15214"/>
                  <a:pt x="104734" y="15214"/>
                  <a:pt x="104734" y="15214"/>
                </a:cubicBezTo>
                <a:lnTo>
                  <a:pt x="104734" y="957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492847" y="4567463"/>
            <a:ext cx="2829569" cy="2912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+91 90000 54XXX</a:t>
            </a:r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94485F9-90F6-432D-BFF9-D47B53BB4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15</a:t>
            </a:r>
          </a:p>
        </p:txBody>
      </p:sp>
    </p:spTree>
    <p:extLst>
      <p:ext uri="{BB962C8B-B14F-4D97-AF65-F5344CB8AC3E}">
        <p14:creationId xmlns:p14="http://schemas.microsoft.com/office/powerpoint/2010/main" val="3456346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2" grpId="0" animBg="1"/>
      <p:bldP spid="16" grpId="0"/>
      <p:bldP spid="13" grpId="0" animBg="1"/>
      <p:bldP spid="17" grpId="0"/>
      <p:bldP spid="14" grpId="0" animBg="1"/>
      <p:bldP spid="1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2F2F2F"/>
      </a:dk2>
      <a:lt2>
        <a:srgbClr val="E6E6E6"/>
      </a:lt2>
      <a:accent1>
        <a:srgbClr val="D83B01"/>
      </a:accent1>
      <a:accent2>
        <a:srgbClr val="2F2F2F"/>
      </a:accent2>
      <a:accent3>
        <a:srgbClr val="D2D2D2"/>
      </a:accent3>
      <a:accent4>
        <a:srgbClr val="E6E6E6"/>
      </a:accent4>
      <a:accent5>
        <a:srgbClr val="000000"/>
      </a:accent5>
      <a:accent6>
        <a:srgbClr val="D83B01"/>
      </a:accent6>
      <a:hlink>
        <a:srgbClr val="D83B01"/>
      </a:hlink>
      <a:folHlink>
        <a:srgbClr val="D83B0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76F299F-4D51-4516-B63D-17789A34728B}" vid="{B6B5B681-EF2F-4754-98B9-48DDA521A0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6EF2E5D285D043AC0F0D3B1FD4EE8B" ma:contentTypeVersion="12" ma:contentTypeDescription="Create a new document." ma:contentTypeScope="" ma:versionID="4233f9d039d1b52c85e464967d770347">
  <xsd:schema xmlns:xsd="http://www.w3.org/2001/XMLSchema" xmlns:xs="http://www.w3.org/2001/XMLSchema" xmlns:p="http://schemas.microsoft.com/office/2006/metadata/properties" xmlns:ns2="673509bc-5a13-4bd6-b9fd-b9bec7e34f34" xmlns:ns3="3bfff213-fdab-42ca-bf6f-56ec1ab75581" targetNamespace="http://schemas.microsoft.com/office/2006/metadata/properties" ma:root="true" ma:fieldsID="22aa36e04451e3834fb070f82d8b2597" ns2:_="" ns3:_="">
    <xsd:import namespace="673509bc-5a13-4bd6-b9fd-b9bec7e34f34"/>
    <xsd:import namespace="3bfff213-fdab-42ca-bf6f-56ec1ab75581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3509bc-5a13-4bd6-b9fd-b9bec7e34f3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ff213-fdab-42ca-bf6f-56ec1ab755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3bfff213-fdab-42ca-bf6f-56ec1ab75581" xsi:nil="true"/>
  </documentManagement>
</p:properties>
</file>

<file path=customXml/itemProps1.xml><?xml version="1.0" encoding="utf-8"?>
<ds:datastoreItem xmlns:ds="http://schemas.openxmlformats.org/officeDocument/2006/customXml" ds:itemID="{B3C2ED1B-1FDD-4999-99BA-E9D003F86F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73509bc-5a13-4bd6-b9fd-b9bec7e34f34"/>
    <ds:schemaRef ds:uri="3bfff213-fdab-42ca-bf6f-56ec1ab7558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BCEF3AB-10D4-49E3-B75C-776D60141D7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C98A6E-22EC-4DD4-9EEB-7896057C12A3}">
  <ds:schemaRefs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2006/metadata/properties"/>
    <ds:schemaRef ds:uri="673509bc-5a13-4bd6-b9fd-b9bec7e34f34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3bfff213-fdab-42ca-bf6f-56ec1ab75581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490301b827b127ddd96185e71e98ff35</Template>
  <TotalTime>1</TotalTime>
  <Words>453</Words>
  <Application>Microsoft Office PowerPoint</Application>
  <PresentationFormat>Widescreen</PresentationFormat>
  <Paragraphs>162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Calibri Light</vt:lpstr>
      <vt:lpstr>Lato</vt:lpstr>
      <vt:lpstr>Lato Black</vt:lpstr>
      <vt:lpstr>Roboto</vt:lpstr>
      <vt:lpstr>Roboto Condensed Light</vt:lpstr>
      <vt:lpstr>Segoe UI Light</vt:lpstr>
      <vt:lpstr>Office Theme</vt:lpstr>
      <vt:lpstr>Slide 1</vt:lpstr>
      <vt:lpstr>Slide 2</vt:lpstr>
      <vt:lpstr>Slide 3</vt:lpstr>
      <vt:lpstr>Slide 4</vt:lpstr>
      <vt:lpstr>Slide 5</vt:lpstr>
      <vt:lpstr>Slide 7</vt:lpstr>
      <vt:lpstr>Slide 8</vt:lpstr>
      <vt:lpstr>Slide 9</vt:lpstr>
      <vt:lpstr>Slide 13</vt:lpstr>
      <vt:lpstr>Slide 14</vt:lpstr>
      <vt:lpstr>Slide 15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LENOVO</dc:creator>
  <cp:lastModifiedBy>LENOVO</cp:lastModifiedBy>
  <cp:revision>1</cp:revision>
  <dcterms:created xsi:type="dcterms:W3CDTF">2026-05-13T03:48:50Z</dcterms:created>
  <dcterms:modified xsi:type="dcterms:W3CDTF">2026-05-13T03:50:44Z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0x010100306EF2E5D285D043AC0F0D3B1FD4EE8B</vt:lpwstr>
  </property>
  <property fmtid="{D5CDD505-2E9C-101B-9397-08002B2CF9AE}" pid="3" name="ArticulateGUID">
    <vt:lpwstr>D9249C02-701B-4225-BF72-B6F48FDBFE64</vt:lpwstr>
  </property>
  <property fmtid="{D5CDD505-2E9C-101B-9397-08002B2CF9AE}" pid="4" name="ArticulatePath">
    <vt:lpwstr>https://d.docs.live.net/e5bd2cb3697c93dc/Documents/Camtasia/Trial project camtasia.tscproj/Business Pitch/Business Pitch for a Cafe</vt:lpwstr>
  </property>
</Properties>
</file>