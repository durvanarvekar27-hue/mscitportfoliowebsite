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16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AYA-07" initials="M" lastIdx="1" clrIdx="0">
    <p:extLst>
      <p:ext uri="{19B8F6BF-5375-455C-9EA6-DF929625EA0E}">
        <p15:presenceInfo xmlns:p15="http://schemas.microsoft.com/office/powerpoint/2012/main" userId="MAAYA-07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ECFA"/>
    <a:srgbClr val="9CBB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 autoAdjust="0"/>
  </p:normalViewPr>
  <p:slideViewPr>
    <p:cSldViewPr snapToGrid="0" showGuides="1">
      <p:cViewPr varScale="1">
        <p:scale>
          <a:sx n="64" d="100"/>
          <a:sy n="64" d="100"/>
        </p:scale>
        <p:origin x="900" y="90"/>
      </p:cViewPr>
      <p:guideLst>
        <p:guide orient="horz" pos="200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9" d="100"/>
          <a:sy n="49" d="100"/>
        </p:scale>
        <p:origin x="2910" y="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80E830-1C38-4246-9BC5-16F7F7F5017D}" type="doc">
      <dgm:prSet loTypeId="urn:microsoft.com/office/officeart/2009/3/layout/SnapshotPictureList" loCatId="picture" qsTypeId="urn:microsoft.com/office/officeart/2005/8/quickstyle/simple4" qsCatId="simple" csTypeId="urn:microsoft.com/office/officeart/2005/8/colors/accent1_2" csCatId="accent1" phldr="1"/>
      <dgm:spPr/>
    </dgm:pt>
    <dgm:pt modelId="{52ABFF2D-6C98-4F43-95CA-BC9E995AE2C0}">
      <dgm:prSet phldrT="[Text]" phldr="1"/>
      <dgm:spPr/>
      <dgm:t>
        <a:bodyPr/>
        <a:lstStyle/>
        <a:p>
          <a:endParaRPr lang="en-IN" dirty="0"/>
        </a:p>
      </dgm:t>
    </dgm:pt>
    <dgm:pt modelId="{916DB9D7-9032-4117-9AD8-62DCDBE76DB2}" type="parTrans" cxnId="{5F284A66-22BE-4D81-8545-F802A0B5BD40}">
      <dgm:prSet/>
      <dgm:spPr/>
      <dgm:t>
        <a:bodyPr/>
        <a:lstStyle/>
        <a:p>
          <a:endParaRPr lang="en-IN"/>
        </a:p>
      </dgm:t>
    </dgm:pt>
    <dgm:pt modelId="{7470E80D-ECB0-47C7-AFA9-1BF94A68E48C}" type="sibTrans" cxnId="{5F284A66-22BE-4D81-8545-F802A0B5BD40}">
      <dgm:prSet/>
      <dgm:spPr/>
      <dgm:t>
        <a:bodyPr/>
        <a:lstStyle/>
        <a:p>
          <a:endParaRPr lang="en-IN"/>
        </a:p>
      </dgm:t>
    </dgm:pt>
    <dgm:pt modelId="{C93D32B1-B445-4922-BC1E-8C8AC0B852A0}" type="pres">
      <dgm:prSet presAssocID="{BA80E830-1C38-4246-9BC5-16F7F7F5017D}" presName="Name0" presStyleCnt="0">
        <dgm:presLayoutVars>
          <dgm:chMax/>
          <dgm:chPref/>
          <dgm:dir/>
          <dgm:animLvl val="lvl"/>
        </dgm:presLayoutVars>
      </dgm:prSet>
      <dgm:spPr/>
    </dgm:pt>
    <dgm:pt modelId="{69CD4591-C144-4167-A399-A307A74FE04F}" type="pres">
      <dgm:prSet presAssocID="{52ABFF2D-6C98-4F43-95CA-BC9E995AE2C0}" presName="composite" presStyleCnt="0"/>
      <dgm:spPr/>
    </dgm:pt>
    <dgm:pt modelId="{01CFC0E4-7061-4105-8EDD-9204E086A768}" type="pres">
      <dgm:prSet presAssocID="{52ABFF2D-6C98-4F43-95CA-BC9E995AE2C0}" presName="ParentAccentShape" presStyleLbl="trBgShp" presStyleIdx="0" presStyleCnt="1"/>
      <dgm:spPr/>
    </dgm:pt>
    <dgm:pt modelId="{4293CC1E-D0BC-4FBE-A8FD-48248A909845}" type="pres">
      <dgm:prSet presAssocID="{52ABFF2D-6C98-4F43-95CA-BC9E995AE2C0}" presName="ParentText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D2E26A32-75B6-45DF-95D8-91904EC2168D}" type="pres">
      <dgm:prSet presAssocID="{52ABFF2D-6C98-4F43-95CA-BC9E995AE2C0}" presName="ChildText" presStyleLbl="revTx" presStyleIdx="1" presStyleCnt="2">
        <dgm:presLayoutVars>
          <dgm:chMax val="0"/>
          <dgm:chPref val="0"/>
        </dgm:presLayoutVars>
      </dgm:prSet>
      <dgm:spPr/>
    </dgm:pt>
    <dgm:pt modelId="{DC98BDC4-8D80-492D-9095-673A6FA94BEA}" type="pres">
      <dgm:prSet presAssocID="{52ABFF2D-6C98-4F43-95CA-BC9E995AE2C0}" presName="ChildAccentShape" presStyleLbl="trBgShp" presStyleIdx="0" presStyleCnt="1"/>
      <dgm:spPr/>
    </dgm:pt>
    <dgm:pt modelId="{B240FFC1-603C-4ECA-9549-CE0597DE7A67}" type="pres">
      <dgm:prSet presAssocID="{52ABFF2D-6C98-4F43-95CA-BC9E995AE2C0}" presName="Image" presStyleLbl="alignImgPlace1" presStyleIdx="0" presStyleCnt="1" custScaleX="171017" custScaleY="112250" custLinFactX="132440" custLinFactNeighborX="200000" custLinFactNeighborY="9144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</dgm:ptLst>
  <dgm:cxnLst>
    <dgm:cxn modelId="{F0495124-96AA-41FF-9976-5C1EF4FF390B}" type="presOf" srcId="{52ABFF2D-6C98-4F43-95CA-BC9E995AE2C0}" destId="{4293CC1E-D0BC-4FBE-A8FD-48248A909845}" srcOrd="0" destOrd="0" presId="urn:microsoft.com/office/officeart/2009/3/layout/SnapshotPictureList"/>
    <dgm:cxn modelId="{7D4AB334-2515-4D1D-81E3-6ECC48FC8CFC}" type="presOf" srcId="{BA80E830-1C38-4246-9BC5-16F7F7F5017D}" destId="{C93D32B1-B445-4922-BC1E-8C8AC0B852A0}" srcOrd="0" destOrd="0" presId="urn:microsoft.com/office/officeart/2009/3/layout/SnapshotPictureList"/>
    <dgm:cxn modelId="{5F284A66-22BE-4D81-8545-F802A0B5BD40}" srcId="{BA80E830-1C38-4246-9BC5-16F7F7F5017D}" destId="{52ABFF2D-6C98-4F43-95CA-BC9E995AE2C0}" srcOrd="0" destOrd="0" parTransId="{916DB9D7-9032-4117-9AD8-62DCDBE76DB2}" sibTransId="{7470E80D-ECB0-47C7-AFA9-1BF94A68E48C}"/>
    <dgm:cxn modelId="{B16BC1E5-2827-4849-B4F6-94B5DA6255B9}" type="presParOf" srcId="{C93D32B1-B445-4922-BC1E-8C8AC0B852A0}" destId="{69CD4591-C144-4167-A399-A307A74FE04F}" srcOrd="0" destOrd="0" presId="urn:microsoft.com/office/officeart/2009/3/layout/SnapshotPictureList"/>
    <dgm:cxn modelId="{AA697FBC-6985-4671-87D6-C62234E5C877}" type="presParOf" srcId="{69CD4591-C144-4167-A399-A307A74FE04F}" destId="{01CFC0E4-7061-4105-8EDD-9204E086A768}" srcOrd="0" destOrd="0" presId="urn:microsoft.com/office/officeart/2009/3/layout/SnapshotPictureList"/>
    <dgm:cxn modelId="{ABBC62A8-501C-4711-8767-158BC603E9DA}" type="presParOf" srcId="{69CD4591-C144-4167-A399-A307A74FE04F}" destId="{4293CC1E-D0BC-4FBE-A8FD-48248A909845}" srcOrd="1" destOrd="0" presId="urn:microsoft.com/office/officeart/2009/3/layout/SnapshotPictureList"/>
    <dgm:cxn modelId="{9661B857-5065-48BA-9803-2AE2B263C136}" type="presParOf" srcId="{69CD4591-C144-4167-A399-A307A74FE04F}" destId="{D2E26A32-75B6-45DF-95D8-91904EC2168D}" srcOrd="2" destOrd="0" presId="urn:microsoft.com/office/officeart/2009/3/layout/SnapshotPictureList"/>
    <dgm:cxn modelId="{0C88EAC2-C4C2-4588-BE95-7D267277999F}" type="presParOf" srcId="{69CD4591-C144-4167-A399-A307A74FE04F}" destId="{DC98BDC4-8D80-492D-9095-673A6FA94BEA}" srcOrd="3" destOrd="0" presId="urn:microsoft.com/office/officeart/2009/3/layout/SnapshotPictureList"/>
    <dgm:cxn modelId="{B37991A5-B884-436C-BE82-C06C86B83710}" type="presParOf" srcId="{69CD4591-C144-4167-A399-A307A74FE04F}" destId="{B240FFC1-603C-4ECA-9549-CE0597DE7A67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CFC0E4-7061-4105-8EDD-9204E086A768}">
      <dsp:nvSpPr>
        <dsp:cNvPr id="0" name=""/>
        <dsp:cNvSpPr/>
      </dsp:nvSpPr>
      <dsp:spPr>
        <a:xfrm>
          <a:off x="439763" y="186446"/>
          <a:ext cx="1156041" cy="822652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0FFC1-603C-4ECA-9549-CE0597DE7A67}">
      <dsp:nvSpPr>
        <dsp:cNvPr id="0" name=""/>
        <dsp:cNvSpPr/>
      </dsp:nvSpPr>
      <dsp:spPr>
        <a:xfrm>
          <a:off x="362501" y="175831"/>
          <a:ext cx="1901012" cy="8734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293CC1E-D0BC-4FBE-A8FD-48248A909845}">
      <dsp:nvSpPr>
        <dsp:cNvPr id="0" name=""/>
        <dsp:cNvSpPr/>
      </dsp:nvSpPr>
      <dsp:spPr>
        <a:xfrm>
          <a:off x="484958" y="866309"/>
          <a:ext cx="1066397" cy="97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19050" rIns="50800" bIns="1905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 dirty="0"/>
        </a:p>
      </dsp:txBody>
      <dsp:txXfrm>
        <a:off x="484958" y="866309"/>
        <a:ext cx="1066397" cy="97649"/>
      </dsp:txXfrm>
    </dsp:sp>
    <dsp:sp modelId="{D2E26A32-75B6-45DF-95D8-91904EC2168D}">
      <dsp:nvSpPr>
        <dsp:cNvPr id="0" name=""/>
        <dsp:cNvSpPr/>
      </dsp:nvSpPr>
      <dsp:spPr>
        <a:xfrm>
          <a:off x="1642868" y="186446"/>
          <a:ext cx="528529" cy="822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6-04-04T11:53:13.341"/>
    </inkml:context>
    <inkml:brush xml:id="br0">
      <inkml:brushProperty name="width" value="0.05" units="cm"/>
      <inkml:brushProperty name="height" value="0.05" units="cm"/>
      <inkml:brushProperty name="fitToCurve" value="1"/>
    </inkml:brush>
  </inkml:definitions>
  <inkml:trace contextRef="#ctx0" brushRef="#br0">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A6DDB-EBFE-4F61-9764-5568AFA805D7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64CEDC-AC16-47F4-9255-31528B385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824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4CEDC-AC16-47F4-9255-31528B3855E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112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745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04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575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99087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60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887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37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54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219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211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3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4204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296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8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8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490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32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chemeClr val="accent1">
                <a:lumMod val="40000"/>
                <a:lumOff val="60000"/>
              </a:schemeClr>
            </a:gs>
            <a:gs pos="33000">
              <a:schemeClr val="accent4">
                <a:lumMod val="0"/>
                <a:lumOff val="100000"/>
              </a:schemeClr>
            </a:gs>
            <a:gs pos="37510">
              <a:srgbClr val="F4F9F7"/>
            </a:gs>
            <a:gs pos="46000">
              <a:srgbClr val="ACD1C2"/>
            </a:gs>
            <a:gs pos="76974">
              <a:srgbClr val="97C5B2"/>
            </a:gs>
            <a:gs pos="96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8385A95-6F7A-4459-B96D-7EE9561777ED}" type="datetimeFigureOut">
              <a:rPr lang="en-IN" smtClean="0"/>
              <a:t>08/Apr/2026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741DB-7EED-4771-AF09-CB902B312E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3026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chemeClr val="accent1">
                <a:lumMod val="40000"/>
                <a:lumOff val="60000"/>
              </a:schemeClr>
            </a:gs>
            <a:gs pos="33000">
              <a:schemeClr val="accent4">
                <a:lumMod val="0"/>
                <a:lumOff val="100000"/>
              </a:schemeClr>
            </a:gs>
            <a:gs pos="37510">
              <a:srgbClr val="F4F9F7"/>
            </a:gs>
            <a:gs pos="0">
              <a:srgbClr val="ACD1C2"/>
            </a:gs>
            <a:gs pos="76974">
              <a:srgbClr val="97C5B2"/>
            </a:gs>
            <a:gs pos="96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464AAC-681D-4872-891A-488298085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19922"/>
            <a:ext cx="9404723" cy="1289154"/>
          </a:xfrm>
        </p:spPr>
        <p:txBody>
          <a:bodyPr/>
          <a:lstStyle/>
          <a:p>
            <a:pPr algn="ctr"/>
            <a:r>
              <a:rPr lang="en-US" sz="9600" dirty="0" err="1">
                <a:solidFill>
                  <a:schemeClr val="bg1"/>
                </a:solidFill>
                <a:latin typeface="Engravers MT" panose="02090707080505020304" pitchFamily="18" charset="0"/>
              </a:rPr>
              <a:t>olympic</a:t>
            </a:r>
            <a:endParaRPr lang="en-IN" sz="9600" dirty="0">
              <a:solidFill>
                <a:schemeClr val="bg1"/>
              </a:solidFill>
              <a:latin typeface="Engravers MT" panose="020907070805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709AD3-E357-4508-9F5C-E85DDFC89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242" y="1783829"/>
            <a:ext cx="8947150" cy="4138056"/>
          </a:xfrm>
          <a:gradFill>
            <a:gsLst>
              <a:gs pos="100000">
                <a:srgbClr val="81B9A1"/>
              </a:gs>
              <a:gs pos="100000">
                <a:srgbClr val="84BAA3"/>
              </a:gs>
              <a:gs pos="57000">
                <a:schemeClr val="accent1">
                  <a:lumMod val="40000"/>
                  <a:lumOff val="60000"/>
                </a:schemeClr>
              </a:gs>
              <a:gs pos="0">
                <a:srgbClr val="97C5B2"/>
              </a:gs>
            </a:gsLst>
            <a:path path="circle">
              <a:fillToRect l="50000" t="-80000" r="50000" b="180000"/>
            </a:path>
          </a:gradFill>
        </p:spPr>
      </p:pic>
    </p:spTree>
    <p:extLst>
      <p:ext uri="{BB962C8B-B14F-4D97-AF65-F5344CB8AC3E}">
        <p14:creationId xmlns:p14="http://schemas.microsoft.com/office/powerpoint/2010/main" val="3287697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0E5311F-3B1D-44B3-833F-11616C74D96B}"/>
              </a:ext>
            </a:extLst>
          </p:cNvPr>
          <p:cNvSpPr txBox="1"/>
          <p:nvPr/>
        </p:nvSpPr>
        <p:spPr>
          <a:xfrm>
            <a:off x="1524000" y="2214796"/>
            <a:ext cx="101033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60375"/>
            <a:r>
              <a:rPr lang="en-US" sz="9600" dirty="0">
                <a:solidFill>
                  <a:schemeClr val="bg1"/>
                </a:solidFill>
                <a:latin typeface="Algerian" panose="04020705040A02060702" pitchFamily="82" charset="0"/>
              </a:rPr>
              <a:t>Sports AND ITS BENEFITS </a:t>
            </a:r>
            <a:endParaRPr lang="en-IN" sz="96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A19BDC-8291-44AA-8FDB-5DFA0ED43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289040"/>
            <a:ext cx="3429000" cy="19257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098226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E54F-09EF-4770-9182-B3E38487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889" y="81091"/>
            <a:ext cx="8829206" cy="2233535"/>
          </a:xfrm>
        </p:spPr>
        <p:txBody>
          <a:bodyPr/>
          <a:lstStyle/>
          <a:p>
            <a:r>
              <a:rPr lang="en-US" sz="4800" dirty="0">
                <a:solidFill>
                  <a:schemeClr val="bg1">
                    <a:lumMod val="85000"/>
                    <a:lumOff val="15000"/>
                  </a:schemeClr>
                </a:solidFill>
                <a:latin typeface="Algerian" panose="04020705040A02060702" pitchFamily="82" charset="0"/>
              </a:rPr>
              <a:t>AMITY INTERNATION BUSINESS SCHOOL  </a:t>
            </a:r>
            <a:r>
              <a:rPr lang="en-US" sz="6000" dirty="0">
                <a:solidFill>
                  <a:schemeClr val="bg1">
                    <a:lumMod val="85000"/>
                    <a:lumOff val="15000"/>
                  </a:schemeClr>
                </a:solidFill>
                <a:latin typeface="Algerian" panose="04020705040A02060702" pitchFamily="82" charset="0"/>
              </a:rPr>
              <a:t> 2012 -2015</a:t>
            </a:r>
            <a:endParaRPr lang="en-IN" sz="6000" dirty="0">
              <a:solidFill>
                <a:schemeClr val="bg1">
                  <a:lumMod val="85000"/>
                  <a:lumOff val="15000"/>
                </a:schemeClr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E1B10C4-56EC-4145-992F-B271A93BD3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9574041"/>
              </p:ext>
            </p:extLst>
          </p:nvPr>
        </p:nvGraphicFramePr>
        <p:xfrm>
          <a:off x="4332158" y="1678898"/>
          <a:ext cx="2263514" cy="1049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AFBDEE7-EFD7-4852-B49B-EA6E473661E7}"/>
              </a:ext>
            </a:extLst>
          </p:cNvPr>
          <p:cNvSpPr txBox="1"/>
          <p:nvPr/>
        </p:nvSpPr>
        <p:spPr>
          <a:xfrm>
            <a:off x="1290535" y="4348105"/>
            <a:ext cx="83467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n-IN" sz="4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8FCA03-D5E9-4274-AFE9-F610C9D90619}"/>
              </a:ext>
            </a:extLst>
          </p:cNvPr>
          <p:cNvSpPr txBox="1"/>
          <p:nvPr/>
        </p:nvSpPr>
        <p:spPr>
          <a:xfrm>
            <a:off x="719528" y="3235324"/>
            <a:ext cx="1122815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BY :</a:t>
            </a:r>
          </a:p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SUNIL Kr. </a:t>
            </a:r>
            <a:r>
              <a:rPr lang="en-US" sz="4000" dirty="0" err="1">
                <a:solidFill>
                  <a:schemeClr val="bg1"/>
                </a:solidFill>
                <a:latin typeface="Arial Black" panose="020B0A04020102020204" pitchFamily="34" charset="0"/>
              </a:rPr>
              <a:t>Ahirwar</a:t>
            </a:r>
            <a:endParaRPr lang="en-IN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B</a:t>
            </a:r>
            <a:r>
              <a:rPr lang="en-IN" sz="4000" dirty="0">
                <a:solidFill>
                  <a:schemeClr val="bg1"/>
                </a:solidFill>
                <a:latin typeface="Arial Black" panose="020B0A04020102020204" pitchFamily="34" charset="0"/>
              </a:rPr>
              <a:t>BA-IB ‘’AIBSS</a:t>
            </a:r>
            <a:r>
              <a:rPr lang="en-IN" sz="4800" dirty="0">
                <a:solidFill>
                  <a:schemeClr val="bg1"/>
                </a:solidFill>
                <a:latin typeface="Arial Black" panose="020B0A04020102020204" pitchFamily="34" charset="0"/>
              </a:rPr>
              <a:t>’’     </a:t>
            </a:r>
            <a:endParaRPr lang="en-IN" sz="4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algn="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MR.ARCHISMAN SE</a:t>
            </a:r>
            <a:r>
              <a:rPr lang="en-US" sz="3600" dirty="0">
                <a:solidFill>
                  <a:schemeClr val="bg1"/>
                </a:solidFill>
                <a:latin typeface="Arial Black" panose="020B0A04020102020204" pitchFamily="34" charset="0"/>
              </a:rPr>
              <a:t>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9B6B6-5C89-4252-B7F9-BEA6DAD0C5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014" y="1927273"/>
            <a:ext cx="3503491" cy="2616101"/>
          </a:xfrm>
          <a:prstGeom prst="rect">
            <a:avLst/>
          </a:prstGeom>
          <a:ln>
            <a:solidFill>
              <a:schemeClr val="bg1"/>
            </a:solidFill>
          </a:ln>
          <a:effectLst>
            <a:reflection blurRad="6350" stA="50000" endA="300" endPos="55000" dir="5400000" sy="-100000" algn="bl" rotWithShape="0"/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089694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chemeClr val="accent1">
                <a:lumMod val="40000"/>
                <a:lumOff val="60000"/>
              </a:schemeClr>
            </a:gs>
            <a:gs pos="33000">
              <a:schemeClr val="accent4">
                <a:lumMod val="0"/>
                <a:lumOff val="100000"/>
              </a:schemeClr>
            </a:gs>
            <a:gs pos="37510">
              <a:srgbClr val="F4F9F7"/>
            </a:gs>
            <a:gs pos="0">
              <a:srgbClr val="ACD1C2"/>
            </a:gs>
            <a:gs pos="76974">
              <a:srgbClr val="97C5B2"/>
            </a:gs>
            <a:gs pos="96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082BB-4842-4F48-B314-6986DEB7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898" y="134911"/>
            <a:ext cx="8314991" cy="6028228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  <a:t>            </a:t>
            </a:r>
            <a:br>
              <a:rPr lang="en-US" sz="3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6600" u="sng" dirty="0">
                <a:solidFill>
                  <a:schemeClr val="bg1"/>
                </a:solidFill>
                <a:latin typeface="Algerian" panose="04020705040A02060702" pitchFamily="82" charset="0"/>
              </a:rPr>
              <a:t>AMITY UNIVERSITY </a:t>
            </a:r>
            <a:r>
              <a:rPr lang="en-US" sz="3200" u="sng" dirty="0">
                <a:solidFill>
                  <a:schemeClr val="bg1"/>
                </a:solidFill>
                <a:latin typeface="Arial Black" panose="020B0A04020102020204" pitchFamily="34" charset="0"/>
              </a:rPr>
              <a:t>             </a:t>
            </a:r>
            <a:endParaRPr lang="en-IN" sz="3200" u="sng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3E2A9C-E118-4ADA-9F40-0288431D4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25530"/>
            <a:ext cx="1573966" cy="1383350"/>
          </a:xfr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4BBC7C4-8D5A-478F-BD50-199A003AEB24}"/>
              </a:ext>
            </a:extLst>
          </p:cNvPr>
          <p:cNvSpPr txBox="1"/>
          <p:nvPr/>
        </p:nvSpPr>
        <p:spPr>
          <a:xfrm>
            <a:off x="854440" y="2098623"/>
            <a:ext cx="1010337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highlight>
                  <a:srgbClr val="000000"/>
                </a:highlight>
                <a:latin typeface="Arial Rounded MT Bold" panose="020F0704030504030204" pitchFamily="34" charset="0"/>
              </a:rPr>
              <a:t>SPORTS</a:t>
            </a:r>
            <a:endParaRPr lang="en-US" sz="5400" dirty="0">
              <a:solidFill>
                <a:srgbClr val="9CBBC6"/>
              </a:solidFill>
              <a:highlight>
                <a:srgbClr val="000000"/>
              </a:highlight>
              <a:latin typeface="Arial Rounded MT Bold" panose="020F0704030504030204" pitchFamily="34" charset="0"/>
            </a:endParaRPr>
          </a:p>
          <a:p>
            <a:pPr algn="ctr"/>
            <a:r>
              <a:rPr lang="en-US" sz="3200" dirty="0">
                <a:solidFill>
                  <a:srgbClr val="9CBBC6"/>
                </a:solidFill>
                <a:highlight>
                  <a:srgbClr val="000000"/>
                </a:highlight>
                <a:latin typeface="Arial Rounded MT Bold" panose="020F0704030504030204" pitchFamily="34" charset="0"/>
              </a:rPr>
              <a:t> Sport[or sports] is from of </a:t>
            </a:r>
          </a:p>
          <a:p>
            <a:pPr algn="ctr"/>
            <a:r>
              <a:rPr lang="en-US" sz="3200" dirty="0">
                <a:solidFill>
                  <a:srgbClr val="9CBBC6"/>
                </a:solidFill>
                <a:highlight>
                  <a:srgbClr val="000000"/>
                </a:highlight>
                <a:latin typeface="Arial Rounded MT Bold" panose="020F0704030504030204" pitchFamily="34" charset="0"/>
              </a:rPr>
              <a:t>Usually competitive physical activity</a:t>
            </a:r>
          </a:p>
          <a:p>
            <a:pPr algn="ctr"/>
            <a:r>
              <a:rPr lang="en-US" sz="3200" dirty="0">
                <a:solidFill>
                  <a:srgbClr val="9CBBC6"/>
                </a:solidFill>
                <a:highlight>
                  <a:srgbClr val="000000"/>
                </a:highlight>
                <a:latin typeface="Arial Rounded MT Bold" panose="020F0704030504030204" pitchFamily="34" charset="0"/>
              </a:rPr>
              <a:t>Which ,through casual or organized </a:t>
            </a:r>
          </a:p>
          <a:p>
            <a:pPr algn="ctr"/>
            <a:r>
              <a:rPr lang="en-US" sz="3200" dirty="0">
                <a:solidFill>
                  <a:srgbClr val="9CBBC6"/>
                </a:solidFill>
                <a:highlight>
                  <a:srgbClr val="000000"/>
                </a:highlight>
                <a:latin typeface="Arial Rounded MT Bold" panose="020F0704030504030204" pitchFamily="34" charset="0"/>
              </a:rPr>
              <a:t>Participants , and in some cases , spectators. Hundreds of sports exist , from those requiring only two participants , either in teams or competing as individuals.</a:t>
            </a:r>
            <a:endParaRPr lang="en-IN" sz="3200" dirty="0">
              <a:highlight>
                <a:srgbClr val="000000"/>
              </a:highligh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72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BC1A-72C3-4EEF-9530-DF902E2B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</a:t>
            </a:r>
            <a:r>
              <a:rPr lang="en-US" sz="6000" dirty="0">
                <a:solidFill>
                  <a:schemeClr val="bg1"/>
                </a:solidFill>
                <a:latin typeface="Algerian" panose="04020705040A02060702" pitchFamily="82" charset="0"/>
              </a:rPr>
              <a:t>amity university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623310-0B46-4FF4-8311-81B829AB5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482187"/>
            <a:ext cx="1347581" cy="134159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A00F81-4D21-413A-92AB-00FA90D10E2D}"/>
              </a:ext>
            </a:extLst>
          </p:cNvPr>
          <p:cNvSpPr txBox="1"/>
          <p:nvPr/>
        </p:nvSpPr>
        <p:spPr>
          <a:xfrm>
            <a:off x="3609687" y="1613917"/>
            <a:ext cx="51864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latin typeface="Algerian" panose="04020705040A02060702" pitchFamily="82" charset="0"/>
              </a:rPr>
              <a:t>HISTROY </a:t>
            </a:r>
            <a:endParaRPr lang="en-IN" sz="6600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ABA8A-7DB8-48C3-BAC8-F465FF26823A}"/>
              </a:ext>
            </a:extLst>
          </p:cNvPr>
          <p:cNvSpPr txBox="1"/>
          <p:nvPr/>
        </p:nvSpPr>
        <p:spPr>
          <a:xfrm>
            <a:off x="-854439" y="2984977"/>
            <a:ext cx="121977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4600" lvl="4" indent="-6858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Sports comes from the old French </a:t>
            </a:r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desports</a:t>
            </a: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meanings ‘’ leisure ‘.’ </a:t>
            </a:r>
          </a:p>
          <a:p>
            <a:pPr marL="2514600" lvl="4" indent="-6858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Chines engaged in sporting </a:t>
            </a:r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activites</a:t>
            </a: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early in 	2000 BC .</a:t>
            </a:r>
          </a:p>
          <a:p>
            <a:pPr marL="2514600" lvl="4" indent="-6858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Gymnastics appears to have been a popular sports in China ‘s ancient past .</a:t>
            </a:r>
          </a:p>
          <a:p>
            <a:pPr marL="2514600" lvl="4" indent="-6858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Sports have been increasingly organized and regulated from the time of the </a:t>
            </a:r>
            <a:r>
              <a:rPr lang="en-US" sz="24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anicents</a:t>
            </a:r>
            <a:r>
              <a:rPr lang="en-US" sz="2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Olympics up to presents century .</a:t>
            </a:r>
            <a:endParaRPr lang="en-IN" sz="24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043603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4768">
              <a:srgbClr val="FBFDFC"/>
            </a:gs>
            <a:gs pos="64000">
              <a:schemeClr val="accent1">
                <a:lumMod val="40000"/>
                <a:lumOff val="60000"/>
              </a:schemeClr>
            </a:gs>
            <a:gs pos="33000">
              <a:schemeClr val="accent4">
                <a:lumMod val="0"/>
                <a:lumOff val="100000"/>
              </a:schemeClr>
            </a:gs>
            <a:gs pos="37510">
              <a:srgbClr val="F4F9F7"/>
            </a:gs>
            <a:gs pos="46000">
              <a:srgbClr val="ACD1C2"/>
            </a:gs>
            <a:gs pos="76974">
              <a:srgbClr val="97C5B2"/>
            </a:gs>
            <a:gs pos="96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B0129-0800-4987-8833-AEE8440A8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633289"/>
          </a:xfrm>
        </p:spPr>
        <p:txBody>
          <a:bodyPr/>
          <a:lstStyle/>
          <a:p>
            <a:r>
              <a:rPr lang="en-US" sz="3600" dirty="0"/>
              <a:t>                 </a:t>
            </a:r>
            <a:r>
              <a:rPr lang="en-US" sz="6000" dirty="0">
                <a:solidFill>
                  <a:schemeClr val="bg1"/>
                </a:solidFill>
                <a:latin typeface="Algerian" panose="04020705040A02060702" pitchFamily="82" charset="0"/>
              </a:rPr>
              <a:t>amity university </a:t>
            </a:r>
            <a:br>
              <a:rPr lang="en-US" sz="6000" dirty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sz="6000" dirty="0">
                <a:solidFill>
                  <a:schemeClr val="bg1"/>
                </a:solidFill>
                <a:latin typeface="Algerian" panose="04020705040A02060702" pitchFamily="82" charset="0"/>
              </a:rPr>
              <a:t>               </a:t>
            </a:r>
            <a:endParaRPr lang="en-IN" sz="6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47093A-99E1-42DB-991E-8C0161923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452718"/>
            <a:ext cx="2143125" cy="140053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190183-BA64-40B7-BBB0-7A6E8E0F1D41}"/>
              </a:ext>
            </a:extLst>
          </p:cNvPr>
          <p:cNvSpPr/>
          <p:nvPr/>
        </p:nvSpPr>
        <p:spPr>
          <a:xfrm>
            <a:off x="4063324" y="1556740"/>
            <a:ext cx="4065351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lgerian" panose="04020705040A02060702" pitchFamily="82" charset="0"/>
              </a:rPr>
              <a:t>DEFINITION</a:t>
            </a:r>
            <a:endParaRPr lang="en-IN" sz="44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20AB76-7CAC-4765-8BA1-C2275EEDBABF}"/>
              </a:ext>
            </a:extLst>
          </p:cNvPr>
          <p:cNvSpPr txBox="1"/>
          <p:nvPr/>
        </p:nvSpPr>
        <p:spPr>
          <a:xfrm>
            <a:off x="646111" y="3176588"/>
            <a:ext cx="1076293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Algerian" panose="04020705040A02060702" pitchFamily="82" charset="0"/>
              </a:rPr>
              <a:t>BE IN NO WAY HARMFUL TO ANY LIVINFG CREATURE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Algerian" panose="04020705040A02060702" pitchFamily="82" charset="0"/>
              </a:rPr>
              <a:t>HAVE AN ELEMENTS OF COMPETITION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latin typeface="Algerian" panose="04020705040A02060702" pitchFamily="82" charset="0"/>
              </a:rPr>
              <a:t>BE not contain any jealousy or grudges among people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2800" dirty="0">
                <a:latin typeface="Algerian" panose="04020705040A02060702" pitchFamily="82" charset="0"/>
              </a:rPr>
              <a:t>be played fairly without any use of unfair means </a:t>
            </a:r>
          </a:p>
        </p:txBody>
      </p:sp>
    </p:spTree>
    <p:extLst>
      <p:ext uri="{BB962C8B-B14F-4D97-AF65-F5344CB8AC3E}">
        <p14:creationId xmlns:p14="http://schemas.microsoft.com/office/powerpoint/2010/main" val="18242678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41C8-FF88-48D6-8ACA-7ED4EA95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264" y="1722344"/>
            <a:ext cx="9545758" cy="3964458"/>
          </a:xfrm>
        </p:spPr>
        <p:txBody>
          <a:bodyPr/>
          <a:lstStyle/>
          <a:p>
            <a:r>
              <a:rPr lang="en-US" dirty="0"/>
              <a:t>                 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physical benefits </a:t>
            </a:r>
            <a:r>
              <a:rPr lang="en-US" dirty="0">
                <a:latin typeface="Algerian" panose="04020705040A02060702" pitchFamily="82" charset="0"/>
              </a:rPr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3A9B81-AFC8-48F0-AB2E-1E30775A5D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28" y="535463"/>
            <a:ext cx="1935713" cy="830997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03D7FF-FEBF-4431-AEEA-BD4EFE23895E}"/>
              </a:ext>
            </a:extLst>
          </p:cNvPr>
          <p:cNvSpPr txBox="1"/>
          <p:nvPr/>
        </p:nvSpPr>
        <p:spPr>
          <a:xfrm>
            <a:off x="2496766" y="581630"/>
            <a:ext cx="64635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002060"/>
                </a:solidFill>
                <a:latin typeface="Algerian" panose="04020705040A02060702" pitchFamily="82" charset="0"/>
              </a:rPr>
              <a:t>Amity  university </a:t>
            </a:r>
            <a:br>
              <a:rPr lang="en-IN" sz="4800" dirty="0">
                <a:solidFill>
                  <a:srgbClr val="002060"/>
                </a:solidFill>
                <a:latin typeface="Algerian" panose="04020705040A02060702" pitchFamily="82" charset="0"/>
              </a:rPr>
            </a:br>
            <a:endParaRPr lang="en-IN" sz="4800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44ABF91-ED60-4D8C-9AAF-08E4989A56ED}"/>
                  </a:ext>
                </a:extLst>
              </p14:cNvPr>
              <p14:cNvContentPartPr/>
              <p14:nvPr/>
            </p14:nvContentPartPr>
            <p14:xfrm>
              <a:off x="3582498" y="5686802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44ABF91-ED60-4D8C-9AAF-08E4989A56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3498" y="5677802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287CA605-9997-45AC-B66B-870041C6F9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234" y="745313"/>
            <a:ext cx="2115678" cy="166593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89376C0-54FF-4E02-9F92-5F276A58ADDE}"/>
              </a:ext>
            </a:extLst>
          </p:cNvPr>
          <p:cNvSpPr txBox="1"/>
          <p:nvPr/>
        </p:nvSpPr>
        <p:spPr>
          <a:xfrm>
            <a:off x="2036517" y="2729426"/>
            <a:ext cx="692376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Increased strength and stamina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Better body shape increased agility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They help burn calories and shed those extra pounds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Reduce several health risk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Improves yours personality </a:t>
            </a:r>
            <a:endParaRPr lang="en-IN" sz="32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70349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400B-B2B2-4D01-B555-D8FF94DE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637" y="452718"/>
            <a:ext cx="9404723" cy="1000301"/>
          </a:xfrm>
        </p:spPr>
        <p:txBody>
          <a:bodyPr/>
          <a:lstStyle/>
          <a:p>
            <a:pPr algn="r"/>
            <a:r>
              <a:rPr lang="en-US" sz="2800" dirty="0">
                <a:solidFill>
                  <a:schemeClr val="bg1"/>
                </a:solidFill>
                <a:latin typeface="Goudy Stout" panose="0202090407030B020401" pitchFamily="18" charset="0"/>
              </a:rPr>
              <a:t>Amity university </a:t>
            </a:r>
            <a:endParaRPr lang="en-IN" sz="2800" dirty="0">
              <a:solidFill>
                <a:schemeClr val="bg1"/>
              </a:solidFill>
              <a:latin typeface="Goudy Stout" panose="0202090407030B020401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6BD106-08E1-46EF-9D66-0492A5020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707" y="452718"/>
            <a:ext cx="1365337" cy="74978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F84A44-497A-47D0-91D8-F3A82E3C48F1}"/>
              </a:ext>
            </a:extLst>
          </p:cNvPr>
          <p:cNvSpPr txBox="1"/>
          <p:nvPr/>
        </p:nvSpPr>
        <p:spPr>
          <a:xfrm>
            <a:off x="463464" y="1640909"/>
            <a:ext cx="10609544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Algerian" panose="04020705040A02060702" pitchFamily="82" charset="0"/>
              </a:rPr>
              <a:t>psychological benefits </a:t>
            </a:r>
          </a:p>
          <a:p>
            <a:pPr marL="4229100" lvl="8" indent="-571500">
              <a:buFont typeface="Wingdings" panose="05000000000000000000" pitchFamily="2" charset="2"/>
              <a:buChar char="Ø"/>
            </a:pPr>
            <a:r>
              <a:rPr lang="en-US" sz="3600" dirty="0">
                <a:highlight>
                  <a:srgbClr val="000000"/>
                </a:highlight>
                <a:latin typeface="Algerian" panose="04020705040A02060702" pitchFamily="82" charset="0"/>
              </a:rPr>
              <a:t>They encourage you to give your best every time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highlight>
                  <a:srgbClr val="000000"/>
                </a:highlight>
                <a:latin typeface="Algerian" panose="04020705040A02060702" pitchFamily="82" charset="0"/>
              </a:rPr>
              <a:t>skill Sports boost  confidence </a:t>
            </a:r>
          </a:p>
          <a:p>
            <a:pPr marL="4229100" lvl="8" indent="-571500" algn="ctr">
              <a:buFont typeface="Wingdings" panose="05000000000000000000" pitchFamily="2" charset="2"/>
              <a:buChar char="Ø"/>
            </a:pPr>
            <a:r>
              <a:rPr lang="en-US" sz="3600" dirty="0">
                <a:highlight>
                  <a:srgbClr val="000000"/>
                </a:highlight>
                <a:latin typeface="Algerian" panose="04020705040A02060702" pitchFamily="82" charset="0"/>
              </a:rPr>
              <a:t>They build leadership  and team</a:t>
            </a:r>
          </a:p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600" u="sng" dirty="0">
                <a:highlight>
                  <a:srgbClr val="000000"/>
                </a:highlight>
                <a:latin typeface="Algerian" panose="04020705040A02060702" pitchFamily="82" charset="0"/>
              </a:rPr>
              <a:t>Develop your social skills, makes you more interactive </a:t>
            </a:r>
            <a:r>
              <a:rPr lang="en-US" sz="4000" u="sng" dirty="0">
                <a:highlight>
                  <a:srgbClr val="000000"/>
                </a:highlight>
                <a:latin typeface="Algerian" panose="04020705040A02060702" pitchFamily="8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8649940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049D3-232C-4430-B2BD-CA2D7D777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</a:t>
            </a:r>
            <a:r>
              <a:rPr lang="en-US" sz="6000" dirty="0">
                <a:highlight>
                  <a:srgbClr val="000000"/>
                </a:highlight>
                <a:latin typeface="Algerian" panose="04020705040A02060702" pitchFamily="82" charset="0"/>
              </a:rPr>
              <a:t>amity university</a:t>
            </a:r>
            <a:endParaRPr lang="en-IN" sz="6000" dirty="0">
              <a:highlight>
                <a:srgbClr val="00000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52764A-DA19-4E2F-B12A-73C49BF1E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452719"/>
            <a:ext cx="2046985" cy="152639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075B61-F57A-41CA-9477-4EA1378BD5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19" y="2489505"/>
            <a:ext cx="5668274" cy="31884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1"/>
            </a:solidFill>
          </a:ln>
          <a:effectLst>
            <a:reflection blurRad="6350" stA="50000" endA="300" endPos="5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7A7214-DBA0-4A44-B49E-8CDFC7D94B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719" y="1380808"/>
            <a:ext cx="4395581" cy="33156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342006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2E480-2DE5-42F2-9F01-9B85B7659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479" y="524933"/>
            <a:ext cx="8825658" cy="1100667"/>
          </a:xfrm>
        </p:spPr>
        <p:txBody>
          <a:bodyPr/>
          <a:lstStyle/>
          <a:p>
            <a:pPr algn="ctr"/>
            <a:r>
              <a:rPr lang="en-US" dirty="0"/>
              <a:t>   </a:t>
            </a:r>
            <a:r>
              <a:rPr lang="en-US" sz="5400" dirty="0">
                <a:solidFill>
                  <a:schemeClr val="bg1"/>
                </a:solidFill>
                <a:latin typeface="Algerian" panose="04020705040A02060702" pitchFamily="82" charset="0"/>
              </a:rPr>
              <a:t>amity university 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E9915-DE56-4BCC-B2BB-385FF90C6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3171" y="1647252"/>
            <a:ext cx="8825658" cy="4707467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sz="5600" dirty="0">
                <a:solidFill>
                  <a:schemeClr val="bg1"/>
                </a:solidFill>
                <a:highlight>
                  <a:srgbClr val="FFFFFF"/>
                </a:highlight>
                <a:latin typeface="Algerian" panose="04020705040A02060702" pitchFamily="82" charset="0"/>
              </a:rPr>
              <a:t>Mental health benefits 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:</a:t>
            </a:r>
            <a:r>
              <a:rPr lang="en-US" sz="4200" dirty="0">
                <a:solidFill>
                  <a:schemeClr val="bg1"/>
                </a:solidFill>
                <a:latin typeface="Algerian" panose="04020705040A02060702" pitchFamily="82" charset="0"/>
              </a:rPr>
              <a:t>reduced anxiety and depression</a:t>
            </a:r>
          </a:p>
          <a:p>
            <a:pPr algn="ctr"/>
            <a:r>
              <a:rPr lang="en-US" sz="4200" dirty="0">
                <a:solidFill>
                  <a:schemeClr val="bg1"/>
                </a:solidFill>
                <a:latin typeface="Algerian" panose="04020705040A02060702" pitchFamily="82" charset="0"/>
              </a:rPr>
              <a:t>:stress reliever ,makes you happy </a:t>
            </a:r>
          </a:p>
          <a:p>
            <a:pPr algn="ctr"/>
            <a:r>
              <a:rPr lang="en-US" sz="4200" dirty="0">
                <a:solidFill>
                  <a:schemeClr val="bg1"/>
                </a:solidFill>
                <a:latin typeface="Algerian" panose="04020705040A02060702" pitchFamily="82" charset="0"/>
              </a:rPr>
              <a:t>: promotes positives mood </a:t>
            </a:r>
          </a:p>
          <a:p>
            <a:pPr algn="ctr"/>
            <a:r>
              <a:rPr lang="en-US" sz="4200" dirty="0">
                <a:solidFill>
                  <a:schemeClr val="bg1"/>
                </a:solidFill>
                <a:latin typeface="Algerian" panose="04020705040A02060702" pitchFamily="82" charset="0"/>
              </a:rPr>
              <a:t>: increase of self esteem</a:t>
            </a:r>
          </a:p>
          <a:p>
            <a:pPr algn="ctr"/>
            <a:r>
              <a:rPr lang="en-US" sz="4200" dirty="0">
                <a:solidFill>
                  <a:schemeClr val="bg1"/>
                </a:solidFill>
                <a:latin typeface="Algerian" panose="04020705040A02060702" pitchFamily="82" charset="0"/>
              </a:rPr>
              <a:t>: avoids distraction </a:t>
            </a:r>
          </a:p>
          <a:p>
            <a:pPr algn="ctr"/>
            <a:r>
              <a:rPr lang="en-US" sz="4200" dirty="0">
                <a:solidFill>
                  <a:schemeClr val="bg1"/>
                </a:solidFill>
                <a:latin typeface="Algerian" panose="04020705040A02060702" pitchFamily="82" charset="0"/>
              </a:rPr>
              <a:t>: better sleep pattern</a:t>
            </a:r>
          </a:p>
          <a:p>
            <a:pPr algn="ctr"/>
            <a:endParaRPr lang="en-IN" sz="40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15530-09DD-445B-99AA-C522A5FF9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87" y="524933"/>
            <a:ext cx="1709736" cy="138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204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E7FB-7972-4BF1-9C04-B71932F1D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612" y="452718"/>
            <a:ext cx="9404723" cy="1400530"/>
          </a:xfrm>
        </p:spPr>
        <p:txBody>
          <a:bodyPr/>
          <a:lstStyle/>
          <a:p>
            <a:r>
              <a:rPr lang="en-US" sz="6000" dirty="0">
                <a:latin typeface="Algerian" panose="04020705040A02060702" pitchFamily="82" charset="0"/>
              </a:rPr>
              <a:t>            </a:t>
            </a:r>
            <a:r>
              <a:rPr lang="en-US" sz="6000" dirty="0">
                <a:solidFill>
                  <a:schemeClr val="bg1"/>
                </a:solidFill>
                <a:latin typeface="Algerian" panose="04020705040A02060702" pitchFamily="82" charset="0"/>
              </a:rPr>
              <a:t>AMITY UNIVERSITY </a:t>
            </a:r>
            <a:endParaRPr lang="en-IN" sz="6000" dirty="0">
              <a:latin typeface="Algerian" panose="04020705040A02060702" pitchFamily="8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900470-9CFE-476C-B099-B4A5902CA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163" y="347787"/>
            <a:ext cx="2143125" cy="1226180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AC6484-55A6-460E-95FD-AC5755A4AAF6}"/>
              </a:ext>
            </a:extLst>
          </p:cNvPr>
          <p:cNvSpPr txBox="1"/>
          <p:nvPr/>
        </p:nvSpPr>
        <p:spPr>
          <a:xfrm>
            <a:off x="1813811" y="1737532"/>
            <a:ext cx="1016333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lgerian" panose="04020705040A02060702" pitchFamily="82" charset="0"/>
              </a:rPr>
              <a:t>SPORTS , UNITY AND PEACE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SPORTS BRING DIFFERENT NATION TOGETHER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SPORTS IS SYMBOL OF PEACE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SPORTS UNITES PEOPLE , UNITES CNATION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SPORTS CREATES BONDING , CREATES GOOD REALTIONSHIP BETWEEN DIFFERENTS PEOPLE FROM DIFFERENT RELIGION </a:t>
            </a:r>
            <a:endParaRPr lang="en-US" sz="32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IN" sz="32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94311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2040F-E9DE-4EFC-A3BD-0143DC5F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</a:t>
            </a:r>
            <a:r>
              <a:rPr lang="en-US" sz="6000" dirty="0">
                <a:solidFill>
                  <a:schemeClr val="bg1"/>
                </a:solidFill>
                <a:latin typeface="Algerian" panose="04020705040A02060702" pitchFamily="82" charset="0"/>
              </a:rPr>
              <a:t>AMITY UNIVERSITY 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1A32153-B791-4D18-A90F-4BA8446ED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96" y="323460"/>
            <a:ext cx="2143125" cy="140053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BFB73A-4B12-4109-A9E2-5FFCEBAB3169}"/>
              </a:ext>
            </a:extLst>
          </p:cNvPr>
          <p:cNvSpPr txBox="1"/>
          <p:nvPr/>
        </p:nvSpPr>
        <p:spPr>
          <a:xfrm>
            <a:off x="469996" y="2450208"/>
            <a:ext cx="89707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>
                <a:latin typeface="Algerian" panose="04020705040A02060702" pitchFamily="82" charset="0"/>
              </a:rPr>
              <a:t>  </a:t>
            </a: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SPORTS INVOLVES PHYSICAL ACTIVITY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CAPABLE OF ACHIEVING A RESULT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RULES &amp; REGULATION OF SPORTS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DIFFERENTS TYPES OF SPORTS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FAIR COMPETITION </a:t>
            </a:r>
            <a:endParaRPr lang="en-IN" sz="32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7686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8BF9-EA08-4FD9-A844-BE5CAB76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254833"/>
            <a:ext cx="9404723" cy="1400530"/>
          </a:xfrm>
        </p:spPr>
        <p:txBody>
          <a:bodyPr/>
          <a:lstStyle/>
          <a:p>
            <a:pPr algn="ctr">
              <a:tabLst>
                <a:tab pos="1258888" algn="l"/>
                <a:tab pos="2517775" algn="l"/>
              </a:tabLst>
            </a:pPr>
            <a:r>
              <a:rPr lang="en-US" sz="6000" dirty="0">
                <a:highlight>
                  <a:srgbClr val="000000"/>
                </a:highlight>
                <a:latin typeface="Algerian" panose="04020705040A02060702" pitchFamily="82" charset="0"/>
              </a:rPr>
              <a:t>SPORTSMANSHIPS </a:t>
            </a:r>
            <a:endParaRPr lang="en-IN" sz="6000" dirty="0">
              <a:highlight>
                <a:srgbClr val="000000"/>
              </a:highlight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CA00D-4E96-4A6D-A6CA-D9AF0AAFB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SPORTSMANSHIP IS AN ATTITUDE THAT STRIVES FOR FAIR PLAY , COURTESY TOWARD TEAMMATES AND OPPONENTS , ETHICAL BEHAVIOUR AND INTEGRITY , AND GRACE IN VICTORY OF DEFEAT .</a:t>
            </a:r>
          </a:p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  <a:cs typeface="Aharoni" panose="02010803020104030203" pitchFamily="2" charset="-79"/>
              </a:rPr>
              <a:t>SPORTS EXPRESSES AN ASPIRATION OR ETHOS THAT THE ACTIVITY WILL BE ENJOYED FOR ITS OWN SAKE . IT’S “ NOT THAT YOU WON OR LOST BUT HOW  YOU PLAYED THE GAME , AND THE MOST IMPORTANT THING ….. IS NOT WINNINGS BUT TAKINGH PARTS ‘’</a:t>
            </a:r>
          </a:p>
        </p:txBody>
      </p:sp>
    </p:spTree>
    <p:extLst>
      <p:ext uri="{BB962C8B-B14F-4D97-AF65-F5344CB8AC3E}">
        <p14:creationId xmlns:p14="http://schemas.microsoft.com/office/powerpoint/2010/main" val="21262841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chemeClr val="accent1">
                <a:lumMod val="40000"/>
                <a:lumOff val="60000"/>
              </a:schemeClr>
            </a:gs>
            <a:gs pos="33000">
              <a:schemeClr val="accent4">
                <a:lumMod val="0"/>
                <a:lumOff val="100000"/>
              </a:schemeClr>
            </a:gs>
            <a:gs pos="37510">
              <a:srgbClr val="F4F9F7"/>
            </a:gs>
            <a:gs pos="0">
              <a:srgbClr val="ACD1C2"/>
            </a:gs>
            <a:gs pos="76974">
              <a:srgbClr val="97C5B2"/>
            </a:gs>
            <a:gs pos="96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1970-9B55-4979-ADF3-C4265528A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53C35-CD0C-45AD-9AFC-4878100EE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300" dirty="0">
                <a:highlight>
                  <a:srgbClr val="000000"/>
                </a:highlight>
                <a:latin typeface="Berlin Sans FB Demi" panose="020E0802020502020306" pitchFamily="34" charset="0"/>
              </a:rPr>
              <a:t>THANK YOU </a:t>
            </a:r>
            <a:endParaRPr lang="en-IN" sz="11300" dirty="0">
              <a:highlight>
                <a:srgbClr val="000000"/>
              </a:highligh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05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1E5155"/>
    </a:dk2>
    <a:lt2>
      <a:srgbClr val="EBEBEB"/>
    </a:lt2>
    <a:accent1>
      <a:srgbClr val="B01513"/>
    </a:accent1>
    <a:accent2>
      <a:srgbClr val="EA6312"/>
    </a:accent2>
    <a:accent3>
      <a:srgbClr val="E6B729"/>
    </a:accent3>
    <a:accent4>
      <a:srgbClr val="6AAC90"/>
    </a:accent4>
    <a:accent5>
      <a:srgbClr val="54849A"/>
    </a:accent5>
    <a:accent6>
      <a:srgbClr val="9E5E9B"/>
    </a:accent6>
    <a:hlink>
      <a:srgbClr val="58C1BA"/>
    </a:hlink>
    <a:folHlink>
      <a:srgbClr val="9DFFCB"/>
    </a:folHlink>
  </a:clrScheme>
</a:themeOverride>
</file>

<file path=ppt/theme/themeOverride2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1E5155"/>
    </a:dk2>
    <a:lt2>
      <a:srgbClr val="EBEBEB"/>
    </a:lt2>
    <a:accent1>
      <a:srgbClr val="B01513"/>
    </a:accent1>
    <a:accent2>
      <a:srgbClr val="EA6312"/>
    </a:accent2>
    <a:accent3>
      <a:srgbClr val="E6B729"/>
    </a:accent3>
    <a:accent4>
      <a:srgbClr val="6AAC90"/>
    </a:accent4>
    <a:accent5>
      <a:srgbClr val="54849A"/>
    </a:accent5>
    <a:accent6>
      <a:srgbClr val="9E5E9B"/>
    </a:accent6>
    <a:hlink>
      <a:srgbClr val="58C1BA"/>
    </a:hlink>
    <a:folHlink>
      <a:srgbClr val="9DFFC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419</Words>
  <Application>Microsoft Office PowerPoint</Application>
  <PresentationFormat>Widescreen</PresentationFormat>
  <Paragraphs>65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Aharoni</vt:lpstr>
      <vt:lpstr>Algerian</vt:lpstr>
      <vt:lpstr>Arial</vt:lpstr>
      <vt:lpstr>Arial Black</vt:lpstr>
      <vt:lpstr>Arial Rounded MT Bold</vt:lpstr>
      <vt:lpstr>Berlin Sans FB Demi</vt:lpstr>
      <vt:lpstr>Calibri</vt:lpstr>
      <vt:lpstr>Century Gothic</vt:lpstr>
      <vt:lpstr>Engravers MT</vt:lpstr>
      <vt:lpstr>Goudy Stout</vt:lpstr>
      <vt:lpstr>Wingdings</vt:lpstr>
      <vt:lpstr>Wingdings 3</vt:lpstr>
      <vt:lpstr>Ion</vt:lpstr>
      <vt:lpstr>olympic</vt:lpstr>
      <vt:lpstr>PowerPoint Presentation</vt:lpstr>
      <vt:lpstr>AMITY INTERNATION BUSINESS SCHOOL   2012 -2015</vt:lpstr>
      <vt:lpstr>              AMITY UNIVERSITY              </vt:lpstr>
      <vt:lpstr>          amity university </vt:lpstr>
      <vt:lpstr>                 amity university                 </vt:lpstr>
      <vt:lpstr>                  physical benefits  </vt:lpstr>
      <vt:lpstr>Amity university </vt:lpstr>
      <vt:lpstr>               amity university</vt:lpstr>
      <vt:lpstr>   amity university </vt:lpstr>
      <vt:lpstr>            AMITY UNIVERSITY </vt:lpstr>
      <vt:lpstr>              AMITY UNIVERSITY </vt:lpstr>
      <vt:lpstr>SPORTSMANSHIPS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MAAYA-07</dc:creator>
  <cp:lastModifiedBy>MAAYA-07</cp:lastModifiedBy>
  <cp:revision>43</cp:revision>
  <dcterms:created xsi:type="dcterms:W3CDTF">2026-04-04T09:20:38Z</dcterms:created>
  <dcterms:modified xsi:type="dcterms:W3CDTF">2026-04-08T10:25:41Z</dcterms:modified>
</cp:coreProperties>
</file>