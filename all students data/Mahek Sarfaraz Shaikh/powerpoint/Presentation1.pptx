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CE7718"/>
    <a:srgbClr val="A6A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7" autoAdjust="0"/>
    <p:restoredTop sz="94660"/>
  </p:normalViewPr>
  <p:slideViewPr>
    <p:cSldViewPr snapToGrid="0">
      <p:cViewPr>
        <p:scale>
          <a:sx n="59" d="100"/>
          <a:sy n="59" d="100"/>
        </p:scale>
        <p:origin x="4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D4E3-5DDC-48FB-893D-F5E515321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11DD-3A2D-4E85-9F52-950D972AF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0066D-9555-472F-BE2A-87FEF6EA2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D85F2-4B1C-4FE4-A187-DB9718AC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0EA91-C3D6-41B7-8654-DBD4961F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62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AE314-EBE3-47DF-8FE7-9B557861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AFBF8-A787-48B0-A1C0-08B63DC69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44D66-0BCA-48EA-8358-0E113954B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CD820-FE63-41F2-B239-8F132DCF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84673-8425-4215-A4E6-7A612CA3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613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14AB3-DFA7-4F87-9CD5-6A2867DC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3F613-C891-4F93-A7FD-F876BB124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2A7EB-B3EB-4518-BF0C-52A998F0D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0A544-7416-46D9-BA8F-E2A0282AB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C6ADB-1C9B-411F-BD20-90CE658F9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207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A892-4F62-44DF-A05E-9A3DB486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4256B-45F8-405E-8217-B5356F9F6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3DBD12-EB5C-455A-8C51-6496C21542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7BDEE-82BB-4CA9-9C82-F5D6B65E5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C020B-5380-4582-9451-FAFD3887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2B89B-167E-4F9B-B257-8CC4F640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25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A5904-7FE7-4D4E-8894-B82F2690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08D5E-363E-4D7A-A88B-59FEE1008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69D32-1FDF-44E1-A17D-41944F6A7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3B5EB4-0D52-422B-8928-03F54CD01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BA06A-CB18-4227-8D40-2E1F235FE3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7D8E80-985F-4856-997B-91A13663C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7CEB91-C3EB-4776-804C-F536EE72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EEC082-A471-4483-B6F3-735E1981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7583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43676-04A0-4174-AD79-09BCA7336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D5503-7A67-422E-B841-ADA853FDE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EA669-220B-4D6E-A118-363F61BF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3BA2D-580D-4BAA-BD79-4D31646D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580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38D6D5-2892-42D1-9B48-DE84F5D6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2710E-FE38-475C-9552-12E306838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B57B2-40B5-4611-8ACE-513ED8A9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063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526A-ABF9-4250-AFD7-506A6746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8BDB6-4402-4D91-BAC9-B351FC90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EF146-E966-4735-83C6-D1A93652A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81C51-87F4-45E7-9B9D-306208D34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81551-9431-4B2E-91B5-CA7CD907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81ADE-FF08-4424-937D-DBF5ED4A6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434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B7686-C9F4-4B8C-9396-203859D8B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E55D06-9A06-4C8A-B67B-7000291415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78E9B-C47B-4EA5-A51B-07C88F74B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2BDEF-4004-4677-AC9E-045161C4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3F955-08DC-441C-851B-4591EE54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0774F-B5D7-45F9-80E2-53D2EDBB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317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2201-B422-4535-8A35-053221E77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56D65-589B-4137-9396-6E5A5E8072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96C795-C488-4CDA-8A1C-15A59E19C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59817-7FDD-4DC6-ADCA-CE369D9F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2C8BE-49A8-4C21-98C5-CF1F92E11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674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1CCBE-51A7-47C0-9DFF-D2BA53DB92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610C4B-DBA9-436E-9E97-0D76D94FB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C07DC-F5F0-448F-B152-2FA1BE633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64FD2-CD09-4F1D-85F5-6E02ABB4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996DC-87DA-4611-8010-B40E87C26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424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1E2EAA-78DE-420F-8911-0DCA0F712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393FD-ABAF-4275-90B0-1B852898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FA977-0073-4BD0-B439-917002AAE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1C23D-BA3E-45E4-BDB8-0CD38E7F596A}" type="datetimeFigureOut">
              <a:rPr lang="en-IN" smtClean="0"/>
              <a:t>29-04-2026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69693-48AA-46EB-BDA6-45F6CB9E3D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BB248-9995-4F0F-9FDB-C7C31E668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1B5E8-C45B-49E4-8535-670FB3E8DE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797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dian Flag India GIF - Indian Flag India - Discover &amp; Share ...">
            <a:extLst>
              <a:ext uri="{FF2B5EF4-FFF2-40B4-BE49-F238E27FC236}">
                <a16:creationId xmlns:a16="http://schemas.microsoft.com/office/drawing/2014/main" id="{0CF5657E-3D7B-4A10-9E6C-7520F88067F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205" y="-158264"/>
            <a:ext cx="12478926" cy="701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831551-029D-44E7-91A4-47E959667EF1}"/>
              </a:ext>
            </a:extLst>
          </p:cNvPr>
          <p:cNvSpPr/>
          <p:nvPr/>
        </p:nvSpPr>
        <p:spPr>
          <a:xfrm>
            <a:off x="13984537" y="3102018"/>
            <a:ext cx="7901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dirty="0">
                <a:latin typeface="Cooper Black" panose="0208090404030B020404" pitchFamily="18" charset="0"/>
              </a:rPr>
              <a:t>CUTURAL HERITAGE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9FB66-0941-4381-84C4-EAFE404AC61C}"/>
              </a:ext>
            </a:extLst>
          </p:cNvPr>
          <p:cNvSpPr/>
          <p:nvPr/>
        </p:nvSpPr>
        <p:spPr>
          <a:xfrm>
            <a:off x="-14828966" y="3886848"/>
            <a:ext cx="9509047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Cooper Black" panose="0208090404030B020404" pitchFamily="18" charset="0"/>
              </a:rPr>
              <a:t>Diverse cultures, ancient traditions, rich history, and unity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DB8DD-BC96-4B42-8AC3-F5C5E9927613}"/>
              </a:ext>
            </a:extLst>
          </p:cNvPr>
          <p:cNvSpPr/>
          <p:nvPr/>
        </p:nvSpPr>
        <p:spPr>
          <a:xfrm>
            <a:off x="-5975385" y="2256472"/>
            <a:ext cx="335220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6000" dirty="0">
                <a:ln w="28575">
                  <a:solidFill>
                    <a:schemeClr val="bg1"/>
                  </a:solidFill>
                </a:ln>
                <a:solidFill>
                  <a:srgbClr val="FF6600"/>
                </a:solidFill>
                <a:latin typeface="Cooper Black" panose="0208090404030B020404" pitchFamily="18" charset="0"/>
              </a:rPr>
              <a:t>IN</a:t>
            </a:r>
            <a:r>
              <a:rPr lang="en-IN" sz="6000" dirty="0">
                <a:ln w="28575">
                  <a:solidFill>
                    <a:schemeClr val="bg1"/>
                  </a:solidFill>
                </a:ln>
                <a:solidFill>
                  <a:srgbClr val="002060"/>
                </a:solidFill>
                <a:latin typeface="Cooper Black" panose="0208090404030B020404" pitchFamily="18" charset="0"/>
              </a:rPr>
              <a:t>DI</a:t>
            </a:r>
            <a:r>
              <a:rPr lang="en-IN" sz="6000" dirty="0">
                <a:ln w="28575">
                  <a:solidFill>
                    <a:schemeClr val="bg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Cooper Black" panose="0208090404030B020404" pitchFamily="18" charset="0"/>
              </a:rPr>
              <a:t>AN</a:t>
            </a:r>
            <a:endParaRPr lang="en-IN" sz="6000" dirty="0">
              <a:ln w="28575">
                <a:solidFill>
                  <a:schemeClr val="bg1"/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00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ndian Flag India GIF - Indian Flag India - Discover &amp; Share ...">
            <a:extLst>
              <a:ext uri="{FF2B5EF4-FFF2-40B4-BE49-F238E27FC236}">
                <a16:creationId xmlns:a16="http://schemas.microsoft.com/office/drawing/2014/main" id="{0CF5657E-3D7B-4A10-9E6C-7520F88067F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205" y="-158264"/>
            <a:ext cx="12478926" cy="701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831551-029D-44E7-91A4-47E959667EF1}"/>
              </a:ext>
            </a:extLst>
          </p:cNvPr>
          <p:cNvSpPr/>
          <p:nvPr/>
        </p:nvSpPr>
        <p:spPr>
          <a:xfrm>
            <a:off x="2145463" y="3102018"/>
            <a:ext cx="79010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IN" sz="5400" dirty="0">
                <a:latin typeface="Cooper Black" panose="0208090404030B020404" pitchFamily="18" charset="0"/>
              </a:rPr>
              <a:t>CUTURAL HERITAGE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9FB66-0941-4381-84C4-EAFE404AC61C}"/>
              </a:ext>
            </a:extLst>
          </p:cNvPr>
          <p:cNvSpPr/>
          <p:nvPr/>
        </p:nvSpPr>
        <p:spPr>
          <a:xfrm>
            <a:off x="1341475" y="3886848"/>
            <a:ext cx="9509047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Cooper Black" panose="0208090404030B020404" pitchFamily="18" charset="0"/>
              </a:rPr>
              <a:t>Diverse cultures, ancient traditions, rich history, and unity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BDB8DD-BC96-4B42-8AC3-F5C5E9927613}"/>
              </a:ext>
            </a:extLst>
          </p:cNvPr>
          <p:cNvSpPr/>
          <p:nvPr/>
        </p:nvSpPr>
        <p:spPr>
          <a:xfrm>
            <a:off x="4419900" y="2256472"/>
            <a:ext cx="335220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6000" dirty="0">
                <a:ln w="28575">
                  <a:solidFill>
                    <a:schemeClr val="bg1"/>
                  </a:solidFill>
                </a:ln>
                <a:solidFill>
                  <a:srgbClr val="FF6600"/>
                </a:solidFill>
                <a:latin typeface="Cooper Black" panose="0208090404030B020404" pitchFamily="18" charset="0"/>
              </a:rPr>
              <a:t>IN</a:t>
            </a:r>
            <a:r>
              <a:rPr lang="en-IN" sz="6000" dirty="0">
                <a:ln w="28575">
                  <a:solidFill>
                    <a:schemeClr val="bg1"/>
                  </a:solidFill>
                </a:ln>
                <a:solidFill>
                  <a:srgbClr val="002060"/>
                </a:solidFill>
                <a:latin typeface="Cooper Black" panose="0208090404030B020404" pitchFamily="18" charset="0"/>
              </a:rPr>
              <a:t>DI</a:t>
            </a:r>
            <a:r>
              <a:rPr lang="en-IN" sz="6000" dirty="0">
                <a:ln w="28575">
                  <a:solidFill>
                    <a:schemeClr val="bg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Cooper Black" panose="0208090404030B020404" pitchFamily="18" charset="0"/>
              </a:rPr>
              <a:t>AN</a:t>
            </a:r>
            <a:endParaRPr lang="en-IN" sz="6000" dirty="0">
              <a:ln w="28575">
                <a:solidFill>
                  <a:schemeClr val="bg1"/>
                </a:solidFill>
              </a:ln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820BF98-F3FE-472D-8E0A-AD11D8D20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8762" y="6991737"/>
            <a:ext cx="8253611" cy="59757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8253AD3-D6C3-48A2-A11A-310B39C22C25}"/>
              </a:ext>
            </a:extLst>
          </p:cNvPr>
          <p:cNvSpPr/>
          <p:nvPr/>
        </p:nvSpPr>
        <p:spPr>
          <a:xfrm>
            <a:off x="14746649" y="1219587"/>
            <a:ext cx="466730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5400" dirty="0">
                <a:latin typeface="Cooper Black" panose="0208090404030B020404" pitchFamily="18" charset="0"/>
              </a:rPr>
              <a:t>TAJ MAHAL</a:t>
            </a:r>
          </a:p>
        </p:txBody>
      </p:sp>
    </p:spTree>
    <p:extLst>
      <p:ext uri="{BB962C8B-B14F-4D97-AF65-F5344CB8AC3E}">
        <p14:creationId xmlns:p14="http://schemas.microsoft.com/office/powerpoint/2010/main" val="4189271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accent1">
                <a:lumMod val="60000"/>
                <a:lumOff val="40000"/>
              </a:schemeClr>
            </a:gs>
            <a:gs pos="72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9A5B14-C108-42EB-B6C0-2129F4AD5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8762" y="1086237"/>
            <a:ext cx="8253611" cy="597578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D84DE53-A858-4500-8A4B-4554E919729E}"/>
              </a:ext>
            </a:extLst>
          </p:cNvPr>
          <p:cNvSpPr/>
          <p:nvPr/>
        </p:nvSpPr>
        <p:spPr>
          <a:xfrm>
            <a:off x="7238942" y="1219587"/>
            <a:ext cx="4667308" cy="387798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5400" dirty="0">
                <a:latin typeface="Cooper Black" panose="0208090404030B020404" pitchFamily="18" charset="0"/>
              </a:rPr>
              <a:t>TAJ MAHAL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ooper Black" panose="0208090404030B020404" pitchFamily="18" charset="0"/>
              </a:rPr>
              <a:t>Combines Persian, Islamic and Indian architectural styles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ooper Black" panose="0208090404030B020404" pitchFamily="18" charset="0"/>
              </a:rPr>
              <a:t>Built as a tomb for Mumtaz, Shah Jahan’s wife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400" dirty="0">
                <a:latin typeface="Cooper Black" panose="0208090404030B020404" pitchFamily="18" charset="0"/>
              </a:rPr>
              <a:t>It is known for its perfect </a:t>
            </a:r>
            <a:r>
              <a:rPr lang="en-IN" sz="2400" dirty="0" err="1">
                <a:latin typeface="Cooper Black" panose="0208090404030B020404" pitchFamily="18" charset="0"/>
              </a:rPr>
              <a:t>symmmetry</a:t>
            </a:r>
            <a:endParaRPr lang="en-IN" sz="2400" dirty="0"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8340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0578D98-EB83-4D4A-839D-F3CED1D91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22852" y="106017"/>
            <a:ext cx="7898297" cy="675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F4FC30-89C2-4706-BF6D-E0F88940D75C}"/>
              </a:ext>
            </a:extLst>
          </p:cNvPr>
          <p:cNvSpPr txBox="1"/>
          <p:nvPr/>
        </p:nvSpPr>
        <p:spPr>
          <a:xfrm>
            <a:off x="7275445" y="914400"/>
            <a:ext cx="432020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Cooper Black" panose="0208090404030B020404" pitchFamily="18" charset="0"/>
              </a:rPr>
              <a:t>RED FORT</a:t>
            </a:r>
          </a:p>
          <a:p>
            <a:endParaRPr lang="en-IN" dirty="0">
              <a:latin typeface="Cooper Black" panose="0208090404030B0204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oper Black" panose="0208090404030B020404" pitchFamily="18" charset="0"/>
              </a:rPr>
              <a:t>The fort is an irregular octagon combining </a:t>
            </a:r>
            <a:r>
              <a:rPr lang="en-IN" sz="2800" dirty="0" err="1">
                <a:latin typeface="Cooper Black" panose="0208090404030B020404" pitchFamily="18" charset="0"/>
              </a:rPr>
              <a:t>Persian,Timurid,and</a:t>
            </a:r>
            <a:r>
              <a:rPr lang="en-IN" sz="2800" dirty="0">
                <a:latin typeface="Cooper Black" panose="0208090404030B020404" pitchFamily="18" charset="0"/>
              </a:rPr>
              <a:t> Indian architectural styles.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Cooper Black" panose="0208090404030B020404" pitchFamily="18" charset="0"/>
              </a:rPr>
              <a:t>Designed by </a:t>
            </a:r>
            <a:r>
              <a:rPr lang="en-IN" sz="2800" dirty="0" err="1">
                <a:latin typeface="Cooper Black" panose="0208090404030B020404" pitchFamily="18" charset="0"/>
              </a:rPr>
              <a:t>Ustad</a:t>
            </a:r>
            <a:r>
              <a:rPr lang="en-IN" sz="2800" dirty="0">
                <a:latin typeface="Cooper Black" panose="0208090404030B020404" pitchFamily="18" charset="0"/>
              </a:rPr>
              <a:t> Ahmed Lahori</a:t>
            </a:r>
          </a:p>
        </p:txBody>
      </p:sp>
    </p:spTree>
    <p:extLst>
      <p:ext uri="{BB962C8B-B14F-4D97-AF65-F5344CB8AC3E}">
        <p14:creationId xmlns:p14="http://schemas.microsoft.com/office/powerpoint/2010/main" val="254987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le:StarfieldSimulation004.gif - Wikimedia Commons">
            <a:extLst>
              <a:ext uri="{FF2B5EF4-FFF2-40B4-BE49-F238E27FC236}">
                <a16:creationId xmlns:a16="http://schemas.microsoft.com/office/drawing/2014/main" id="{DEBD277A-E633-4D95-98D9-EA278FC4FF8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923"/>
            <a:ext cx="12192000" cy="686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>
            <a:extLst>
              <a:ext uri="{FF2B5EF4-FFF2-40B4-BE49-F238E27FC236}">
                <a16:creationId xmlns:a16="http://schemas.microsoft.com/office/drawing/2014/main" id="{7F784913-A3E8-45B5-BBD4-1ED9CBE5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54318" y="3938365"/>
            <a:ext cx="4485033" cy="3376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46227CF-F03D-464B-9AA5-967384E2E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981" y="6858000"/>
            <a:ext cx="3989525" cy="4015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1DBCEC-23E9-4F6D-B194-66F901383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791" y="6475757"/>
            <a:ext cx="5783228" cy="3554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3F109B-0CD8-433E-86F1-00D8A0C8FD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7968" y="6881590"/>
            <a:ext cx="4003804" cy="2808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6D4300E-8355-45D2-9CBB-44A81485F6EA}"/>
              </a:ext>
            </a:extLst>
          </p:cNvPr>
          <p:cNvSpPr txBox="1"/>
          <p:nvPr/>
        </p:nvSpPr>
        <p:spPr>
          <a:xfrm>
            <a:off x="4114800" y="1336636"/>
            <a:ext cx="396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</a:rPr>
              <a:t>OUR INDIAN HERITAGE</a:t>
            </a:r>
          </a:p>
        </p:txBody>
      </p:sp>
    </p:spTree>
    <p:extLst>
      <p:ext uri="{BB962C8B-B14F-4D97-AF65-F5344CB8AC3E}">
        <p14:creationId xmlns:p14="http://schemas.microsoft.com/office/powerpoint/2010/main" val="354210749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67000"/>
              </a:schemeClr>
            </a:gs>
            <a:gs pos="48000">
              <a:schemeClr val="accent3">
                <a:lumMod val="97000"/>
                <a:lumOff val="3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EE3F0-8D01-494D-AB34-F8DC70A07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204" y="2842591"/>
            <a:ext cx="3989525" cy="40154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2FE6DC-12B4-4EF1-9355-D0C7B8905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8762" y="3303932"/>
            <a:ext cx="5783228" cy="3554068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0C79066A-6074-4F2F-A868-191A03619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7136"/>
            <a:ext cx="5333172" cy="4015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E1A211-5C84-4363-9839-3F9F280153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4582" y="4145178"/>
            <a:ext cx="4003804" cy="28080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68A70D-2DAC-49D0-898B-3A1DF001001C}"/>
              </a:ext>
            </a:extLst>
          </p:cNvPr>
          <p:cNvSpPr txBox="1"/>
          <p:nvPr/>
        </p:nvSpPr>
        <p:spPr>
          <a:xfrm>
            <a:off x="3367753" y="230020"/>
            <a:ext cx="43842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latin typeface="Castellar" panose="020A0402060406010301" pitchFamily="18" charset="0"/>
              </a:rPr>
              <a:t>OUR INDIAN HERITAGE</a:t>
            </a:r>
          </a:p>
        </p:txBody>
      </p:sp>
    </p:spTree>
    <p:extLst>
      <p:ext uri="{BB962C8B-B14F-4D97-AF65-F5344CB8AC3E}">
        <p14:creationId xmlns:p14="http://schemas.microsoft.com/office/powerpoint/2010/main" val="247038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14000">
              <a:schemeClr val="accent6">
                <a:lumMod val="97000"/>
                <a:lumOff val="3000"/>
              </a:schemeClr>
            </a:gs>
            <a:gs pos="100000">
              <a:schemeClr val="accent6">
                <a:lumMod val="60000"/>
                <a:lumOff val="40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avratri Festival">
            <a:extLst>
              <a:ext uri="{FF2B5EF4-FFF2-40B4-BE49-F238E27FC236}">
                <a16:creationId xmlns:a16="http://schemas.microsoft.com/office/drawing/2014/main" id="{5B60082E-7851-4309-B5F3-8D35E0D87B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87" y="1103086"/>
            <a:ext cx="3802744" cy="268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Diwali and where is it Celebrated | Ding">
            <a:extLst>
              <a:ext uri="{FF2B5EF4-FFF2-40B4-BE49-F238E27FC236}">
                <a16:creationId xmlns:a16="http://schemas.microsoft.com/office/drawing/2014/main" id="{1710D0D0-6FED-4E95-BF13-BA5471C3A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786" y="1171431"/>
            <a:ext cx="3628572" cy="2682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Eid Mubarak: Why is Eid-ul-Fitr celebrated? Here's Why Eid's Date Changes  Every Year on the Gregorian Calendar - Times of India">
            <a:extLst>
              <a:ext uri="{FF2B5EF4-FFF2-40B4-BE49-F238E27FC236}">
                <a16:creationId xmlns:a16="http://schemas.microsoft.com/office/drawing/2014/main" id="{7A623171-EE7C-46FA-B38D-954F46651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713" y="1171431"/>
            <a:ext cx="3530600" cy="264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12 Best Places to Celebrate Holi in India in 2026">
            <a:extLst>
              <a:ext uri="{FF2B5EF4-FFF2-40B4-BE49-F238E27FC236}">
                <a16:creationId xmlns:a16="http://schemas.microsoft.com/office/drawing/2014/main" id="{7BE86001-DD08-4298-8854-491ADDBA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87" y="4354286"/>
            <a:ext cx="3802744" cy="250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Gudi Padwa: Celebrating the Marathi New Year">
            <a:extLst>
              <a:ext uri="{FF2B5EF4-FFF2-40B4-BE49-F238E27FC236}">
                <a16:creationId xmlns:a16="http://schemas.microsoft.com/office/drawing/2014/main" id="{E1370172-680F-48C1-B9B9-B86BC3174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787" y="4425538"/>
            <a:ext cx="3628572" cy="236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Ganesh Chaturthi: A festival of hope ...">
            <a:extLst>
              <a:ext uri="{FF2B5EF4-FFF2-40B4-BE49-F238E27FC236}">
                <a16:creationId xmlns:a16="http://schemas.microsoft.com/office/drawing/2014/main" id="{5D4C9D49-9E2F-4992-BC89-89C98D2F6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575" y="4425538"/>
            <a:ext cx="3530601" cy="236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C47853-0E3A-4A9E-90DF-8A6E92317B98}"/>
              </a:ext>
            </a:extLst>
          </p:cNvPr>
          <p:cNvSpPr txBox="1"/>
          <p:nvPr/>
        </p:nvSpPr>
        <p:spPr>
          <a:xfrm>
            <a:off x="3456213" y="211034"/>
            <a:ext cx="5016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Indian Festivals</a:t>
            </a:r>
          </a:p>
        </p:txBody>
      </p:sp>
    </p:spTree>
    <p:extLst>
      <p:ext uri="{BB962C8B-B14F-4D97-AF65-F5344CB8AC3E}">
        <p14:creationId xmlns:p14="http://schemas.microsoft.com/office/powerpoint/2010/main" val="3807390058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6C538-1704-4D2E-88A8-AB21C539AC64}"/>
              </a:ext>
            </a:extLst>
          </p:cNvPr>
          <p:cNvSpPr txBox="1"/>
          <p:nvPr/>
        </p:nvSpPr>
        <p:spPr>
          <a:xfrm>
            <a:off x="5638800" y="2975428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5122" name="Picture 2" descr="31,680 Indian Unity Royalty-Free Images, Stock Photos ...">
            <a:extLst>
              <a:ext uri="{FF2B5EF4-FFF2-40B4-BE49-F238E27FC236}">
                <a16:creationId xmlns:a16="http://schemas.microsoft.com/office/drawing/2014/main" id="{E9F3B31A-57C6-4558-A8E5-B865B6C5A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2F3EB"/>
              </a:clrFrom>
              <a:clrTo>
                <a:srgbClr val="F2F3EB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C0F01A-346E-4DD5-A17E-F886C9231A44}"/>
              </a:ext>
            </a:extLst>
          </p:cNvPr>
          <p:cNvSpPr txBox="1"/>
          <p:nvPr/>
        </p:nvSpPr>
        <p:spPr>
          <a:xfrm>
            <a:off x="2953657" y="-87132"/>
            <a:ext cx="53702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ln w="57150">
                  <a:solidFill>
                    <a:schemeClr val="bg1">
                      <a:lumMod val="95000"/>
                    </a:schemeClr>
                  </a:solidFill>
                </a:ln>
                <a:latin typeface="Arial Black" panose="020B0A04020102020204" pitchFamily="34" charset="0"/>
              </a:rPr>
              <a:t>Unity</a:t>
            </a:r>
            <a:r>
              <a:rPr lang="en-IN" sz="8000" dirty="0">
                <a:latin typeface="Arial Black" panose="020B0A04020102020204" pitchFamily="34" charset="0"/>
              </a:rPr>
              <a:t> </a:t>
            </a:r>
            <a:r>
              <a:rPr lang="en-IN" sz="8000" dirty="0">
                <a:ln w="57150">
                  <a:solidFill>
                    <a:schemeClr val="bg1"/>
                  </a:solidFill>
                </a:ln>
                <a:latin typeface="Arial Black" panose="020B0A04020102020204" pitchFamily="34" charset="0"/>
              </a:rPr>
              <a:t>in</a:t>
            </a:r>
            <a:r>
              <a:rPr lang="en-IN" sz="8000" dirty="0">
                <a:latin typeface="Arial Black" panose="020B0A04020102020204" pitchFamily="34" charset="0"/>
              </a:rPr>
              <a:t> </a:t>
            </a:r>
            <a:r>
              <a:rPr lang="en-IN" sz="8000" dirty="0">
                <a:ln w="57150">
                  <a:solidFill>
                    <a:schemeClr val="bg1"/>
                  </a:solidFill>
                </a:ln>
                <a:latin typeface="Arial Black" panose="020B0A04020102020204" pitchFamily="34" charset="0"/>
              </a:rPr>
              <a:t>diversity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CFE62D-C955-42DD-B2DE-9E43988F6130}"/>
              </a:ext>
            </a:extLst>
          </p:cNvPr>
          <p:cNvSpPr txBox="1"/>
          <p:nvPr/>
        </p:nvSpPr>
        <p:spPr>
          <a:xfrm>
            <a:off x="2953657" y="2975428"/>
            <a:ext cx="5638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n w="19050"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Representing various faiths , regional, and artistic traditions , these sites showcase a united , diverse, and </a:t>
            </a:r>
            <a:r>
              <a:rPr lang="en-IN" sz="4000" dirty="0" err="1">
                <a:ln w="19050"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pluratistic</a:t>
            </a:r>
            <a:r>
              <a:rPr lang="en-IN" sz="4000" dirty="0">
                <a:ln w="19050"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 national identity</a:t>
            </a:r>
          </a:p>
        </p:txBody>
      </p:sp>
      <p:pic>
        <p:nvPicPr>
          <p:cNvPr id="6" name="Picture 2" descr="Ancient Indian Literature_CCRT - ADIs Classes">
            <a:extLst>
              <a:ext uri="{FF2B5EF4-FFF2-40B4-BE49-F238E27FC236}">
                <a16:creationId xmlns:a16="http://schemas.microsoft.com/office/drawing/2014/main" id="{960B3DBD-799F-40B6-8058-56DB9DED4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3805" y="983555"/>
            <a:ext cx="5061286" cy="581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65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31000">
              <a:schemeClr val="accent2">
                <a:lumMod val="45000"/>
                <a:lumOff val="55000"/>
              </a:schemeClr>
            </a:gs>
            <a:gs pos="72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299D81-C36F-49A8-B68B-A49D5CC986A6}"/>
              </a:ext>
            </a:extLst>
          </p:cNvPr>
          <p:cNvSpPr txBox="1"/>
          <p:nvPr/>
        </p:nvSpPr>
        <p:spPr>
          <a:xfrm>
            <a:off x="208546" y="684422"/>
            <a:ext cx="65130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latin typeface="Cooper Black" panose="0208090404030B020404" pitchFamily="18" charset="0"/>
              </a:rPr>
              <a:t>      Literature And Ancient Texts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6AD179-045C-4D3D-9AAA-88AA127763A2}"/>
              </a:ext>
            </a:extLst>
          </p:cNvPr>
          <p:cNvSpPr txBox="1"/>
          <p:nvPr/>
        </p:nvSpPr>
        <p:spPr>
          <a:xfrm>
            <a:off x="1331492" y="2582778"/>
            <a:ext cx="526181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/>
              <a:t>Indian literature spans ancient texts like the Vedas and Mahabharata, showcasing diverse languages and epics. Modern works reflect cultural richness, with contribution in poetry, prose, and philosophical writings.  </a:t>
            </a:r>
          </a:p>
        </p:txBody>
      </p:sp>
      <p:pic>
        <p:nvPicPr>
          <p:cNvPr id="2050" name="Picture 2" descr="Ancient Indian Literature_CCRT - ADIs Classes">
            <a:extLst>
              <a:ext uri="{FF2B5EF4-FFF2-40B4-BE49-F238E27FC236}">
                <a16:creationId xmlns:a16="http://schemas.microsoft.com/office/drawing/2014/main" id="{8DCA6708-E3D0-4005-BE0A-7ED9628E9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168" y="830179"/>
            <a:ext cx="5061286" cy="5812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tupa 1, Eastern Gate detail - Sanchi - An inscription on the southern gate  says that the Toranas were carved by ivory carvers of Vidisha. There are  four such carved gateways in">
            <a:extLst>
              <a:ext uri="{FF2B5EF4-FFF2-40B4-BE49-F238E27FC236}">
                <a16:creationId xmlns:a16="http://schemas.microsoft.com/office/drawing/2014/main" id="{16768798-A17F-4664-9F31-8993AEC75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5912" y="7468130"/>
            <a:ext cx="4142280" cy="59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2686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23000">
              <a:schemeClr val="accent1">
                <a:lumMod val="40000"/>
                <a:lumOff val="60000"/>
              </a:schemeClr>
            </a:gs>
            <a:gs pos="0">
              <a:schemeClr val="accent1">
                <a:lumMod val="0"/>
                <a:lumOff val="100000"/>
              </a:schemeClr>
            </a:gs>
            <a:gs pos="92000">
              <a:schemeClr val="accent1">
                <a:lumMod val="60000"/>
                <a:lumOff val="4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26BB20-CFF9-4474-AE73-17719037B081}"/>
              </a:ext>
            </a:extLst>
          </p:cNvPr>
          <p:cNvSpPr txBox="1"/>
          <p:nvPr/>
        </p:nvSpPr>
        <p:spPr>
          <a:xfrm>
            <a:off x="779489" y="1019331"/>
            <a:ext cx="59211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Cooper Black" panose="0208090404030B020404" pitchFamily="18" charset="0"/>
              </a:rPr>
              <a:t>Indian Heritage embodies a tapestry of ancient wisdom, diverse culture, vibrant traditions, and architectural marvels, fostering a deep appreciation for its rich history and enduring legacy. </a:t>
            </a:r>
          </a:p>
        </p:txBody>
      </p:sp>
      <p:pic>
        <p:nvPicPr>
          <p:cNvPr id="5122" name="Picture 2" descr="Stupa 1, Eastern Gate detail - Sanchi - An inscription on the southern gate  says that the Toranas were carved by ivory carvers of Vidisha. There are  four such carved gateways in">
            <a:extLst>
              <a:ext uri="{FF2B5EF4-FFF2-40B4-BE49-F238E27FC236}">
                <a16:creationId xmlns:a16="http://schemas.microsoft.com/office/drawing/2014/main" id="{345E4A25-5CB5-4960-AB14-2704DF1BE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152" y="592082"/>
            <a:ext cx="4142280" cy="595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2711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212</TotalTime>
  <Words>183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Castellar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27</cp:revision>
  <dcterms:created xsi:type="dcterms:W3CDTF">2026-04-25T04:43:09Z</dcterms:created>
  <dcterms:modified xsi:type="dcterms:W3CDTF">2026-04-29T06:36:38Z</dcterms:modified>
</cp:coreProperties>
</file>