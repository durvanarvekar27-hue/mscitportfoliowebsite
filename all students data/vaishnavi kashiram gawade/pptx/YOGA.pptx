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64" r:id="rId4"/>
    <p:sldId id="266" r:id="rId5"/>
    <p:sldId id="267" r:id="rId6"/>
    <p:sldId id="261" r:id="rId7"/>
    <p:sldId id="259" r:id="rId8"/>
    <p:sldId id="262" r:id="rId9"/>
    <p:sldId id="265" r:id="rId10"/>
    <p:sldId id="2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9759"/>
    <a:srgbClr val="D46112"/>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7" d="100"/>
          <a:sy n="67" d="100"/>
        </p:scale>
        <p:origin x="1500"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49644-AA31-409E-9278-D522A52427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CE07839-BFA8-419A-89A7-94A1C95E01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1070F75-D1FC-435F-9F88-7B5F4BFDA7B2}"/>
              </a:ext>
            </a:extLst>
          </p:cNvPr>
          <p:cNvSpPr>
            <a:spLocks noGrp="1"/>
          </p:cNvSpPr>
          <p:nvPr>
            <p:ph type="dt" sz="half" idx="10"/>
          </p:nvPr>
        </p:nvSpPr>
        <p:spPr/>
        <p:txBody>
          <a:bodyPr/>
          <a:lstStyle/>
          <a:p>
            <a:fld id="{89194668-7909-4772-B11C-7B4CE54064AF}" type="datetimeFigureOut">
              <a:rPr lang="en-IN" smtClean="0"/>
              <a:t>08-04-2026</a:t>
            </a:fld>
            <a:endParaRPr lang="en-IN"/>
          </a:p>
        </p:txBody>
      </p:sp>
      <p:sp>
        <p:nvSpPr>
          <p:cNvPr id="5" name="Footer Placeholder 4">
            <a:extLst>
              <a:ext uri="{FF2B5EF4-FFF2-40B4-BE49-F238E27FC236}">
                <a16:creationId xmlns:a16="http://schemas.microsoft.com/office/drawing/2014/main" id="{A1745C88-1BCA-43F7-8E87-BC3BCBA745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2D382C-D58D-4B09-BDF3-D44E50F7565D}"/>
              </a:ext>
            </a:extLst>
          </p:cNvPr>
          <p:cNvSpPr>
            <a:spLocks noGrp="1"/>
          </p:cNvSpPr>
          <p:nvPr>
            <p:ph type="sldNum" sz="quarter" idx="12"/>
          </p:nvPr>
        </p:nvSpPr>
        <p:spPr/>
        <p:txBody>
          <a:bodyPr/>
          <a:lstStyle/>
          <a:p>
            <a:fld id="{F4C32C0A-874E-4566-A388-4A721ECA680F}" type="slidenum">
              <a:rPr lang="en-IN" smtClean="0"/>
              <a:t>‹#›</a:t>
            </a:fld>
            <a:endParaRPr lang="en-IN"/>
          </a:p>
        </p:txBody>
      </p:sp>
    </p:spTree>
    <p:extLst>
      <p:ext uri="{BB962C8B-B14F-4D97-AF65-F5344CB8AC3E}">
        <p14:creationId xmlns:p14="http://schemas.microsoft.com/office/powerpoint/2010/main" val="34598482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CAB99-2756-4635-A7F3-D93777E9BE2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88A33C5-85C9-4DB5-9A47-E98F90D9E3A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A29B22-3B32-4E35-BDB6-BEFE54DE66AC}"/>
              </a:ext>
            </a:extLst>
          </p:cNvPr>
          <p:cNvSpPr>
            <a:spLocks noGrp="1"/>
          </p:cNvSpPr>
          <p:nvPr>
            <p:ph type="dt" sz="half" idx="10"/>
          </p:nvPr>
        </p:nvSpPr>
        <p:spPr/>
        <p:txBody>
          <a:bodyPr/>
          <a:lstStyle/>
          <a:p>
            <a:fld id="{89194668-7909-4772-B11C-7B4CE54064AF}" type="datetimeFigureOut">
              <a:rPr lang="en-IN" smtClean="0"/>
              <a:t>08-04-2026</a:t>
            </a:fld>
            <a:endParaRPr lang="en-IN"/>
          </a:p>
        </p:txBody>
      </p:sp>
      <p:sp>
        <p:nvSpPr>
          <p:cNvPr id="5" name="Footer Placeholder 4">
            <a:extLst>
              <a:ext uri="{FF2B5EF4-FFF2-40B4-BE49-F238E27FC236}">
                <a16:creationId xmlns:a16="http://schemas.microsoft.com/office/drawing/2014/main" id="{4900948D-AE28-49E1-A810-416FAB27F4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BBE350-BD49-41EE-A1F4-A991CEA7AE34}"/>
              </a:ext>
            </a:extLst>
          </p:cNvPr>
          <p:cNvSpPr>
            <a:spLocks noGrp="1"/>
          </p:cNvSpPr>
          <p:nvPr>
            <p:ph type="sldNum" sz="quarter" idx="12"/>
          </p:nvPr>
        </p:nvSpPr>
        <p:spPr/>
        <p:txBody>
          <a:bodyPr/>
          <a:lstStyle/>
          <a:p>
            <a:fld id="{F4C32C0A-874E-4566-A388-4A721ECA680F}" type="slidenum">
              <a:rPr lang="en-IN" smtClean="0"/>
              <a:t>‹#›</a:t>
            </a:fld>
            <a:endParaRPr lang="en-IN"/>
          </a:p>
        </p:txBody>
      </p:sp>
    </p:spTree>
    <p:extLst>
      <p:ext uri="{BB962C8B-B14F-4D97-AF65-F5344CB8AC3E}">
        <p14:creationId xmlns:p14="http://schemas.microsoft.com/office/powerpoint/2010/main" val="39649204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9241E-46AD-4431-AC94-BD606A30EC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DB2343B-133C-46DB-9697-C1098131FA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0CC9B3A-53DA-46BC-829F-6FE995EE0FA0}"/>
              </a:ext>
            </a:extLst>
          </p:cNvPr>
          <p:cNvSpPr>
            <a:spLocks noGrp="1"/>
          </p:cNvSpPr>
          <p:nvPr>
            <p:ph type="dt" sz="half" idx="10"/>
          </p:nvPr>
        </p:nvSpPr>
        <p:spPr/>
        <p:txBody>
          <a:bodyPr/>
          <a:lstStyle/>
          <a:p>
            <a:fld id="{89194668-7909-4772-B11C-7B4CE54064AF}" type="datetimeFigureOut">
              <a:rPr lang="en-IN" smtClean="0"/>
              <a:t>08-04-2026</a:t>
            </a:fld>
            <a:endParaRPr lang="en-IN"/>
          </a:p>
        </p:txBody>
      </p:sp>
      <p:sp>
        <p:nvSpPr>
          <p:cNvPr id="5" name="Footer Placeholder 4">
            <a:extLst>
              <a:ext uri="{FF2B5EF4-FFF2-40B4-BE49-F238E27FC236}">
                <a16:creationId xmlns:a16="http://schemas.microsoft.com/office/drawing/2014/main" id="{3D592862-2F79-476B-B0D9-F62A36E883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34E975-4676-48E7-BCAA-FBD039751391}"/>
              </a:ext>
            </a:extLst>
          </p:cNvPr>
          <p:cNvSpPr>
            <a:spLocks noGrp="1"/>
          </p:cNvSpPr>
          <p:nvPr>
            <p:ph type="sldNum" sz="quarter" idx="12"/>
          </p:nvPr>
        </p:nvSpPr>
        <p:spPr/>
        <p:txBody>
          <a:bodyPr/>
          <a:lstStyle/>
          <a:p>
            <a:fld id="{F4C32C0A-874E-4566-A388-4A721ECA680F}" type="slidenum">
              <a:rPr lang="en-IN" smtClean="0"/>
              <a:t>‹#›</a:t>
            </a:fld>
            <a:endParaRPr lang="en-IN"/>
          </a:p>
        </p:txBody>
      </p:sp>
    </p:spTree>
    <p:extLst>
      <p:ext uri="{BB962C8B-B14F-4D97-AF65-F5344CB8AC3E}">
        <p14:creationId xmlns:p14="http://schemas.microsoft.com/office/powerpoint/2010/main" val="39897372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334BF-444D-4B1D-95C4-6367FF9F3A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4E054D-0914-47D3-88D6-0D4BEAC0466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EBDA329-0043-41F5-9339-1115C48D32C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4D16C75-F983-4E64-B64F-D7A611E738F4}"/>
              </a:ext>
            </a:extLst>
          </p:cNvPr>
          <p:cNvSpPr>
            <a:spLocks noGrp="1"/>
          </p:cNvSpPr>
          <p:nvPr>
            <p:ph type="dt" sz="half" idx="10"/>
          </p:nvPr>
        </p:nvSpPr>
        <p:spPr/>
        <p:txBody>
          <a:bodyPr/>
          <a:lstStyle/>
          <a:p>
            <a:fld id="{89194668-7909-4772-B11C-7B4CE54064AF}" type="datetimeFigureOut">
              <a:rPr lang="en-IN" smtClean="0"/>
              <a:t>08-04-2026</a:t>
            </a:fld>
            <a:endParaRPr lang="en-IN"/>
          </a:p>
        </p:txBody>
      </p:sp>
      <p:sp>
        <p:nvSpPr>
          <p:cNvPr id="6" name="Footer Placeholder 5">
            <a:extLst>
              <a:ext uri="{FF2B5EF4-FFF2-40B4-BE49-F238E27FC236}">
                <a16:creationId xmlns:a16="http://schemas.microsoft.com/office/drawing/2014/main" id="{AD4938D0-7BB3-4725-AA98-5F02FF58C3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2DA9F5-B35F-420F-9FFC-9910042B90CC}"/>
              </a:ext>
            </a:extLst>
          </p:cNvPr>
          <p:cNvSpPr>
            <a:spLocks noGrp="1"/>
          </p:cNvSpPr>
          <p:nvPr>
            <p:ph type="sldNum" sz="quarter" idx="12"/>
          </p:nvPr>
        </p:nvSpPr>
        <p:spPr/>
        <p:txBody>
          <a:bodyPr/>
          <a:lstStyle/>
          <a:p>
            <a:fld id="{F4C32C0A-874E-4566-A388-4A721ECA680F}" type="slidenum">
              <a:rPr lang="en-IN" smtClean="0"/>
              <a:t>‹#›</a:t>
            </a:fld>
            <a:endParaRPr lang="en-IN"/>
          </a:p>
        </p:txBody>
      </p:sp>
    </p:spTree>
    <p:extLst>
      <p:ext uri="{BB962C8B-B14F-4D97-AF65-F5344CB8AC3E}">
        <p14:creationId xmlns:p14="http://schemas.microsoft.com/office/powerpoint/2010/main" val="5173439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21943-3271-40B5-9C18-8502725A30A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4BEE83-F266-48EF-A4E3-F95DB2E9C5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CD69AAF-059E-4256-9475-D582DADA85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C3E10EC-BA00-4B23-9ED4-AAD024BCA8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A4316C9-177A-4D87-9240-9A1AF3883FC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3ADB7C4-3460-4A58-87A3-8E8759E375D1}"/>
              </a:ext>
            </a:extLst>
          </p:cNvPr>
          <p:cNvSpPr>
            <a:spLocks noGrp="1"/>
          </p:cNvSpPr>
          <p:nvPr>
            <p:ph type="dt" sz="half" idx="10"/>
          </p:nvPr>
        </p:nvSpPr>
        <p:spPr/>
        <p:txBody>
          <a:bodyPr/>
          <a:lstStyle/>
          <a:p>
            <a:fld id="{89194668-7909-4772-B11C-7B4CE54064AF}" type="datetimeFigureOut">
              <a:rPr lang="en-IN" smtClean="0"/>
              <a:t>08-04-2026</a:t>
            </a:fld>
            <a:endParaRPr lang="en-IN"/>
          </a:p>
        </p:txBody>
      </p:sp>
      <p:sp>
        <p:nvSpPr>
          <p:cNvPr id="8" name="Footer Placeholder 7">
            <a:extLst>
              <a:ext uri="{FF2B5EF4-FFF2-40B4-BE49-F238E27FC236}">
                <a16:creationId xmlns:a16="http://schemas.microsoft.com/office/drawing/2014/main" id="{FC602927-7232-452D-861B-C372E50B6BD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EBF6ED7-4BFC-469D-A060-90EA90343B77}"/>
              </a:ext>
            </a:extLst>
          </p:cNvPr>
          <p:cNvSpPr>
            <a:spLocks noGrp="1"/>
          </p:cNvSpPr>
          <p:nvPr>
            <p:ph type="sldNum" sz="quarter" idx="12"/>
          </p:nvPr>
        </p:nvSpPr>
        <p:spPr/>
        <p:txBody>
          <a:bodyPr/>
          <a:lstStyle/>
          <a:p>
            <a:fld id="{F4C32C0A-874E-4566-A388-4A721ECA680F}" type="slidenum">
              <a:rPr lang="en-IN" smtClean="0"/>
              <a:t>‹#›</a:t>
            </a:fld>
            <a:endParaRPr lang="en-IN"/>
          </a:p>
        </p:txBody>
      </p:sp>
    </p:spTree>
    <p:extLst>
      <p:ext uri="{BB962C8B-B14F-4D97-AF65-F5344CB8AC3E}">
        <p14:creationId xmlns:p14="http://schemas.microsoft.com/office/powerpoint/2010/main" val="15349907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6D5EA-8854-4A89-9094-6BEB85185FA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EF99E6-4D31-4ADA-8A18-F809D5C73E35}"/>
              </a:ext>
            </a:extLst>
          </p:cNvPr>
          <p:cNvSpPr>
            <a:spLocks noGrp="1"/>
          </p:cNvSpPr>
          <p:nvPr>
            <p:ph type="dt" sz="half" idx="10"/>
          </p:nvPr>
        </p:nvSpPr>
        <p:spPr/>
        <p:txBody>
          <a:bodyPr/>
          <a:lstStyle/>
          <a:p>
            <a:fld id="{89194668-7909-4772-B11C-7B4CE54064AF}" type="datetimeFigureOut">
              <a:rPr lang="en-IN" smtClean="0"/>
              <a:t>08-04-2026</a:t>
            </a:fld>
            <a:endParaRPr lang="en-IN"/>
          </a:p>
        </p:txBody>
      </p:sp>
      <p:sp>
        <p:nvSpPr>
          <p:cNvPr id="4" name="Footer Placeholder 3">
            <a:extLst>
              <a:ext uri="{FF2B5EF4-FFF2-40B4-BE49-F238E27FC236}">
                <a16:creationId xmlns:a16="http://schemas.microsoft.com/office/drawing/2014/main" id="{6886B054-E17B-4EF8-A0C1-4A6497EEF1A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0E5B891-941D-4D4A-ADE3-60517B568ADC}"/>
              </a:ext>
            </a:extLst>
          </p:cNvPr>
          <p:cNvSpPr>
            <a:spLocks noGrp="1"/>
          </p:cNvSpPr>
          <p:nvPr>
            <p:ph type="sldNum" sz="quarter" idx="12"/>
          </p:nvPr>
        </p:nvSpPr>
        <p:spPr/>
        <p:txBody>
          <a:bodyPr/>
          <a:lstStyle/>
          <a:p>
            <a:fld id="{F4C32C0A-874E-4566-A388-4A721ECA680F}" type="slidenum">
              <a:rPr lang="en-IN" smtClean="0"/>
              <a:t>‹#›</a:t>
            </a:fld>
            <a:endParaRPr lang="en-IN"/>
          </a:p>
        </p:txBody>
      </p:sp>
    </p:spTree>
    <p:extLst>
      <p:ext uri="{BB962C8B-B14F-4D97-AF65-F5344CB8AC3E}">
        <p14:creationId xmlns:p14="http://schemas.microsoft.com/office/powerpoint/2010/main" val="44172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588649-373D-478F-A041-CFC82C45E9AB}"/>
              </a:ext>
            </a:extLst>
          </p:cNvPr>
          <p:cNvSpPr>
            <a:spLocks noGrp="1"/>
          </p:cNvSpPr>
          <p:nvPr>
            <p:ph type="dt" sz="half" idx="10"/>
          </p:nvPr>
        </p:nvSpPr>
        <p:spPr/>
        <p:txBody>
          <a:bodyPr/>
          <a:lstStyle/>
          <a:p>
            <a:fld id="{89194668-7909-4772-B11C-7B4CE54064AF}" type="datetimeFigureOut">
              <a:rPr lang="en-IN" smtClean="0"/>
              <a:t>08-04-2026</a:t>
            </a:fld>
            <a:endParaRPr lang="en-IN"/>
          </a:p>
        </p:txBody>
      </p:sp>
      <p:sp>
        <p:nvSpPr>
          <p:cNvPr id="3" name="Footer Placeholder 2">
            <a:extLst>
              <a:ext uri="{FF2B5EF4-FFF2-40B4-BE49-F238E27FC236}">
                <a16:creationId xmlns:a16="http://schemas.microsoft.com/office/drawing/2014/main" id="{BADFF23B-AD7F-4C15-B655-B35D87FA92C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DE1F8C5-068E-4898-9CB7-B3AD3D323A71}"/>
              </a:ext>
            </a:extLst>
          </p:cNvPr>
          <p:cNvSpPr>
            <a:spLocks noGrp="1"/>
          </p:cNvSpPr>
          <p:nvPr>
            <p:ph type="sldNum" sz="quarter" idx="12"/>
          </p:nvPr>
        </p:nvSpPr>
        <p:spPr/>
        <p:txBody>
          <a:bodyPr/>
          <a:lstStyle/>
          <a:p>
            <a:fld id="{F4C32C0A-874E-4566-A388-4A721ECA680F}" type="slidenum">
              <a:rPr lang="en-IN" smtClean="0"/>
              <a:t>‹#›</a:t>
            </a:fld>
            <a:endParaRPr lang="en-IN"/>
          </a:p>
        </p:txBody>
      </p:sp>
    </p:spTree>
    <p:extLst>
      <p:ext uri="{BB962C8B-B14F-4D97-AF65-F5344CB8AC3E}">
        <p14:creationId xmlns:p14="http://schemas.microsoft.com/office/powerpoint/2010/main" val="21812159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91450-18E1-476E-95FF-75B549F5F5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2B481A7-C6E1-40F6-BD7B-15A4C56ABD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F051C6E-885D-443F-A678-CD5C9948FD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235CBFF-8B08-4AF5-B536-AAFC8A475B31}"/>
              </a:ext>
            </a:extLst>
          </p:cNvPr>
          <p:cNvSpPr>
            <a:spLocks noGrp="1"/>
          </p:cNvSpPr>
          <p:nvPr>
            <p:ph type="dt" sz="half" idx="10"/>
          </p:nvPr>
        </p:nvSpPr>
        <p:spPr/>
        <p:txBody>
          <a:bodyPr/>
          <a:lstStyle/>
          <a:p>
            <a:fld id="{89194668-7909-4772-B11C-7B4CE54064AF}" type="datetimeFigureOut">
              <a:rPr lang="en-IN" smtClean="0"/>
              <a:t>08-04-2026</a:t>
            </a:fld>
            <a:endParaRPr lang="en-IN"/>
          </a:p>
        </p:txBody>
      </p:sp>
      <p:sp>
        <p:nvSpPr>
          <p:cNvPr id="6" name="Footer Placeholder 5">
            <a:extLst>
              <a:ext uri="{FF2B5EF4-FFF2-40B4-BE49-F238E27FC236}">
                <a16:creationId xmlns:a16="http://schemas.microsoft.com/office/drawing/2014/main" id="{26651189-6CB3-47AA-8D4B-6F484EE927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66298B-EE35-43E3-B6AE-8C1D64357F55}"/>
              </a:ext>
            </a:extLst>
          </p:cNvPr>
          <p:cNvSpPr>
            <a:spLocks noGrp="1"/>
          </p:cNvSpPr>
          <p:nvPr>
            <p:ph type="sldNum" sz="quarter" idx="12"/>
          </p:nvPr>
        </p:nvSpPr>
        <p:spPr/>
        <p:txBody>
          <a:bodyPr/>
          <a:lstStyle/>
          <a:p>
            <a:fld id="{F4C32C0A-874E-4566-A388-4A721ECA680F}" type="slidenum">
              <a:rPr lang="en-IN" smtClean="0"/>
              <a:t>‹#›</a:t>
            </a:fld>
            <a:endParaRPr lang="en-IN"/>
          </a:p>
        </p:txBody>
      </p:sp>
    </p:spTree>
    <p:extLst>
      <p:ext uri="{BB962C8B-B14F-4D97-AF65-F5344CB8AC3E}">
        <p14:creationId xmlns:p14="http://schemas.microsoft.com/office/powerpoint/2010/main" val="32506397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71FDE-D68B-405A-A0CB-68B5383AEF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BD73D7B-B777-4CEA-92A9-0D59401EC8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F5F9B76-FD39-49A8-8777-DF6C1275F1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9CDDDFC-E120-449A-A2EF-1CA28244F518}"/>
              </a:ext>
            </a:extLst>
          </p:cNvPr>
          <p:cNvSpPr>
            <a:spLocks noGrp="1"/>
          </p:cNvSpPr>
          <p:nvPr>
            <p:ph type="dt" sz="half" idx="10"/>
          </p:nvPr>
        </p:nvSpPr>
        <p:spPr/>
        <p:txBody>
          <a:bodyPr/>
          <a:lstStyle/>
          <a:p>
            <a:fld id="{89194668-7909-4772-B11C-7B4CE54064AF}" type="datetimeFigureOut">
              <a:rPr lang="en-IN" smtClean="0"/>
              <a:t>08-04-2026</a:t>
            </a:fld>
            <a:endParaRPr lang="en-IN"/>
          </a:p>
        </p:txBody>
      </p:sp>
      <p:sp>
        <p:nvSpPr>
          <p:cNvPr id="6" name="Footer Placeholder 5">
            <a:extLst>
              <a:ext uri="{FF2B5EF4-FFF2-40B4-BE49-F238E27FC236}">
                <a16:creationId xmlns:a16="http://schemas.microsoft.com/office/drawing/2014/main" id="{D5B76856-FDCA-4889-B40A-28ED8E4F4B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23080A-D085-482C-9FF6-7176CEEECF29}"/>
              </a:ext>
            </a:extLst>
          </p:cNvPr>
          <p:cNvSpPr>
            <a:spLocks noGrp="1"/>
          </p:cNvSpPr>
          <p:nvPr>
            <p:ph type="sldNum" sz="quarter" idx="12"/>
          </p:nvPr>
        </p:nvSpPr>
        <p:spPr/>
        <p:txBody>
          <a:bodyPr/>
          <a:lstStyle/>
          <a:p>
            <a:fld id="{F4C32C0A-874E-4566-A388-4A721ECA680F}" type="slidenum">
              <a:rPr lang="en-IN" smtClean="0"/>
              <a:t>‹#›</a:t>
            </a:fld>
            <a:endParaRPr lang="en-IN"/>
          </a:p>
        </p:txBody>
      </p:sp>
    </p:spTree>
    <p:extLst>
      <p:ext uri="{BB962C8B-B14F-4D97-AF65-F5344CB8AC3E}">
        <p14:creationId xmlns:p14="http://schemas.microsoft.com/office/powerpoint/2010/main" val="905666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0FB9F-5A5A-4DC3-9F26-1EC135B25D0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1BE9D3F-81F1-4D14-9A7A-F84E2E80F7A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40917E-ED24-4BB9-B324-C5D7D8DE3EC9}"/>
              </a:ext>
            </a:extLst>
          </p:cNvPr>
          <p:cNvSpPr>
            <a:spLocks noGrp="1"/>
          </p:cNvSpPr>
          <p:nvPr>
            <p:ph type="dt" sz="half" idx="10"/>
          </p:nvPr>
        </p:nvSpPr>
        <p:spPr/>
        <p:txBody>
          <a:bodyPr/>
          <a:lstStyle/>
          <a:p>
            <a:fld id="{89194668-7909-4772-B11C-7B4CE54064AF}" type="datetimeFigureOut">
              <a:rPr lang="en-IN" smtClean="0"/>
              <a:t>08-04-2026</a:t>
            </a:fld>
            <a:endParaRPr lang="en-IN"/>
          </a:p>
        </p:txBody>
      </p:sp>
      <p:sp>
        <p:nvSpPr>
          <p:cNvPr id="5" name="Footer Placeholder 4">
            <a:extLst>
              <a:ext uri="{FF2B5EF4-FFF2-40B4-BE49-F238E27FC236}">
                <a16:creationId xmlns:a16="http://schemas.microsoft.com/office/drawing/2014/main" id="{A4479A9E-98FF-41DD-A388-A407011C9B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9E28F0-AD44-45A2-9EE7-2D2BAD53AA5E}"/>
              </a:ext>
            </a:extLst>
          </p:cNvPr>
          <p:cNvSpPr>
            <a:spLocks noGrp="1"/>
          </p:cNvSpPr>
          <p:nvPr>
            <p:ph type="sldNum" sz="quarter" idx="12"/>
          </p:nvPr>
        </p:nvSpPr>
        <p:spPr/>
        <p:txBody>
          <a:bodyPr/>
          <a:lstStyle/>
          <a:p>
            <a:fld id="{F4C32C0A-874E-4566-A388-4A721ECA680F}" type="slidenum">
              <a:rPr lang="en-IN" smtClean="0"/>
              <a:t>‹#›</a:t>
            </a:fld>
            <a:endParaRPr lang="en-IN"/>
          </a:p>
        </p:txBody>
      </p:sp>
    </p:spTree>
    <p:extLst>
      <p:ext uri="{BB962C8B-B14F-4D97-AF65-F5344CB8AC3E}">
        <p14:creationId xmlns:p14="http://schemas.microsoft.com/office/powerpoint/2010/main" val="5859092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329AB0-0EFF-4C9B-804D-67B547BBF1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DC65FA-3797-49C4-BC1F-C1AC34A3E27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7E2E15-858A-4327-9D5F-E401B38457AF}"/>
              </a:ext>
            </a:extLst>
          </p:cNvPr>
          <p:cNvSpPr>
            <a:spLocks noGrp="1"/>
          </p:cNvSpPr>
          <p:nvPr>
            <p:ph type="dt" sz="half" idx="10"/>
          </p:nvPr>
        </p:nvSpPr>
        <p:spPr/>
        <p:txBody>
          <a:bodyPr/>
          <a:lstStyle/>
          <a:p>
            <a:fld id="{89194668-7909-4772-B11C-7B4CE54064AF}" type="datetimeFigureOut">
              <a:rPr lang="en-IN" smtClean="0"/>
              <a:t>08-04-2026</a:t>
            </a:fld>
            <a:endParaRPr lang="en-IN"/>
          </a:p>
        </p:txBody>
      </p:sp>
      <p:sp>
        <p:nvSpPr>
          <p:cNvPr id="5" name="Footer Placeholder 4">
            <a:extLst>
              <a:ext uri="{FF2B5EF4-FFF2-40B4-BE49-F238E27FC236}">
                <a16:creationId xmlns:a16="http://schemas.microsoft.com/office/drawing/2014/main" id="{A4276CDD-0249-4905-9664-2742CCF436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3A0869-2D6C-415D-97E6-42AC903DFFFE}"/>
              </a:ext>
            </a:extLst>
          </p:cNvPr>
          <p:cNvSpPr>
            <a:spLocks noGrp="1"/>
          </p:cNvSpPr>
          <p:nvPr>
            <p:ph type="sldNum" sz="quarter" idx="12"/>
          </p:nvPr>
        </p:nvSpPr>
        <p:spPr/>
        <p:txBody>
          <a:bodyPr/>
          <a:lstStyle/>
          <a:p>
            <a:fld id="{F4C32C0A-874E-4566-A388-4A721ECA680F}" type="slidenum">
              <a:rPr lang="en-IN" smtClean="0"/>
              <a:t>‹#›</a:t>
            </a:fld>
            <a:endParaRPr lang="en-IN"/>
          </a:p>
        </p:txBody>
      </p:sp>
    </p:spTree>
    <p:extLst>
      <p:ext uri="{BB962C8B-B14F-4D97-AF65-F5344CB8AC3E}">
        <p14:creationId xmlns:p14="http://schemas.microsoft.com/office/powerpoint/2010/main" val="94400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6BE635-E6DF-49A4-9273-28E89831A7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470691-2750-4F91-B24C-8C969DAA95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28005F-A6C9-4211-AB62-47B5E1D19B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194668-7909-4772-B11C-7B4CE54064AF}" type="datetimeFigureOut">
              <a:rPr lang="en-IN" smtClean="0"/>
              <a:t>08-04-2026</a:t>
            </a:fld>
            <a:endParaRPr lang="en-IN"/>
          </a:p>
        </p:txBody>
      </p:sp>
      <p:sp>
        <p:nvSpPr>
          <p:cNvPr id="5" name="Footer Placeholder 4">
            <a:extLst>
              <a:ext uri="{FF2B5EF4-FFF2-40B4-BE49-F238E27FC236}">
                <a16:creationId xmlns:a16="http://schemas.microsoft.com/office/drawing/2014/main" id="{B9AD821B-2B8D-4CF9-A0B8-5F16458049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AD17116-50BE-481B-901A-204ADDDEF5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C32C0A-874E-4566-A388-4A721ECA680F}" type="slidenum">
              <a:rPr lang="en-IN" smtClean="0"/>
              <a:t>‹#›</a:t>
            </a:fld>
            <a:endParaRPr lang="en-IN"/>
          </a:p>
        </p:txBody>
      </p:sp>
    </p:spTree>
    <p:extLst>
      <p:ext uri="{BB962C8B-B14F-4D97-AF65-F5344CB8AC3E}">
        <p14:creationId xmlns:p14="http://schemas.microsoft.com/office/powerpoint/2010/main" val="124326631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microsoft.com/office/2007/relationships/hdphoto" Target="../media/hdphoto6.wdp"/><Relationship Id="rId3" Type="http://schemas.microsoft.com/office/2007/relationships/hdphoto" Target="../media/hdphoto1.wdp"/><Relationship Id="rId7" Type="http://schemas.microsoft.com/office/2007/relationships/hdphoto" Target="../media/hdphoto3.wdp"/><Relationship Id="rId12" Type="http://schemas.openxmlformats.org/officeDocument/2006/relationships/image" Target="../media/image6.png"/><Relationship Id="rId2" Type="http://schemas.openxmlformats.org/officeDocument/2006/relationships/image" Target="../media/image1.png"/><Relationship Id="rId16" Type="http://schemas.openxmlformats.org/officeDocument/2006/relationships/image" Target="../media/image8.jpg"/><Relationship Id="rId1" Type="http://schemas.openxmlformats.org/officeDocument/2006/relationships/slideLayout" Target="../slideLayouts/slideLayout1.xml"/><Relationship Id="rId6" Type="http://schemas.openxmlformats.org/officeDocument/2006/relationships/image" Target="../media/image3.png"/><Relationship Id="rId11" Type="http://schemas.microsoft.com/office/2007/relationships/hdphoto" Target="../media/hdphoto5.wdp"/><Relationship Id="rId5" Type="http://schemas.microsoft.com/office/2007/relationships/hdphoto" Target="../media/hdphoto2.wdp"/><Relationship Id="rId15" Type="http://schemas.microsoft.com/office/2007/relationships/hdphoto" Target="../media/hdphoto7.wdp"/><Relationship Id="rId10" Type="http://schemas.openxmlformats.org/officeDocument/2006/relationships/image" Target="../media/image5.png"/><Relationship Id="rId4" Type="http://schemas.openxmlformats.org/officeDocument/2006/relationships/image" Target="../media/image2.png"/><Relationship Id="rId9" Type="http://schemas.microsoft.com/office/2007/relationships/hdphoto" Target="../media/hdphoto4.wdp"/><Relationship Id="rId1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1.xml"/><Relationship Id="rId6" Type="http://schemas.microsoft.com/office/2007/relationships/hdphoto" Target="../media/hdphoto7.wdp"/><Relationship Id="rId5" Type="http://schemas.openxmlformats.org/officeDocument/2006/relationships/image" Target="../media/image7.png"/><Relationship Id="rId4" Type="http://schemas.microsoft.com/office/2007/relationships/hdphoto" Target="../media/hdphoto8.wdp"/></Relationships>
</file>

<file path=ppt/slides/_rels/slide3.xml.rels><?xml version="1.0" encoding="UTF-8" standalone="yes"?>
<Relationships xmlns="http://schemas.openxmlformats.org/package/2006/relationships"><Relationship Id="rId8" Type="http://schemas.microsoft.com/office/2007/relationships/hdphoto" Target="../media/hdphoto10.wdp"/><Relationship Id="rId13"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1.png"/><Relationship Id="rId12" Type="http://schemas.microsoft.com/office/2007/relationships/hdphoto" Target="../media/hdphoto12.wdp"/><Relationship Id="rId2" Type="http://schemas.openxmlformats.org/officeDocument/2006/relationships/image" Target="../media/image8.jpg"/><Relationship Id="rId1" Type="http://schemas.openxmlformats.org/officeDocument/2006/relationships/slideLayout" Target="../slideLayouts/slideLayout1.xml"/><Relationship Id="rId6" Type="http://schemas.microsoft.com/office/2007/relationships/hdphoto" Target="../media/hdphoto9.wdp"/><Relationship Id="rId11" Type="http://schemas.openxmlformats.org/officeDocument/2006/relationships/image" Target="../media/image13.png"/><Relationship Id="rId5" Type="http://schemas.openxmlformats.org/officeDocument/2006/relationships/image" Target="../media/image10.png"/><Relationship Id="rId10" Type="http://schemas.microsoft.com/office/2007/relationships/hdphoto" Target="../media/hdphoto11.wdp"/><Relationship Id="rId4" Type="http://schemas.microsoft.com/office/2007/relationships/hdphoto" Target="../media/hdphoto8.wdp"/><Relationship Id="rId9" Type="http://schemas.openxmlformats.org/officeDocument/2006/relationships/image" Target="../media/image12.png"/><Relationship Id="rId14" Type="http://schemas.microsoft.com/office/2007/relationships/hdphoto" Target="../media/hdphoto13.wdp"/></Relationships>
</file>

<file path=ppt/slides/_rels/slide4.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17.png"/><Relationship Id="rId1" Type="http://schemas.openxmlformats.org/officeDocument/2006/relationships/slideLayout" Target="../slideLayouts/slideLayout1.xml"/><Relationship Id="rId6" Type="http://schemas.microsoft.com/office/2007/relationships/hdphoto" Target="../media/hdphoto13.wdp"/><Relationship Id="rId5" Type="http://schemas.openxmlformats.org/officeDocument/2006/relationships/image" Target="../media/image14.png"/><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microsoft.com/office/2007/relationships/hdphoto" Target="../media/hdphoto9.wdp"/><Relationship Id="rId7" Type="http://schemas.microsoft.com/office/2007/relationships/hdphoto" Target="../media/hdphoto11.wdp"/><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2.png"/><Relationship Id="rId11" Type="http://schemas.microsoft.com/office/2007/relationships/hdphoto" Target="../media/hdphoto12.wdp"/><Relationship Id="rId5" Type="http://schemas.microsoft.com/office/2007/relationships/hdphoto" Target="../media/hdphoto10.wdp"/><Relationship Id="rId10" Type="http://schemas.openxmlformats.org/officeDocument/2006/relationships/image" Target="../media/image13.png"/><Relationship Id="rId4" Type="http://schemas.openxmlformats.org/officeDocument/2006/relationships/image" Target="../media/image11.png"/><Relationship Id="rId9" Type="http://schemas.microsoft.com/office/2007/relationships/hdphoto" Target="../media/hdphoto16.wdp"/></Relationships>
</file>

<file path=ppt/slides/_rels/slide8.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8.jpg"/><Relationship Id="rId1" Type="http://schemas.openxmlformats.org/officeDocument/2006/relationships/slideLayout" Target="../slideLayouts/slideLayout1.xml"/><Relationship Id="rId4" Type="http://schemas.microsoft.com/office/2007/relationships/hdphoto" Target="../media/hdphoto17.wdp"/></Relationships>
</file>

<file path=ppt/slides/_rels/slide1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DF5C687-EB31-4FAB-8502-B937C3E8D6E3}"/>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8031" b="89896" l="10000" r="90000">
                        <a14:foregroundMark x1="45862" y1="8290" x2="49655" y2="8031"/>
                        <a14:foregroundMark x1="49828" y1="8031" x2="50517" y2="8031"/>
                      </a14:backgroundRemoval>
                    </a14:imgEffect>
                  </a14:imgLayer>
                </a14:imgProps>
              </a:ext>
              <a:ext uri="{28A0092B-C50C-407E-A947-70E740481C1C}">
                <a14:useLocalDpi xmlns:a14="http://schemas.microsoft.com/office/drawing/2010/main" val="0"/>
              </a:ext>
            </a:extLst>
          </a:blip>
          <a:stretch>
            <a:fillRect/>
          </a:stretch>
        </p:blipFill>
        <p:spPr>
          <a:xfrm>
            <a:off x="8150024" y="2146897"/>
            <a:ext cx="4400340" cy="3348703"/>
          </a:xfrm>
          <a:prstGeom prst="rect">
            <a:avLst/>
          </a:prstGeom>
        </p:spPr>
      </p:pic>
      <p:pic>
        <p:nvPicPr>
          <p:cNvPr id="10" name="Picture 9">
            <a:extLst>
              <a:ext uri="{FF2B5EF4-FFF2-40B4-BE49-F238E27FC236}">
                <a16:creationId xmlns:a16="http://schemas.microsoft.com/office/drawing/2014/main" id="{75DB6BEB-BBB1-47FA-9408-5E9DACC65374}"/>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950" b="92040" l="9960" r="89641">
                        <a14:foregroundMark x1="47410" y1="92040" x2="47410" y2="92040"/>
                      </a14:backgroundRemoval>
                    </a14:imgEffect>
                  </a14:imgLayer>
                </a14:imgProps>
              </a:ext>
              <a:ext uri="{28A0092B-C50C-407E-A947-70E740481C1C}">
                <a14:useLocalDpi xmlns:a14="http://schemas.microsoft.com/office/drawing/2010/main" val="0"/>
              </a:ext>
            </a:extLst>
          </a:blip>
          <a:stretch>
            <a:fillRect/>
          </a:stretch>
        </p:blipFill>
        <p:spPr>
          <a:xfrm>
            <a:off x="8349085" y="2595475"/>
            <a:ext cx="4043362" cy="2971515"/>
          </a:xfrm>
          <a:prstGeom prst="rect">
            <a:avLst/>
          </a:prstGeom>
        </p:spPr>
      </p:pic>
      <p:sp>
        <p:nvSpPr>
          <p:cNvPr id="13" name="Rectangle 12">
            <a:extLst>
              <a:ext uri="{FF2B5EF4-FFF2-40B4-BE49-F238E27FC236}">
                <a16:creationId xmlns:a16="http://schemas.microsoft.com/office/drawing/2014/main" id="{E383D428-DAD1-4366-B8D9-BD5F8DD39AFD}"/>
              </a:ext>
            </a:extLst>
          </p:cNvPr>
          <p:cNvSpPr/>
          <p:nvPr/>
        </p:nvSpPr>
        <p:spPr>
          <a:xfrm>
            <a:off x="5094007" y="7302834"/>
            <a:ext cx="1659429" cy="369332"/>
          </a:xfrm>
          <a:prstGeom prst="rect">
            <a:avLst/>
          </a:prstGeom>
        </p:spPr>
        <p:txBody>
          <a:bodyPr wrap="none">
            <a:spAutoFit/>
          </a:bodyPr>
          <a:lstStyle/>
          <a:p>
            <a:r>
              <a:rPr lang="en-US" b="1" dirty="0">
                <a:solidFill>
                  <a:schemeClr val="bg1"/>
                </a:solidFill>
              </a:rPr>
              <a:t>Introduction </a:t>
            </a:r>
            <a:endParaRPr lang="en-IN" b="1" dirty="0">
              <a:solidFill>
                <a:schemeClr val="bg1"/>
              </a:solidFill>
            </a:endParaRPr>
          </a:p>
        </p:txBody>
      </p:sp>
      <p:sp>
        <p:nvSpPr>
          <p:cNvPr id="7" name="TextBox 6">
            <a:extLst>
              <a:ext uri="{FF2B5EF4-FFF2-40B4-BE49-F238E27FC236}">
                <a16:creationId xmlns:a16="http://schemas.microsoft.com/office/drawing/2014/main" id="{BF72E179-04E8-FA18-DC2F-DFC9A2C399A3}"/>
              </a:ext>
            </a:extLst>
          </p:cNvPr>
          <p:cNvSpPr txBox="1"/>
          <p:nvPr/>
        </p:nvSpPr>
        <p:spPr>
          <a:xfrm>
            <a:off x="3223190" y="2025340"/>
            <a:ext cx="4391891" cy="1569660"/>
          </a:xfrm>
          <a:prstGeom prst="rect">
            <a:avLst/>
          </a:prstGeom>
          <a:noFill/>
        </p:spPr>
        <p:txBody>
          <a:bodyPr wrap="square" rtlCol="0">
            <a:spAutoFit/>
          </a:bodyPr>
          <a:lstStyle/>
          <a:p>
            <a:r>
              <a:rPr lang="en-US" sz="9600" b="1" dirty="0">
                <a:solidFill>
                  <a:srgbClr val="FFC000"/>
                </a:solidFill>
              </a:rPr>
              <a:t>YOGA</a:t>
            </a:r>
            <a:endParaRPr lang="en-IN" sz="9600" b="1" dirty="0">
              <a:solidFill>
                <a:srgbClr val="FFC000"/>
              </a:solidFill>
            </a:endParaRPr>
          </a:p>
        </p:txBody>
      </p:sp>
      <p:sp>
        <p:nvSpPr>
          <p:cNvPr id="9" name="TextBox 8">
            <a:extLst>
              <a:ext uri="{FF2B5EF4-FFF2-40B4-BE49-F238E27FC236}">
                <a16:creationId xmlns:a16="http://schemas.microsoft.com/office/drawing/2014/main" id="{704ABC94-F32D-B982-E6E8-A9DC58C6ACAB}"/>
              </a:ext>
            </a:extLst>
          </p:cNvPr>
          <p:cNvSpPr txBox="1"/>
          <p:nvPr/>
        </p:nvSpPr>
        <p:spPr>
          <a:xfrm>
            <a:off x="257811" y="3681123"/>
            <a:ext cx="8648928"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Mind body practice for health, flexibility, relaxation, and spiritual connection</a:t>
            </a:r>
            <a:endParaRPr lang="en-IN" sz="2000" dirty="0">
              <a:latin typeface="Arial" panose="020B0604020202020204" pitchFamily="34" charset="0"/>
              <a:cs typeface="Arial" panose="020B0604020202020204" pitchFamily="34" charset="0"/>
            </a:endParaRPr>
          </a:p>
        </p:txBody>
      </p:sp>
      <p:pic>
        <p:nvPicPr>
          <p:cNvPr id="12" name="Picture 11" descr="A cartoon of a child doing yoga&#10;&#10;AI-generated content may be incorrect.">
            <a:extLst>
              <a:ext uri="{FF2B5EF4-FFF2-40B4-BE49-F238E27FC236}">
                <a16:creationId xmlns:a16="http://schemas.microsoft.com/office/drawing/2014/main" id="{91929829-CACF-9EB8-709F-459F7BA57863}"/>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6286" b="91429" l="9886" r="89734">
                        <a14:foregroundMark x1="50951" y1="6857" x2="50951" y2="6857"/>
                        <a14:backgroundMark x1="57034" y1="91143" x2="57034" y2="91143"/>
                        <a14:backgroundMark x1="57034" y1="91143" x2="57034" y2="91143"/>
                        <a14:backgroundMark x1="29278" y1="89429" x2="20913" y2="97714"/>
                        <a14:backgroundMark x1="69582" y1="92286" x2="74905" y2="91714"/>
                        <a14:backgroundMark x1="49430" y1="91143" x2="63498" y2="91143"/>
                      </a14:backgroundRemoval>
                    </a14:imgEffect>
                  </a14:imgLayer>
                </a14:imgProps>
              </a:ext>
              <a:ext uri="{28A0092B-C50C-407E-A947-70E740481C1C}">
                <a14:useLocalDpi xmlns:a14="http://schemas.microsoft.com/office/drawing/2010/main" val="0"/>
              </a:ext>
            </a:extLst>
          </a:blip>
          <a:stretch>
            <a:fillRect/>
          </a:stretch>
        </p:blipFill>
        <p:spPr>
          <a:xfrm>
            <a:off x="5921016" y="1985941"/>
            <a:ext cx="900546" cy="1336802"/>
          </a:xfrm>
          <a:prstGeom prst="rect">
            <a:avLst/>
          </a:prstGeom>
        </p:spPr>
      </p:pic>
      <p:pic>
        <p:nvPicPr>
          <p:cNvPr id="16" name="Picture 15" descr="A person in yoga pose&#10;&#10;AI-generated content may be incorrect.">
            <a:extLst>
              <a:ext uri="{FF2B5EF4-FFF2-40B4-BE49-F238E27FC236}">
                <a16:creationId xmlns:a16="http://schemas.microsoft.com/office/drawing/2014/main" id="{5E0FE5AE-B878-26A7-D619-7346662D913B}"/>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4286" b="94286" l="9877" r="89712">
                        <a14:foregroundMark x1="47325" y1="4286" x2="47325" y2="4286"/>
                        <a14:foregroundMark x1="51852" y1="94286" x2="51852" y2="94286"/>
                      </a14:backgroundRemoval>
                    </a14:imgEffect>
                  </a14:imgLayer>
                </a14:imgProps>
              </a:ext>
              <a:ext uri="{28A0092B-C50C-407E-A947-70E740481C1C}">
                <a14:useLocalDpi xmlns:a14="http://schemas.microsoft.com/office/drawing/2010/main" val="0"/>
              </a:ext>
            </a:extLst>
          </a:blip>
          <a:stretch>
            <a:fillRect/>
          </a:stretch>
        </p:blipFill>
        <p:spPr>
          <a:xfrm>
            <a:off x="2133793" y="1579070"/>
            <a:ext cx="1449959" cy="1769918"/>
          </a:xfrm>
          <a:prstGeom prst="rect">
            <a:avLst/>
          </a:prstGeom>
        </p:spPr>
      </p:pic>
      <p:pic>
        <p:nvPicPr>
          <p:cNvPr id="18" name="Picture 17" descr="A cartoon of a child meditating&#10;&#10;AI-generated content may be incorrect.">
            <a:extLst>
              <a:ext uri="{FF2B5EF4-FFF2-40B4-BE49-F238E27FC236}">
                <a16:creationId xmlns:a16="http://schemas.microsoft.com/office/drawing/2014/main" id="{18826972-1F10-645C-FDE5-21E6275802A6}"/>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3901353" y="2476205"/>
            <a:ext cx="776126" cy="684896"/>
          </a:xfrm>
          <a:prstGeom prst="rect">
            <a:avLst/>
          </a:prstGeom>
        </p:spPr>
      </p:pic>
      <p:pic>
        <p:nvPicPr>
          <p:cNvPr id="20" name="Picture 19" descr="A person doing yoga&#10;&#10;AI-generated content may be incorrect.">
            <a:extLst>
              <a:ext uri="{FF2B5EF4-FFF2-40B4-BE49-F238E27FC236}">
                <a16:creationId xmlns:a16="http://schemas.microsoft.com/office/drawing/2014/main" id="{2F6E0956-33C1-DEE8-10CA-C294D7745013}"/>
              </a:ext>
            </a:extLst>
          </p:cNvPr>
          <p:cNvPicPr>
            <a:picLocks noChangeAspect="1"/>
          </p:cNvPicPr>
          <p:nvPr/>
        </p:nvPicPr>
        <p:blipFill>
          <a:blip r:embed="rId12">
            <a:extLst>
              <a:ext uri="{BEBA8EAE-BF5A-486C-A8C5-ECC9F3942E4B}">
                <a14:imgProps xmlns:a14="http://schemas.microsoft.com/office/drawing/2010/main">
                  <a14:imgLayer r:embed="rId13">
                    <a14:imgEffect>
                      <a14:backgroundRemoval t="8286" b="92286" l="9905" r="89905">
                        <a14:foregroundMark x1="45524" y1="8286" x2="45524" y2="8286"/>
                        <a14:foregroundMark x1="64190" y1="92286" x2="64190" y2="92286"/>
                      </a14:backgroundRemoval>
                    </a14:imgEffect>
                  </a14:imgLayer>
                </a14:imgProps>
              </a:ext>
              <a:ext uri="{28A0092B-C50C-407E-A947-70E740481C1C}">
                <a14:useLocalDpi xmlns:a14="http://schemas.microsoft.com/office/drawing/2010/main" val="0"/>
              </a:ext>
            </a:extLst>
          </a:blip>
          <a:stretch>
            <a:fillRect/>
          </a:stretch>
        </p:blipFill>
        <p:spPr>
          <a:xfrm>
            <a:off x="4659595" y="1772437"/>
            <a:ext cx="1153165" cy="748920"/>
          </a:xfrm>
          <a:prstGeom prst="rect">
            <a:avLst/>
          </a:prstGeom>
        </p:spPr>
      </p:pic>
      <p:pic>
        <p:nvPicPr>
          <p:cNvPr id="21" name="Picture 20" descr="A person doing yoga&#10;&#10;AI-generated content may be incorrect.">
            <a:extLst>
              <a:ext uri="{FF2B5EF4-FFF2-40B4-BE49-F238E27FC236}">
                <a16:creationId xmlns:a16="http://schemas.microsoft.com/office/drawing/2014/main" id="{D1918B02-D10B-431B-4F2D-5E9473BF44AC}"/>
              </a:ext>
            </a:extLst>
          </p:cNvPr>
          <p:cNvPicPr>
            <a:picLocks noChangeAspect="1"/>
          </p:cNvPicPr>
          <p:nvPr/>
        </p:nvPicPr>
        <p:blipFill>
          <a:blip r:embed="rId14">
            <a:extLst>
              <a:ext uri="{BEBA8EAE-BF5A-486C-A8C5-ECC9F3942E4B}">
                <a14:imgProps xmlns:a14="http://schemas.microsoft.com/office/drawing/2010/main">
                  <a14:imgLayer r:embed="rId15">
                    <a14:imgEffect>
                      <a14:backgroundRemoval t="10000" b="90000" l="10000" r="90000">
                        <a14:foregroundMark x1="32000" y1="48500" x2="32000" y2="48500"/>
                        <a14:foregroundMark x1="30250" y1="61667" x2="30250" y2="61667"/>
                        <a14:foregroundMark x1="68250" y1="57250" x2="68250" y2="57250"/>
                        <a14:foregroundMark x1="64667" y1="86750" x2="64667" y2="86750"/>
                        <a14:backgroundMark x1="47667" y1="68083" x2="47667" y2="68083"/>
                        <a14:backgroundMark x1="52250" y1="59333" x2="52250" y2="59333"/>
                        <a14:backgroundMark x1="56500" y1="32333" x2="56500" y2="32333"/>
                        <a14:backgroundMark x1="51417" y1="32000" x2="51417" y2="32000"/>
                        <a14:backgroundMark x1="56833" y1="31500" x2="56833" y2="31500"/>
                        <a14:backgroundMark x1="56833" y1="31000" x2="56833" y2="31000"/>
                        <a14:backgroundMark x1="51000" y1="31000" x2="51000" y2="31000"/>
                        <a14:backgroundMark x1="57250" y1="25750" x2="57250" y2="25750"/>
                      </a14:backgroundRemoval>
                    </a14:imgEffect>
                  </a14:imgLayer>
                </a14:imgProps>
              </a:ext>
              <a:ext uri="{28A0092B-C50C-407E-A947-70E740481C1C}">
                <a14:useLocalDpi xmlns:a14="http://schemas.microsoft.com/office/drawing/2010/main" val="0"/>
              </a:ext>
            </a:extLst>
          </a:blip>
          <a:stretch>
            <a:fillRect/>
          </a:stretch>
        </p:blipFill>
        <p:spPr>
          <a:xfrm>
            <a:off x="-5153459" y="796628"/>
            <a:ext cx="5454546" cy="5523875"/>
          </a:xfrm>
          <a:prstGeom prst="rect">
            <a:avLst/>
          </a:prstGeom>
        </p:spPr>
      </p:pic>
      <p:sp>
        <p:nvSpPr>
          <p:cNvPr id="22" name="TextBox 21">
            <a:extLst>
              <a:ext uri="{FF2B5EF4-FFF2-40B4-BE49-F238E27FC236}">
                <a16:creationId xmlns:a16="http://schemas.microsoft.com/office/drawing/2014/main" id="{5E8C50FC-EE78-F8D7-2DEF-6200E913BE62}"/>
              </a:ext>
            </a:extLst>
          </p:cNvPr>
          <p:cNvSpPr txBox="1"/>
          <p:nvPr/>
        </p:nvSpPr>
        <p:spPr>
          <a:xfrm>
            <a:off x="-7073791" y="599607"/>
            <a:ext cx="7141114" cy="1323439"/>
          </a:xfrm>
          <a:prstGeom prst="rect">
            <a:avLst/>
          </a:prstGeom>
          <a:noFill/>
        </p:spPr>
        <p:txBody>
          <a:bodyPr wrap="square" rtlCol="0">
            <a:spAutoFit/>
          </a:bodyPr>
          <a:lstStyle/>
          <a:p>
            <a:r>
              <a:rPr lang="en-US" sz="8000" dirty="0">
                <a:solidFill>
                  <a:srgbClr val="D46112"/>
                </a:solidFill>
                <a:latin typeface="Algerian" panose="04020705040A02060702" pitchFamily="82" charset="0"/>
              </a:rPr>
              <a:t>INTRODUCTION</a:t>
            </a:r>
            <a:endParaRPr lang="en-IN" sz="8000" dirty="0">
              <a:solidFill>
                <a:srgbClr val="D46112"/>
              </a:solidFill>
              <a:latin typeface="Algerian" panose="04020705040A02060702" pitchFamily="82" charset="0"/>
            </a:endParaRPr>
          </a:p>
        </p:txBody>
      </p:sp>
      <p:pic>
        <p:nvPicPr>
          <p:cNvPr id="23" name="Picture 22" descr="A yellow background with a black and white image&#10;&#10;AI-generated content may be incorrect.">
            <a:extLst>
              <a:ext uri="{FF2B5EF4-FFF2-40B4-BE49-F238E27FC236}">
                <a16:creationId xmlns:a16="http://schemas.microsoft.com/office/drawing/2014/main" id="{F240203D-9A06-4667-4BE8-0D1778798135}"/>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008890" y="-4640570"/>
            <a:ext cx="8580072" cy="4247667"/>
          </a:xfrm>
          <a:prstGeom prst="rect">
            <a:avLst/>
          </a:prstGeom>
        </p:spPr>
      </p:pic>
    </p:spTree>
    <p:extLst>
      <p:ext uri="{BB962C8B-B14F-4D97-AF65-F5344CB8AC3E}">
        <p14:creationId xmlns:p14="http://schemas.microsoft.com/office/powerpoint/2010/main" val="34419221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4" presetClass="path" presetSubtype="0" repeatCount="indefinite" accel="50000" decel="50000" autoRev="1" fill="hold" nodeType="withEffect">
                                  <p:stCondLst>
                                    <p:cond delay="0"/>
                                  </p:stCondLst>
                                  <p:childTnLst>
                                    <p:animMotion origin="layout" path="M -3.75E-6 4.44444E-6 L -3.75E-6 -0.25 " pathEditMode="relative" rAng="0" ptsTypes="AA">
                                      <p:cBhvr>
                                        <p:cTn id="6" dur="2000" fill="hold"/>
                                        <p:tgtEl>
                                          <p:spTgt spid="8"/>
                                        </p:tgtEl>
                                        <p:attrNameLst>
                                          <p:attrName>ppt_x</p:attrName>
                                          <p:attrName>ppt_y</p:attrName>
                                        </p:attrNameLst>
                                      </p:cBhvr>
                                      <p:rCtr x="0" y="-12500"/>
                                    </p:animMotion>
                                  </p:childTnLst>
                                </p:cTn>
                              </p:par>
                              <p:par>
                                <p:cTn id="7" presetID="6" presetClass="emph" presetSubtype="0" repeatCount="indefinite" accel="50000" decel="43000" autoRev="1" fill="hold" nodeType="withEffect">
                                  <p:stCondLst>
                                    <p:cond delay="0"/>
                                  </p:stCondLst>
                                  <p:childTnLst>
                                    <p:animScale>
                                      <p:cBhvr>
                                        <p:cTn id="8" dur="2000" fill="hold"/>
                                        <p:tgtEl>
                                          <p:spTgt spid="10"/>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descr="A yellow background with a black and white image&#10;&#10;AI-generated content may be incorrect.">
            <a:extLst>
              <a:ext uri="{FF2B5EF4-FFF2-40B4-BE49-F238E27FC236}">
                <a16:creationId xmlns:a16="http://schemas.microsoft.com/office/drawing/2014/main" id="{CBF313B5-B3C1-9BA4-5A3D-7B8D516677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2767" y="1763401"/>
            <a:ext cx="8580072" cy="4247667"/>
          </a:xfrm>
          <a:prstGeom prst="rect">
            <a:avLst/>
          </a:prstGeom>
        </p:spPr>
      </p:pic>
      <p:sp>
        <p:nvSpPr>
          <p:cNvPr id="20" name="Rectangle 19">
            <a:extLst>
              <a:ext uri="{FF2B5EF4-FFF2-40B4-BE49-F238E27FC236}">
                <a16:creationId xmlns:a16="http://schemas.microsoft.com/office/drawing/2014/main" id="{E782398D-FFCC-4444-B65F-939977109F11}"/>
              </a:ext>
            </a:extLst>
          </p:cNvPr>
          <p:cNvSpPr/>
          <p:nvPr/>
        </p:nvSpPr>
        <p:spPr>
          <a:xfrm>
            <a:off x="-5331912" y="2451629"/>
            <a:ext cx="6096000" cy="1754326"/>
          </a:xfrm>
          <a:prstGeom prst="rect">
            <a:avLst/>
          </a:prstGeom>
        </p:spPr>
        <p:txBody>
          <a:bodyPr>
            <a:spAutoFit/>
          </a:bodyPr>
          <a:lstStyle/>
          <a:p>
            <a:r>
              <a:rPr lang="en-US" dirty="0"/>
              <a:t>According to </a:t>
            </a:r>
            <a:r>
              <a:rPr lang="en-US" dirty="0" err="1"/>
              <a:t>Yogasutra</a:t>
            </a:r>
            <a:r>
              <a:rPr lang="en-US" dirty="0"/>
              <a:t> of Patanjali </a:t>
            </a:r>
          </a:p>
          <a:p>
            <a:r>
              <a:rPr lang="en-US" dirty="0"/>
              <a:t>‘Yoga is restraint of the activities of the mind’.</a:t>
            </a:r>
          </a:p>
          <a:p>
            <a:endParaRPr lang="en-US" dirty="0"/>
          </a:p>
          <a:p>
            <a:r>
              <a:rPr lang="en-US" dirty="0"/>
              <a:t>According to Bhagavad-Gita Yoga:</a:t>
            </a:r>
          </a:p>
          <a:p>
            <a:r>
              <a:rPr lang="en-US" dirty="0"/>
              <a:t>‘Evenness (of mind) is Yoga’ (2/48)</a:t>
            </a:r>
          </a:p>
          <a:p>
            <a:r>
              <a:rPr lang="en-US" dirty="0"/>
              <a:t>‘Yoga is Skillfulness in Action’.</a:t>
            </a:r>
          </a:p>
        </p:txBody>
      </p:sp>
      <p:sp>
        <p:nvSpPr>
          <p:cNvPr id="22" name="Title 1">
            <a:extLst>
              <a:ext uri="{FF2B5EF4-FFF2-40B4-BE49-F238E27FC236}">
                <a16:creationId xmlns:a16="http://schemas.microsoft.com/office/drawing/2014/main" id="{FF40F94F-B147-4261-9717-5953A062BB8E}"/>
              </a:ext>
            </a:extLst>
          </p:cNvPr>
          <p:cNvSpPr>
            <a:spLocks noGrp="1"/>
          </p:cNvSpPr>
          <p:nvPr>
            <p:ph type="ctrTitle"/>
          </p:nvPr>
        </p:nvSpPr>
        <p:spPr>
          <a:xfrm>
            <a:off x="-9506678" y="-689191"/>
            <a:ext cx="9001462" cy="2387600"/>
          </a:xfrm>
        </p:spPr>
        <p:txBody>
          <a:bodyPr/>
          <a:lstStyle/>
          <a:p>
            <a:r>
              <a:rPr lang="en-US" dirty="0">
                <a:solidFill>
                  <a:schemeClr val="accent2">
                    <a:lumMod val="75000"/>
                  </a:schemeClr>
                </a:solidFill>
                <a:latin typeface="Algerian" panose="04020705040A02060702" pitchFamily="82" charset="0"/>
              </a:rPr>
              <a:t>Definition of Yoga</a:t>
            </a:r>
            <a:endParaRPr lang="en-IN" dirty="0">
              <a:solidFill>
                <a:schemeClr val="accent2">
                  <a:lumMod val="75000"/>
                </a:schemeClr>
              </a:solidFill>
              <a:latin typeface="Algerian" panose="04020705040A02060702" pitchFamily="82" charset="0"/>
            </a:endParaRPr>
          </a:p>
        </p:txBody>
      </p:sp>
      <p:pic>
        <p:nvPicPr>
          <p:cNvPr id="23" name="Picture 22">
            <a:extLst>
              <a:ext uri="{FF2B5EF4-FFF2-40B4-BE49-F238E27FC236}">
                <a16:creationId xmlns:a16="http://schemas.microsoft.com/office/drawing/2014/main" id="{01DF4832-9080-45A2-843A-85B3EE044EA5}"/>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2192000" y="2024086"/>
            <a:ext cx="3631095" cy="3422375"/>
          </a:xfrm>
          <a:prstGeom prst="rect">
            <a:avLst/>
          </a:prstGeom>
        </p:spPr>
      </p:pic>
      <p:pic>
        <p:nvPicPr>
          <p:cNvPr id="19" name="Picture 18" descr="A person doing yoga&#10;&#10;AI-generated content may be incorrect.">
            <a:extLst>
              <a:ext uri="{FF2B5EF4-FFF2-40B4-BE49-F238E27FC236}">
                <a16:creationId xmlns:a16="http://schemas.microsoft.com/office/drawing/2014/main" id="{E4FA2F93-5DEF-7A5D-DD83-B3B562C6BA50}"/>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2000" y1="48500" x2="32000" y2="48500"/>
                        <a14:foregroundMark x1="30250" y1="61667" x2="30250" y2="61667"/>
                        <a14:foregroundMark x1="68250" y1="57250" x2="68250" y2="57250"/>
                        <a14:foregroundMark x1="64667" y1="86750" x2="64667" y2="86750"/>
                        <a14:backgroundMark x1="47667" y1="68083" x2="47667" y2="68083"/>
                        <a14:backgroundMark x1="52250" y1="59333" x2="52250" y2="59333"/>
                        <a14:backgroundMark x1="56500" y1="32333" x2="56500" y2="32333"/>
                        <a14:backgroundMark x1="51417" y1="32000" x2="51417" y2="32000"/>
                        <a14:backgroundMark x1="56833" y1="31500" x2="56833" y2="31500"/>
                        <a14:backgroundMark x1="56833" y1="31000" x2="56833" y2="31000"/>
                        <a14:backgroundMark x1="51000" y1="31000" x2="51000" y2="31000"/>
                        <a14:backgroundMark x1="57250" y1="25750" x2="57250" y2="25750"/>
                      </a14:backgroundRemoval>
                    </a14:imgEffect>
                  </a14:imgLayer>
                </a14:imgProps>
              </a:ext>
              <a:ext uri="{28A0092B-C50C-407E-A947-70E740481C1C}">
                <a14:useLocalDpi xmlns:a14="http://schemas.microsoft.com/office/drawing/2010/main" val="0"/>
              </a:ext>
            </a:extLst>
          </a:blip>
          <a:stretch>
            <a:fillRect/>
          </a:stretch>
        </p:blipFill>
        <p:spPr>
          <a:xfrm>
            <a:off x="-1448113" y="1144224"/>
            <a:ext cx="5454546" cy="5523875"/>
          </a:xfrm>
          <a:prstGeom prst="rect">
            <a:avLst/>
          </a:prstGeom>
        </p:spPr>
      </p:pic>
      <p:sp>
        <p:nvSpPr>
          <p:cNvPr id="27" name="TextBox 26">
            <a:extLst>
              <a:ext uri="{FF2B5EF4-FFF2-40B4-BE49-F238E27FC236}">
                <a16:creationId xmlns:a16="http://schemas.microsoft.com/office/drawing/2014/main" id="{09BCB2A0-FF27-08DF-127E-3D70A20E115C}"/>
              </a:ext>
            </a:extLst>
          </p:cNvPr>
          <p:cNvSpPr txBox="1"/>
          <p:nvPr/>
        </p:nvSpPr>
        <p:spPr>
          <a:xfrm>
            <a:off x="2747846" y="2423244"/>
            <a:ext cx="7959777" cy="3385542"/>
          </a:xfrm>
          <a:prstGeom prst="rect">
            <a:avLst/>
          </a:prstGeom>
          <a:noFill/>
        </p:spPr>
        <p:txBody>
          <a:bodyPr wrap="square" rtlCol="0">
            <a:spAutoFit/>
          </a:bodyPr>
          <a:lstStyle/>
          <a:p>
            <a:r>
              <a:rPr lang="en-US" sz="2800" dirty="0"/>
              <a:t>Yoga is an ancient holistic discipline from India designed to harmonize the mind ,body , and spirit through physical poses (asanas), breathing techniques (pranayama),  and meditation. Derived from the Sanskrit root “</a:t>
            </a:r>
            <a:r>
              <a:rPr lang="en-US" sz="2800" dirty="0" err="1"/>
              <a:t>yuj</a:t>
            </a:r>
            <a:r>
              <a:rPr lang="en-US" sz="2800" dirty="0"/>
              <a:t>” (to yoke or unite), it aims to unite individual consciousness with universal consciousness. </a:t>
            </a:r>
            <a:endParaRPr lang="en-IN" sz="2800" dirty="0"/>
          </a:p>
          <a:p>
            <a:endParaRPr lang="en-IN" dirty="0"/>
          </a:p>
        </p:txBody>
      </p:sp>
      <p:sp>
        <p:nvSpPr>
          <p:cNvPr id="28" name="TextBox 27">
            <a:extLst>
              <a:ext uri="{FF2B5EF4-FFF2-40B4-BE49-F238E27FC236}">
                <a16:creationId xmlns:a16="http://schemas.microsoft.com/office/drawing/2014/main" id="{11F7E0CC-F09C-2759-74A5-33E98F8FCE58}"/>
              </a:ext>
            </a:extLst>
          </p:cNvPr>
          <p:cNvSpPr txBox="1"/>
          <p:nvPr/>
        </p:nvSpPr>
        <p:spPr>
          <a:xfrm>
            <a:off x="3147935" y="504609"/>
            <a:ext cx="7141114" cy="1323439"/>
          </a:xfrm>
          <a:prstGeom prst="rect">
            <a:avLst/>
          </a:prstGeom>
          <a:noFill/>
        </p:spPr>
        <p:txBody>
          <a:bodyPr wrap="square" rtlCol="0">
            <a:spAutoFit/>
          </a:bodyPr>
          <a:lstStyle/>
          <a:p>
            <a:r>
              <a:rPr lang="en-US" sz="8000" dirty="0">
                <a:solidFill>
                  <a:srgbClr val="D46112"/>
                </a:solidFill>
                <a:latin typeface="Algerian" panose="04020705040A02060702" pitchFamily="82" charset="0"/>
              </a:rPr>
              <a:t>INTRODUCTION</a:t>
            </a:r>
            <a:endParaRPr lang="en-IN" sz="8000" dirty="0">
              <a:solidFill>
                <a:srgbClr val="D46112"/>
              </a:solidFill>
              <a:latin typeface="Algerian" panose="04020705040A02060702" pitchFamily="82" charset="0"/>
            </a:endParaRPr>
          </a:p>
        </p:txBody>
      </p:sp>
    </p:spTree>
    <p:extLst>
      <p:ext uri="{BB962C8B-B14F-4D97-AF65-F5344CB8AC3E}">
        <p14:creationId xmlns:p14="http://schemas.microsoft.com/office/powerpoint/2010/main" val="24665491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yellow background with a black and white image&#10;&#10;AI-generated content may be incorrect.">
            <a:extLst>
              <a:ext uri="{FF2B5EF4-FFF2-40B4-BE49-F238E27FC236}">
                <a16:creationId xmlns:a16="http://schemas.microsoft.com/office/drawing/2014/main" id="{C67F09CD-7F89-6F06-A6CC-A387E108BA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862" y="1689315"/>
            <a:ext cx="8103815" cy="4785540"/>
          </a:xfrm>
          <a:prstGeom prst="rect">
            <a:avLst/>
          </a:prstGeom>
        </p:spPr>
      </p:pic>
      <p:sp>
        <p:nvSpPr>
          <p:cNvPr id="2" name="Title 1">
            <a:extLst>
              <a:ext uri="{FF2B5EF4-FFF2-40B4-BE49-F238E27FC236}">
                <a16:creationId xmlns:a16="http://schemas.microsoft.com/office/drawing/2014/main" id="{BA90E0AF-D34D-4045-BEC7-B7747E3A9D6A}"/>
              </a:ext>
            </a:extLst>
          </p:cNvPr>
          <p:cNvSpPr>
            <a:spLocks noGrp="1"/>
          </p:cNvSpPr>
          <p:nvPr>
            <p:ph type="ctrTitle"/>
          </p:nvPr>
        </p:nvSpPr>
        <p:spPr>
          <a:xfrm>
            <a:off x="1616464" y="383145"/>
            <a:ext cx="9001462" cy="1048841"/>
          </a:xfrm>
        </p:spPr>
        <p:txBody>
          <a:bodyPr/>
          <a:lstStyle/>
          <a:p>
            <a:r>
              <a:rPr lang="en-US" dirty="0">
                <a:solidFill>
                  <a:schemeClr val="accent2">
                    <a:lumMod val="75000"/>
                  </a:schemeClr>
                </a:solidFill>
                <a:latin typeface="Algerian" panose="04020705040A02060702" pitchFamily="82" charset="0"/>
              </a:rPr>
              <a:t>Definition of Yoga</a:t>
            </a:r>
            <a:endParaRPr lang="en-IN" dirty="0">
              <a:solidFill>
                <a:schemeClr val="accent2">
                  <a:lumMod val="75000"/>
                </a:schemeClr>
              </a:solidFill>
              <a:latin typeface="Algerian" panose="04020705040A02060702" pitchFamily="82" charset="0"/>
            </a:endParaRPr>
          </a:p>
        </p:txBody>
      </p:sp>
      <p:pic>
        <p:nvPicPr>
          <p:cNvPr id="9" name="Picture 8">
            <a:extLst>
              <a:ext uri="{FF2B5EF4-FFF2-40B4-BE49-F238E27FC236}">
                <a16:creationId xmlns:a16="http://schemas.microsoft.com/office/drawing/2014/main" id="{80ECCF50-2FB1-4D43-A7B9-868CA68D3A1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8467446" y="2370897"/>
            <a:ext cx="3631095" cy="3422375"/>
          </a:xfrm>
          <a:prstGeom prst="rect">
            <a:avLst/>
          </a:prstGeom>
        </p:spPr>
      </p:pic>
      <p:sp>
        <p:nvSpPr>
          <p:cNvPr id="6" name="Rectangle 5">
            <a:extLst>
              <a:ext uri="{FF2B5EF4-FFF2-40B4-BE49-F238E27FC236}">
                <a16:creationId xmlns:a16="http://schemas.microsoft.com/office/drawing/2014/main" id="{F3B651C1-6E77-48BB-8272-40A1CB08A1EC}"/>
              </a:ext>
            </a:extLst>
          </p:cNvPr>
          <p:cNvSpPr/>
          <p:nvPr/>
        </p:nvSpPr>
        <p:spPr>
          <a:xfrm>
            <a:off x="1065944" y="1916237"/>
            <a:ext cx="7563173" cy="4401205"/>
          </a:xfrm>
          <a:prstGeom prst="rect">
            <a:avLst/>
          </a:prstGeom>
        </p:spPr>
        <p:txBody>
          <a:bodyPr wrap="square">
            <a:spAutoFit/>
          </a:bodyPr>
          <a:lstStyle/>
          <a:p>
            <a:r>
              <a:rPr lang="en-US" sz="4000" dirty="0"/>
              <a:t>According to </a:t>
            </a:r>
            <a:r>
              <a:rPr lang="en-US" sz="4000" dirty="0" err="1"/>
              <a:t>Yogasutra</a:t>
            </a:r>
            <a:r>
              <a:rPr lang="en-US" sz="4000" dirty="0"/>
              <a:t> of Patanjali ‘Yoga is restraint of the activities of the mind’.</a:t>
            </a:r>
          </a:p>
          <a:p>
            <a:endParaRPr lang="en-US" sz="4000" dirty="0"/>
          </a:p>
          <a:p>
            <a:r>
              <a:rPr lang="en-US" sz="4000" dirty="0"/>
              <a:t>According to Bhagavad-Gita Yoga:</a:t>
            </a:r>
          </a:p>
          <a:p>
            <a:r>
              <a:rPr lang="en-US" sz="4000" dirty="0"/>
              <a:t>‘Evenness (of mind) is Yoga’ (2/48)</a:t>
            </a:r>
          </a:p>
          <a:p>
            <a:r>
              <a:rPr lang="en-US" sz="4000" dirty="0"/>
              <a:t>‘Yoga is Skillfulness in Action’.</a:t>
            </a:r>
          </a:p>
        </p:txBody>
      </p:sp>
      <p:sp>
        <p:nvSpPr>
          <p:cNvPr id="11" name="Oval 10">
            <a:extLst>
              <a:ext uri="{FF2B5EF4-FFF2-40B4-BE49-F238E27FC236}">
                <a16:creationId xmlns:a16="http://schemas.microsoft.com/office/drawing/2014/main" id="{B7758B87-9984-4D6A-A131-994309B9ADB8}"/>
              </a:ext>
            </a:extLst>
          </p:cNvPr>
          <p:cNvSpPr/>
          <p:nvPr/>
        </p:nvSpPr>
        <p:spPr>
          <a:xfrm>
            <a:off x="-9204602" y="-163098"/>
            <a:ext cx="7240045" cy="7753611"/>
          </a:xfrm>
          <a:prstGeom prst="ellipse">
            <a:avLst/>
          </a:prstGeom>
          <a:solidFill>
            <a:srgbClr val="F197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5478EFD7-B1E9-45BF-AA5E-E412865C8C15}"/>
              </a:ext>
            </a:extLst>
          </p:cNvPr>
          <p:cNvSpPr txBox="1"/>
          <p:nvPr/>
        </p:nvSpPr>
        <p:spPr>
          <a:xfrm>
            <a:off x="-6637183" y="1175661"/>
            <a:ext cx="3569676" cy="4154984"/>
          </a:xfrm>
          <a:prstGeom prst="rect">
            <a:avLst/>
          </a:prstGeom>
          <a:noFill/>
        </p:spPr>
        <p:txBody>
          <a:bodyPr wrap="square" rtlCol="0">
            <a:spAutoFit/>
          </a:bodyPr>
          <a:lstStyle/>
          <a:p>
            <a:r>
              <a:rPr lang="en-US" sz="6600" dirty="0">
                <a:latin typeface="Algerian" panose="04020705040A02060702" pitchFamily="82" charset="0"/>
              </a:rPr>
              <a:t>Types of yoga asanas</a:t>
            </a:r>
            <a:endParaRPr lang="en-IN" sz="6600" dirty="0">
              <a:latin typeface="Algerian" panose="04020705040A02060702" pitchFamily="82" charset="0"/>
            </a:endParaRPr>
          </a:p>
        </p:txBody>
      </p:sp>
      <p:pic>
        <p:nvPicPr>
          <p:cNvPr id="13" name="Picture 12">
            <a:extLst>
              <a:ext uri="{FF2B5EF4-FFF2-40B4-BE49-F238E27FC236}">
                <a16:creationId xmlns:a16="http://schemas.microsoft.com/office/drawing/2014/main" id="{B4A23BCE-CF58-4EE1-B799-DA69C10E7B57}"/>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5148558" y="-2191660"/>
            <a:ext cx="2617217" cy="2028562"/>
          </a:xfrm>
          <a:prstGeom prst="rect">
            <a:avLst/>
          </a:prstGeom>
        </p:spPr>
      </p:pic>
      <p:pic>
        <p:nvPicPr>
          <p:cNvPr id="14" name="Picture 13">
            <a:extLst>
              <a:ext uri="{FF2B5EF4-FFF2-40B4-BE49-F238E27FC236}">
                <a16:creationId xmlns:a16="http://schemas.microsoft.com/office/drawing/2014/main" id="{64A332D0-17D8-4C69-AAFE-A6DFF6740EF3}"/>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8831189" y="-2437933"/>
            <a:ext cx="2903610" cy="2028562"/>
          </a:xfrm>
          <a:prstGeom prst="rect">
            <a:avLst/>
          </a:prstGeom>
        </p:spPr>
      </p:pic>
      <p:pic>
        <p:nvPicPr>
          <p:cNvPr id="15" name="Picture 14">
            <a:extLst>
              <a:ext uri="{FF2B5EF4-FFF2-40B4-BE49-F238E27FC236}">
                <a16:creationId xmlns:a16="http://schemas.microsoft.com/office/drawing/2014/main" id="{91033A6A-F69B-4910-B723-66863F2DE3AE}"/>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4360508" y="7228909"/>
            <a:ext cx="2617217" cy="2204407"/>
          </a:xfrm>
          <a:prstGeom prst="rect">
            <a:avLst/>
          </a:prstGeom>
        </p:spPr>
      </p:pic>
      <p:pic>
        <p:nvPicPr>
          <p:cNvPr id="16" name="Picture 15">
            <a:extLst>
              <a:ext uri="{FF2B5EF4-FFF2-40B4-BE49-F238E27FC236}">
                <a16:creationId xmlns:a16="http://schemas.microsoft.com/office/drawing/2014/main" id="{EDAED5C7-186B-42E4-A7E0-D9E1A4DA125F}"/>
              </a:ext>
            </a:extLst>
          </p:cNvPr>
          <p:cNvPicPr>
            <a:picLocks noChangeAspect="1"/>
          </p:cNvPicPr>
          <p:nvPr/>
        </p:nvPicPr>
        <p:blipFill>
          <a:blip r:embed="rId11">
            <a:extLst>
              <a:ext uri="{BEBA8EAE-BF5A-486C-A8C5-ECC9F3942E4B}">
                <a14:imgProps xmlns:a14="http://schemas.microsoft.com/office/drawing/2010/main">
                  <a14:imgLayer r:embed="rId12">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8831189" y="7314604"/>
            <a:ext cx="3048000" cy="2033016"/>
          </a:xfrm>
          <a:prstGeom prst="rect">
            <a:avLst/>
          </a:prstGeom>
        </p:spPr>
      </p:pic>
      <p:sp>
        <p:nvSpPr>
          <p:cNvPr id="3" name="TextBox 2">
            <a:extLst>
              <a:ext uri="{FF2B5EF4-FFF2-40B4-BE49-F238E27FC236}">
                <a16:creationId xmlns:a16="http://schemas.microsoft.com/office/drawing/2014/main" id="{852A1EA1-AC2B-F8F6-DB50-D807A2AEC8F0}"/>
              </a:ext>
            </a:extLst>
          </p:cNvPr>
          <p:cNvSpPr txBox="1"/>
          <p:nvPr/>
        </p:nvSpPr>
        <p:spPr>
          <a:xfrm>
            <a:off x="-8654082" y="2110161"/>
            <a:ext cx="7703127" cy="1446550"/>
          </a:xfrm>
          <a:prstGeom prst="rect">
            <a:avLst/>
          </a:prstGeom>
          <a:noFill/>
        </p:spPr>
        <p:txBody>
          <a:bodyPr wrap="square" rtlCol="0">
            <a:spAutoFit/>
          </a:bodyPr>
          <a:lstStyle/>
          <a:p>
            <a:r>
              <a:rPr lang="en-US" sz="8800" dirty="0">
                <a:solidFill>
                  <a:schemeClr val="bg1"/>
                </a:solidFill>
                <a:latin typeface="Algerian" panose="04020705040A02060702" pitchFamily="82" charset="0"/>
              </a:rPr>
              <a:t>Introduction</a:t>
            </a:r>
            <a:endParaRPr lang="en-IN" sz="8800" dirty="0">
              <a:solidFill>
                <a:schemeClr val="bg1"/>
              </a:solidFill>
              <a:latin typeface="Algerian" panose="04020705040A02060702" pitchFamily="82" charset="0"/>
            </a:endParaRPr>
          </a:p>
        </p:txBody>
      </p:sp>
      <p:pic>
        <p:nvPicPr>
          <p:cNvPr id="7" name="Picture 6" descr="A person sitting in a yoga pose&#10;&#10;AI-generated content may be incorrect.">
            <a:extLst>
              <a:ext uri="{FF2B5EF4-FFF2-40B4-BE49-F238E27FC236}">
                <a16:creationId xmlns:a16="http://schemas.microsoft.com/office/drawing/2014/main" id="{297B270B-FEF9-272B-9028-691F01112EB7}"/>
              </a:ext>
            </a:extLst>
          </p:cNvPr>
          <p:cNvPicPr>
            <a:picLocks noChangeAspect="1"/>
          </p:cNvPicPr>
          <p:nvPr/>
        </p:nvPicPr>
        <p:blipFill>
          <a:blip r:embed="rId13">
            <a:extLst>
              <a:ext uri="{BEBA8EAE-BF5A-486C-A8C5-ECC9F3942E4B}">
                <a14:imgProps xmlns:a14="http://schemas.microsoft.com/office/drawing/2010/main">
                  <a14:imgLayer r:embed="rId14">
                    <a14:imgEffect>
                      <a14:backgroundRemoval t="10000" b="90000" l="10000" r="90000">
                        <a14:backgroundMark x1="16327" y1="73878" x2="16327" y2="73878"/>
                        <a14:backgroundMark x1="84592" y1="74592" x2="84592" y2="74592"/>
                        <a14:backgroundMark x1="73980" y1="73265" x2="73980" y2="73265"/>
                      </a14:backgroundRemoval>
                    </a14:imgEffect>
                  </a14:imgLayer>
                </a14:imgProps>
              </a:ext>
              <a:ext uri="{28A0092B-C50C-407E-A947-70E740481C1C}">
                <a14:useLocalDpi xmlns:a14="http://schemas.microsoft.com/office/drawing/2010/main" val="0"/>
              </a:ext>
            </a:extLst>
          </a:blip>
          <a:stretch>
            <a:fillRect/>
          </a:stretch>
        </p:blipFill>
        <p:spPr>
          <a:xfrm>
            <a:off x="-5197533" y="254836"/>
            <a:ext cx="5125452" cy="5996633"/>
          </a:xfrm>
          <a:prstGeom prst="rect">
            <a:avLst/>
          </a:prstGeom>
        </p:spPr>
      </p:pic>
    </p:spTree>
    <p:extLst>
      <p:ext uri="{BB962C8B-B14F-4D97-AF65-F5344CB8AC3E}">
        <p14:creationId xmlns:p14="http://schemas.microsoft.com/office/powerpoint/2010/main" val="40972470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erson doing yoga on a mat&#10;&#10;AI-generated content may be incorrect.">
            <a:extLst>
              <a:ext uri="{FF2B5EF4-FFF2-40B4-BE49-F238E27FC236}">
                <a16:creationId xmlns:a16="http://schemas.microsoft.com/office/drawing/2014/main" id="{82341710-26E6-710C-DABA-31BABACAA171}"/>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3980" b="90510" l="9821" r="89991">
                        <a14:foregroundMark x1="55146" y1="5714" x2="55146" y2="5714"/>
                        <a14:foregroundMark x1="51936" y1="3980" x2="51936" y2="3980"/>
                        <a14:foregroundMark x1="31161" y1="85714" x2="31161" y2="85714"/>
                        <a14:foregroundMark x1="31161" y1="86735" x2="51747" y2="90510"/>
                        <a14:foregroundMark x1="18508" y1="65714" x2="23135" y2="63673"/>
                        <a14:foregroundMark x1="23135" y1="59388" x2="23135" y2="59388"/>
                        <a14:foregroundMark x1="11709" y1="63673" x2="11709" y2="63673"/>
                        <a14:foregroundMark x1="13314" y1="57347" x2="13314" y2="57347"/>
                        <a14:foregroundMark x1="16053" y1="52347" x2="16053" y2="52347"/>
                        <a14:foregroundMark x1="18508" y1="56122" x2="18508" y2="56122"/>
                      </a14:backgroundRemoval>
                    </a14:imgEffect>
                  </a14:imgLayer>
                </a14:imgProps>
              </a:ext>
              <a:ext uri="{28A0092B-C50C-407E-A947-70E740481C1C}">
                <a14:useLocalDpi xmlns:a14="http://schemas.microsoft.com/office/drawing/2010/main" val="0"/>
              </a:ext>
            </a:extLst>
          </a:blip>
          <a:stretch>
            <a:fillRect/>
          </a:stretch>
        </p:blipFill>
        <p:spPr>
          <a:xfrm>
            <a:off x="11907" y="1549021"/>
            <a:ext cx="6084093" cy="4626591"/>
          </a:xfrm>
          <a:prstGeom prst="rect">
            <a:avLst/>
          </a:prstGeom>
        </p:spPr>
      </p:pic>
      <p:pic>
        <p:nvPicPr>
          <p:cNvPr id="7" name="Picture 6" descr="A yellow background with a black and white image&#10;&#10;AI-generated content may be incorrect.">
            <a:extLst>
              <a:ext uri="{FF2B5EF4-FFF2-40B4-BE49-F238E27FC236}">
                <a16:creationId xmlns:a16="http://schemas.microsoft.com/office/drawing/2014/main" id="{89A7EA45-1439-DC19-3425-2FDD6BD3BE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49431" y="2187152"/>
            <a:ext cx="5077960" cy="4401204"/>
          </a:xfrm>
          <a:prstGeom prst="rect">
            <a:avLst/>
          </a:prstGeom>
        </p:spPr>
      </p:pic>
      <p:sp>
        <p:nvSpPr>
          <p:cNvPr id="8" name="TextBox 7">
            <a:extLst>
              <a:ext uri="{FF2B5EF4-FFF2-40B4-BE49-F238E27FC236}">
                <a16:creationId xmlns:a16="http://schemas.microsoft.com/office/drawing/2014/main" id="{4B721DF3-EE5B-AC58-6CF6-9C3160507A1C}"/>
              </a:ext>
            </a:extLst>
          </p:cNvPr>
          <p:cNvSpPr txBox="1"/>
          <p:nvPr/>
        </p:nvSpPr>
        <p:spPr>
          <a:xfrm>
            <a:off x="6275413" y="2187151"/>
            <a:ext cx="4675637" cy="4401205"/>
          </a:xfrm>
          <a:prstGeom prst="rect">
            <a:avLst/>
          </a:prstGeom>
          <a:noFill/>
        </p:spPr>
        <p:txBody>
          <a:bodyPr wrap="square" rtlCol="0">
            <a:spAutoFit/>
          </a:bodyPr>
          <a:lstStyle/>
          <a:p>
            <a:r>
              <a:rPr lang="en-US" sz="2800" dirty="0"/>
              <a:t>There is no consensus on yoga’s chronology or origins other than its development in ancient India. There are two broad theories explaining the origins of yoga. The linear model holds that yoga has Vedic origins (as reflected in Vedic texts), and influenced Buddhism.</a:t>
            </a:r>
            <a:endParaRPr lang="en-IN" sz="2800" dirty="0"/>
          </a:p>
        </p:txBody>
      </p:sp>
      <p:sp>
        <p:nvSpPr>
          <p:cNvPr id="9" name="TextBox 8">
            <a:extLst>
              <a:ext uri="{FF2B5EF4-FFF2-40B4-BE49-F238E27FC236}">
                <a16:creationId xmlns:a16="http://schemas.microsoft.com/office/drawing/2014/main" id="{838ADC3B-38D7-F61A-0D7D-CCBE99620836}"/>
              </a:ext>
            </a:extLst>
          </p:cNvPr>
          <p:cNvSpPr txBox="1"/>
          <p:nvPr/>
        </p:nvSpPr>
        <p:spPr>
          <a:xfrm>
            <a:off x="5949430" y="682388"/>
            <a:ext cx="5077961" cy="1569660"/>
          </a:xfrm>
          <a:prstGeom prst="rect">
            <a:avLst/>
          </a:prstGeom>
          <a:noFill/>
        </p:spPr>
        <p:txBody>
          <a:bodyPr wrap="square" rtlCol="0">
            <a:spAutoFit/>
          </a:bodyPr>
          <a:lstStyle/>
          <a:p>
            <a:r>
              <a:rPr lang="en-US" sz="9600" dirty="0">
                <a:solidFill>
                  <a:srgbClr val="D46112"/>
                </a:solidFill>
                <a:latin typeface="Algerian" panose="04020705040A02060702" pitchFamily="82" charset="0"/>
              </a:rPr>
              <a:t>History</a:t>
            </a:r>
            <a:endParaRPr lang="en-IN" sz="9600" dirty="0">
              <a:solidFill>
                <a:srgbClr val="D46112"/>
              </a:solidFill>
              <a:latin typeface="Algerian" panose="04020705040A02060702" pitchFamily="82" charset="0"/>
            </a:endParaRPr>
          </a:p>
        </p:txBody>
      </p:sp>
    </p:spTree>
    <p:extLst>
      <p:ext uri="{BB962C8B-B14F-4D97-AF65-F5344CB8AC3E}">
        <p14:creationId xmlns:p14="http://schemas.microsoft.com/office/powerpoint/2010/main" val="37853710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yellow background with a black and white image&#10;&#10;AI-generated content may be incorrect.">
            <a:extLst>
              <a:ext uri="{FF2B5EF4-FFF2-40B4-BE49-F238E27FC236}">
                <a16:creationId xmlns:a16="http://schemas.microsoft.com/office/drawing/2014/main" id="{A0678695-DC48-A3D4-6A05-DD67FCA810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903" y="1574824"/>
            <a:ext cx="5094667" cy="4812329"/>
          </a:xfrm>
          <a:prstGeom prst="rect">
            <a:avLst/>
          </a:prstGeom>
        </p:spPr>
      </p:pic>
      <p:sp>
        <p:nvSpPr>
          <p:cNvPr id="4" name="TextBox 3">
            <a:extLst>
              <a:ext uri="{FF2B5EF4-FFF2-40B4-BE49-F238E27FC236}">
                <a16:creationId xmlns:a16="http://schemas.microsoft.com/office/drawing/2014/main" id="{965FA07B-FAEB-9A55-B64D-2204932A5E9E}"/>
              </a:ext>
            </a:extLst>
          </p:cNvPr>
          <p:cNvSpPr txBox="1"/>
          <p:nvPr/>
        </p:nvSpPr>
        <p:spPr>
          <a:xfrm>
            <a:off x="268903" y="477670"/>
            <a:ext cx="5418161" cy="1200329"/>
          </a:xfrm>
          <a:prstGeom prst="rect">
            <a:avLst/>
          </a:prstGeom>
          <a:noFill/>
        </p:spPr>
        <p:txBody>
          <a:bodyPr wrap="square" rtlCol="0">
            <a:spAutoFit/>
          </a:bodyPr>
          <a:lstStyle/>
          <a:p>
            <a:r>
              <a:rPr lang="en-US" sz="7200" dirty="0">
                <a:solidFill>
                  <a:srgbClr val="D46112"/>
                </a:solidFill>
                <a:latin typeface="Algerian" panose="04020705040A02060702" pitchFamily="82" charset="0"/>
              </a:rPr>
              <a:t>Traditions</a:t>
            </a:r>
            <a:endParaRPr lang="en-IN" sz="7200" dirty="0">
              <a:solidFill>
                <a:srgbClr val="D46112"/>
              </a:solidFill>
              <a:latin typeface="Algerian" panose="04020705040A02060702" pitchFamily="82" charset="0"/>
            </a:endParaRPr>
          </a:p>
        </p:txBody>
      </p:sp>
      <p:sp>
        <p:nvSpPr>
          <p:cNvPr id="5" name="TextBox 4">
            <a:extLst>
              <a:ext uri="{FF2B5EF4-FFF2-40B4-BE49-F238E27FC236}">
                <a16:creationId xmlns:a16="http://schemas.microsoft.com/office/drawing/2014/main" id="{BD20D5D7-67ED-17A5-CDD0-2BF8F7CF59D0}"/>
              </a:ext>
            </a:extLst>
          </p:cNvPr>
          <p:cNvSpPr txBox="1"/>
          <p:nvPr/>
        </p:nvSpPr>
        <p:spPr>
          <a:xfrm>
            <a:off x="382137" y="1734219"/>
            <a:ext cx="4981433" cy="4493538"/>
          </a:xfrm>
          <a:prstGeom prst="rect">
            <a:avLst/>
          </a:prstGeom>
          <a:noFill/>
        </p:spPr>
        <p:txBody>
          <a:bodyPr wrap="square" rtlCol="0">
            <a:spAutoFit/>
          </a:bodyPr>
          <a:lstStyle/>
          <a:p>
            <a:r>
              <a:rPr lang="en-US" sz="2600" dirty="0"/>
              <a:t>Yoga has been a central practice in Jainism. Jain spirituality  is based on a strict code of nonviolence, or ahimsa (which includes vegetarianism), almsgiving (dana), faith in the three jewels, austerities (tapas) such as fasting, and yoga. Jain yoga aims at the liberation and purification of the self from the forces of karma, which binds the self to the cycle of reincarnation. </a:t>
            </a:r>
            <a:endParaRPr lang="en-IN" sz="2600" dirty="0"/>
          </a:p>
        </p:txBody>
      </p:sp>
      <p:pic>
        <p:nvPicPr>
          <p:cNvPr id="7" name="Picture 6" descr="A person sitting in a lotus position&#10;&#10;AI-generated content may be incorrect.">
            <a:extLst>
              <a:ext uri="{FF2B5EF4-FFF2-40B4-BE49-F238E27FC236}">
                <a16:creationId xmlns:a16="http://schemas.microsoft.com/office/drawing/2014/main" id="{214A1B3A-955C-6E22-AE44-43D2ABFCF1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3517" y="1079652"/>
            <a:ext cx="6359580" cy="5778347"/>
          </a:xfrm>
          <a:prstGeom prst="rect">
            <a:avLst/>
          </a:prstGeom>
        </p:spPr>
      </p:pic>
    </p:spTree>
    <p:extLst>
      <p:ext uri="{BB962C8B-B14F-4D97-AF65-F5344CB8AC3E}">
        <p14:creationId xmlns:p14="http://schemas.microsoft.com/office/powerpoint/2010/main" val="18194767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EDF9BAB6-0A1A-4B71-AF17-CDD4E2E5170E}"/>
              </a:ext>
            </a:extLst>
          </p:cNvPr>
          <p:cNvSpPr txBox="1"/>
          <p:nvPr/>
        </p:nvSpPr>
        <p:spPr>
          <a:xfrm>
            <a:off x="-4024879" y="891632"/>
            <a:ext cx="1526218" cy="615553"/>
          </a:xfrm>
          <a:prstGeom prst="rect">
            <a:avLst/>
          </a:prstGeom>
          <a:noFill/>
        </p:spPr>
        <p:txBody>
          <a:bodyPr wrap="square" rtlCol="0">
            <a:spAutoFit/>
          </a:bodyPr>
          <a:lstStyle/>
          <a:p>
            <a:r>
              <a:rPr lang="en-US" dirty="0"/>
              <a:t>7.Dhyana</a:t>
            </a:r>
          </a:p>
          <a:p>
            <a:r>
              <a:rPr lang="en-US" sz="1600" dirty="0"/>
              <a:t>Meditation</a:t>
            </a:r>
            <a:endParaRPr lang="en-IN" sz="1600" dirty="0"/>
          </a:p>
        </p:txBody>
      </p:sp>
      <p:sp>
        <p:nvSpPr>
          <p:cNvPr id="15" name="TextBox 14">
            <a:extLst>
              <a:ext uri="{FF2B5EF4-FFF2-40B4-BE49-F238E27FC236}">
                <a16:creationId xmlns:a16="http://schemas.microsoft.com/office/drawing/2014/main" id="{4C074FF7-83B3-498F-865F-0A0ED9DDE465}"/>
              </a:ext>
            </a:extLst>
          </p:cNvPr>
          <p:cNvSpPr txBox="1"/>
          <p:nvPr/>
        </p:nvSpPr>
        <p:spPr>
          <a:xfrm>
            <a:off x="-5148314" y="2160316"/>
            <a:ext cx="2307545" cy="615553"/>
          </a:xfrm>
          <a:prstGeom prst="rect">
            <a:avLst/>
          </a:prstGeom>
          <a:noFill/>
        </p:spPr>
        <p:txBody>
          <a:bodyPr wrap="square" rtlCol="0">
            <a:spAutoFit/>
          </a:bodyPr>
          <a:lstStyle/>
          <a:p>
            <a:r>
              <a:rPr lang="en-US" dirty="0"/>
              <a:t>5.Pratyahara</a:t>
            </a:r>
          </a:p>
          <a:p>
            <a:r>
              <a:rPr lang="en-US" sz="1600" dirty="0" err="1"/>
              <a:t>Withdrawl</a:t>
            </a:r>
            <a:r>
              <a:rPr lang="en-US" sz="1600" dirty="0"/>
              <a:t> of senses</a:t>
            </a:r>
            <a:endParaRPr lang="en-IN" sz="1600" dirty="0"/>
          </a:p>
        </p:txBody>
      </p:sp>
      <p:sp>
        <p:nvSpPr>
          <p:cNvPr id="16" name="TextBox 15">
            <a:extLst>
              <a:ext uri="{FF2B5EF4-FFF2-40B4-BE49-F238E27FC236}">
                <a16:creationId xmlns:a16="http://schemas.microsoft.com/office/drawing/2014/main" id="{6B3918A5-68E5-407A-9052-9A035C82C53C}"/>
              </a:ext>
            </a:extLst>
          </p:cNvPr>
          <p:cNvSpPr txBox="1"/>
          <p:nvPr/>
        </p:nvSpPr>
        <p:spPr>
          <a:xfrm>
            <a:off x="-5478540" y="3429000"/>
            <a:ext cx="2766646" cy="615553"/>
          </a:xfrm>
          <a:prstGeom prst="rect">
            <a:avLst/>
          </a:prstGeom>
          <a:noFill/>
        </p:spPr>
        <p:txBody>
          <a:bodyPr wrap="square" rtlCol="0">
            <a:spAutoFit/>
          </a:bodyPr>
          <a:lstStyle/>
          <a:p>
            <a:r>
              <a:rPr lang="en-US" dirty="0"/>
              <a:t>3.Asana</a:t>
            </a:r>
          </a:p>
          <a:p>
            <a:r>
              <a:rPr lang="en-US" sz="1600" dirty="0"/>
              <a:t>Movement and posture</a:t>
            </a:r>
            <a:endParaRPr lang="en-IN" sz="1600" dirty="0"/>
          </a:p>
        </p:txBody>
      </p:sp>
      <p:sp>
        <p:nvSpPr>
          <p:cNvPr id="17" name="TextBox 16">
            <a:extLst>
              <a:ext uri="{FF2B5EF4-FFF2-40B4-BE49-F238E27FC236}">
                <a16:creationId xmlns:a16="http://schemas.microsoft.com/office/drawing/2014/main" id="{7EF39273-514E-414B-A4E5-6C47BD386EAD}"/>
              </a:ext>
            </a:extLst>
          </p:cNvPr>
          <p:cNvSpPr txBox="1"/>
          <p:nvPr/>
        </p:nvSpPr>
        <p:spPr>
          <a:xfrm>
            <a:off x="-4777770" y="4767454"/>
            <a:ext cx="1716481" cy="615553"/>
          </a:xfrm>
          <a:prstGeom prst="rect">
            <a:avLst/>
          </a:prstGeom>
          <a:noFill/>
        </p:spPr>
        <p:txBody>
          <a:bodyPr wrap="square" rtlCol="0">
            <a:spAutoFit/>
          </a:bodyPr>
          <a:lstStyle/>
          <a:p>
            <a:r>
              <a:rPr lang="en-US" dirty="0"/>
              <a:t>1.Yama</a:t>
            </a:r>
          </a:p>
          <a:p>
            <a:r>
              <a:rPr lang="en-US" sz="1600" dirty="0"/>
              <a:t>Self-restraint</a:t>
            </a:r>
            <a:endParaRPr lang="en-IN" sz="1600" dirty="0"/>
          </a:p>
        </p:txBody>
      </p:sp>
      <p:sp>
        <p:nvSpPr>
          <p:cNvPr id="18" name="TextBox 17">
            <a:extLst>
              <a:ext uri="{FF2B5EF4-FFF2-40B4-BE49-F238E27FC236}">
                <a16:creationId xmlns:a16="http://schemas.microsoft.com/office/drawing/2014/main" id="{D1D7EC0D-D354-4A33-855F-4F06190C79F5}"/>
              </a:ext>
            </a:extLst>
          </p:cNvPr>
          <p:cNvSpPr txBox="1"/>
          <p:nvPr/>
        </p:nvSpPr>
        <p:spPr>
          <a:xfrm>
            <a:off x="14296107" y="996462"/>
            <a:ext cx="3071446" cy="646331"/>
          </a:xfrm>
          <a:prstGeom prst="rect">
            <a:avLst/>
          </a:prstGeom>
          <a:noFill/>
        </p:spPr>
        <p:txBody>
          <a:bodyPr wrap="square" rtlCol="0">
            <a:spAutoFit/>
          </a:bodyPr>
          <a:lstStyle/>
          <a:p>
            <a:r>
              <a:rPr lang="en-US" dirty="0"/>
              <a:t>8.Samadhi</a:t>
            </a:r>
          </a:p>
          <a:p>
            <a:r>
              <a:rPr lang="en-US" dirty="0"/>
              <a:t>	</a:t>
            </a:r>
            <a:r>
              <a:rPr lang="en-US" sz="1600" dirty="0"/>
              <a:t>union</a:t>
            </a:r>
            <a:endParaRPr lang="en-IN" sz="1600" dirty="0"/>
          </a:p>
        </p:txBody>
      </p:sp>
      <p:sp>
        <p:nvSpPr>
          <p:cNvPr id="19" name="TextBox 18">
            <a:extLst>
              <a:ext uri="{FF2B5EF4-FFF2-40B4-BE49-F238E27FC236}">
                <a16:creationId xmlns:a16="http://schemas.microsoft.com/office/drawing/2014/main" id="{3F8E6E31-0B24-46BD-9869-DDFAB03C57BE}"/>
              </a:ext>
            </a:extLst>
          </p:cNvPr>
          <p:cNvSpPr txBox="1"/>
          <p:nvPr/>
        </p:nvSpPr>
        <p:spPr>
          <a:xfrm>
            <a:off x="14893825" y="2021417"/>
            <a:ext cx="2860431" cy="646331"/>
          </a:xfrm>
          <a:prstGeom prst="rect">
            <a:avLst/>
          </a:prstGeom>
          <a:noFill/>
        </p:spPr>
        <p:txBody>
          <a:bodyPr wrap="square" rtlCol="0">
            <a:spAutoFit/>
          </a:bodyPr>
          <a:lstStyle/>
          <a:p>
            <a:r>
              <a:rPr lang="en-US" dirty="0"/>
              <a:t>6.Dharana</a:t>
            </a:r>
          </a:p>
          <a:p>
            <a:r>
              <a:rPr lang="en-US" dirty="0"/>
              <a:t>	</a:t>
            </a:r>
            <a:r>
              <a:rPr lang="en-US" sz="1600" dirty="0"/>
              <a:t>concentration</a:t>
            </a:r>
            <a:endParaRPr lang="en-IN" sz="1600" dirty="0"/>
          </a:p>
        </p:txBody>
      </p:sp>
      <p:sp>
        <p:nvSpPr>
          <p:cNvPr id="20" name="TextBox 19">
            <a:extLst>
              <a:ext uri="{FF2B5EF4-FFF2-40B4-BE49-F238E27FC236}">
                <a16:creationId xmlns:a16="http://schemas.microsoft.com/office/drawing/2014/main" id="{93ACC39A-F2BE-4BAD-A3F7-3319C803A067}"/>
              </a:ext>
            </a:extLst>
          </p:cNvPr>
          <p:cNvSpPr txBox="1"/>
          <p:nvPr/>
        </p:nvSpPr>
        <p:spPr>
          <a:xfrm>
            <a:off x="14934777" y="4767455"/>
            <a:ext cx="3165231" cy="584775"/>
          </a:xfrm>
          <a:prstGeom prst="rect">
            <a:avLst/>
          </a:prstGeom>
          <a:noFill/>
        </p:spPr>
        <p:txBody>
          <a:bodyPr wrap="square" rtlCol="0">
            <a:spAutoFit/>
          </a:bodyPr>
          <a:lstStyle/>
          <a:p>
            <a:r>
              <a:rPr lang="en-US" dirty="0"/>
              <a:t>2.Niyama</a:t>
            </a:r>
          </a:p>
          <a:p>
            <a:r>
              <a:rPr lang="en-US" sz="1400" dirty="0"/>
              <a:t>Observation</a:t>
            </a:r>
            <a:endParaRPr lang="en-IN" sz="1400" dirty="0"/>
          </a:p>
        </p:txBody>
      </p:sp>
      <p:sp>
        <p:nvSpPr>
          <p:cNvPr id="21" name="TextBox 20">
            <a:extLst>
              <a:ext uri="{FF2B5EF4-FFF2-40B4-BE49-F238E27FC236}">
                <a16:creationId xmlns:a16="http://schemas.microsoft.com/office/drawing/2014/main" id="{763FB5E8-31DE-4A5A-BD0C-912C50FB0AA5}"/>
              </a:ext>
            </a:extLst>
          </p:cNvPr>
          <p:cNvSpPr txBox="1"/>
          <p:nvPr/>
        </p:nvSpPr>
        <p:spPr>
          <a:xfrm>
            <a:off x="15374392" y="3394436"/>
            <a:ext cx="2286000" cy="646331"/>
          </a:xfrm>
          <a:prstGeom prst="rect">
            <a:avLst/>
          </a:prstGeom>
          <a:noFill/>
        </p:spPr>
        <p:txBody>
          <a:bodyPr wrap="square" rtlCol="0">
            <a:spAutoFit/>
          </a:bodyPr>
          <a:lstStyle/>
          <a:p>
            <a:r>
              <a:rPr lang="en-US" dirty="0"/>
              <a:t>4.Pranayama</a:t>
            </a:r>
          </a:p>
          <a:p>
            <a:r>
              <a:rPr lang="en-US" dirty="0"/>
              <a:t>	</a:t>
            </a:r>
            <a:r>
              <a:rPr lang="en-US" sz="1600" dirty="0"/>
              <a:t>Breath</a:t>
            </a:r>
            <a:endParaRPr lang="en-IN" sz="1600" dirty="0"/>
          </a:p>
        </p:txBody>
      </p:sp>
      <p:pic>
        <p:nvPicPr>
          <p:cNvPr id="22" name="Picture 21">
            <a:extLst>
              <a:ext uri="{FF2B5EF4-FFF2-40B4-BE49-F238E27FC236}">
                <a16:creationId xmlns:a16="http://schemas.microsoft.com/office/drawing/2014/main" id="{707F5150-FC45-443E-93D6-674FEC28E52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6106" b="91995" l="6658" r="92935">
                        <a14:foregroundMark x1="48777" y1="35957" x2="48777" y2="35957"/>
                        <a14:foregroundMark x1="48777" y1="34871" x2="48777" y2="34871"/>
                        <a14:foregroundMark x1="10054" y1="46540" x2="10054" y2="46540"/>
                        <a14:foregroundMark x1="6658" y1="46676" x2="6658" y2="46676"/>
                        <a14:foregroundMark x1="89130" y1="51289" x2="89130" y2="51289"/>
                        <a14:foregroundMark x1="92935" y1="53053" x2="92935" y2="53053"/>
                        <a14:foregroundMark x1="41984" y1="16147" x2="41984" y2="16147"/>
                        <a14:foregroundMark x1="33288" y1="19810" x2="33288" y2="19810"/>
                        <a14:foregroundMark x1="27038" y1="17503" x2="27038" y2="17503"/>
                        <a14:foregroundMark x1="32337" y1="20896" x2="32337" y2="20896"/>
                        <a14:foregroundMark x1="32473" y1="20488" x2="32473" y2="20488"/>
                        <a14:foregroundMark x1="26766" y1="18996" x2="26766" y2="18996"/>
                        <a14:foregroundMark x1="48913" y1="15197" x2="48913" y2="15197"/>
                        <a14:foregroundMark x1="45516" y1="21167" x2="45516" y2="21167"/>
                        <a14:foregroundMark x1="52989" y1="10991" x2="52989" y2="10991"/>
                        <a14:foregroundMark x1="58832" y1="12754" x2="58832" y2="12754"/>
                        <a14:foregroundMark x1="51495" y1="6106" x2="51495" y2="6106"/>
                        <a14:foregroundMark x1="32473" y1="20760" x2="32473" y2="20760"/>
                        <a14:foregroundMark x1="27174" y1="18996" x2="26087" y2="17910"/>
                        <a14:foregroundMark x1="31793" y1="22117" x2="32745" y2="20624"/>
                        <a14:foregroundMark x1="65489" y1="72863" x2="65489" y2="72863"/>
                        <a14:foregroundMark x1="28125" y1="78290" x2="25543" y2="81547"/>
                        <a14:foregroundMark x1="50136" y1="91995" x2="57201" y2="91859"/>
                        <a14:foregroundMark x1="24185" y1="56581" x2="24185" y2="56581"/>
                        <a14:foregroundMark x1="12772" y1="51289" x2="12772" y2="51289"/>
                        <a14:foregroundMark x1="17935" y1="62144" x2="18614" y2="63772"/>
                        <a14:foregroundMark x1="59239" y1="51560" x2="57745" y2="54138"/>
                        <a14:foregroundMark x1="59511" y1="58616" x2="59511" y2="58887"/>
                        <a14:foregroundMark x1="47690" y1="66893" x2="47011" y2="66893"/>
                        <a14:foregroundMark x1="47690" y1="75441" x2="48234" y2="76526"/>
                        <a14:foregroundMark x1="35462" y1="78426" x2="36413" y2="79376"/>
                        <a14:foregroundMark x1="61549" y1="43555" x2="62908" y2="44369"/>
                        <a14:foregroundMark x1="27853" y1="51696" x2="28125" y2="50611"/>
                        <a14:foregroundMark x1="34239" y1="48033" x2="33152" y2="47490"/>
                        <a14:foregroundMark x1="71060" y1="51289" x2="72418" y2="50611"/>
                        <a14:foregroundMark x1="13451" y1="21303" x2="14402" y2="21303"/>
                        <a14:foregroundMark x1="21603" y1="24288" x2="21603" y2="22252"/>
                        <a14:foregroundMark x1="15761" y1="27273" x2="18478" y2="27001"/>
                        <a14:foregroundMark x1="41033" y1="22117" x2="41168" y2="22117"/>
                        <a14:foregroundMark x1="41304" y1="22117" x2="41304" y2="22117"/>
                        <a14:foregroundMark x1="29755" y1="27273" x2="29755" y2="27273"/>
                        <a14:foregroundMark x1="26902" y1="34193" x2="26902" y2="34193"/>
                        <a14:foregroundMark x1="75679" y1="35685" x2="75815" y2="35278"/>
                        <a14:foregroundMark x1="77446" y1="34735" x2="76223" y2="36499"/>
                        <a14:foregroundMark x1="16712" y1="30529" x2="18750" y2="30258"/>
                        <a14:foregroundMark x1="49864" y1="35142" x2="49592" y2="34328"/>
                        <a14:foregroundMark x1="77038" y1="30258" x2="78668" y2="30122"/>
                        <a14:foregroundMark x1="79755" y1="27137" x2="80299" y2="25373"/>
                        <a14:foregroundMark x1="26630" y1="63365" x2="31929" y2="61058"/>
                        <a14:foregroundMark x1="37908" y1="61058" x2="38043" y2="59023"/>
                        <a14:foregroundMark x1="14946" y1="43284" x2="14674" y2="41520"/>
                        <a14:foregroundMark x1="82745" y1="69199" x2="83560" y2="69199"/>
                        <a14:foregroundMark x1="77174" y1="68792" x2="77446" y2="69335"/>
                        <a14:foregroundMark x1="63179" y1="56038" x2="64402" y2="56716"/>
                        <a14:backgroundMark x1="58288" y1="46811" x2="58288" y2="46811"/>
                        <a14:backgroundMark x1="64810" y1="41791" x2="64810" y2="41791"/>
                        <a14:backgroundMark x1="27038" y1="56988" x2="27038" y2="56988"/>
                        <a14:backgroundMark x1="19565" y1="59294" x2="21739" y2="60516"/>
                        <a14:backgroundMark x1="30163" y1="45590" x2="31114" y2="45590"/>
                        <a14:backgroundMark x1="29299" y1="34193" x2="29484" y2="36228"/>
                        <a14:backgroundMark x1="29212" y1="33243" x2="29299" y2="34193"/>
                        <a14:backgroundMark x1="36141" y1="54953" x2="36141" y2="54953"/>
                        <a14:backgroundMark x1="48777" y1="61872" x2="48777" y2="62958"/>
                        <a14:backgroundMark x1="43207" y1="67164" x2="43207" y2="67164"/>
                        <a14:backgroundMark x1="41033" y1="62280" x2="41033" y2="62280"/>
                        <a14:backgroundMark x1="35598" y1="63229" x2="35598" y2="63229"/>
                        <a14:backgroundMark x1="38179" y1="76255" x2="38315" y2="76934"/>
                        <a14:backgroundMark x1="44022" y1="74491" x2="44022" y2="74491"/>
                        <a14:backgroundMark x1="73098" y1="34600" x2="72690" y2="34193"/>
                        <a14:backgroundMark x1="71467" y1="32836" x2="71332" y2="31750"/>
                        <a14:backgroundMark x1="75951" y1="30936" x2="75951" y2="30936"/>
                        <a14:backgroundMark x1="30707" y1="52646" x2="30707" y2="51425"/>
                        <a14:backgroundMark x1="51766" y1="26323" x2="51766" y2="26323"/>
                        <a14:backgroundMark x1="63587" y1="29037" x2="63587" y2="28901"/>
                        <a14:backgroundMark x1="70109" y1="41520" x2="70109" y2="41113"/>
                        <a14:backgroundMark x1="70380" y1="54410" x2="70380" y2="54410"/>
                        <a14:backgroundMark x1="78261" y1="57123" x2="78261" y2="56445"/>
                        <a14:backgroundMark x1="42527" y1="35821" x2="42935" y2="36228"/>
                        <a14:backgroundMark x1="43886" y1="31615" x2="43886" y2="31615"/>
                        <a14:backgroundMark x1="33288" y1="24966" x2="33288" y2="24966"/>
                        <a14:backgroundMark x1="22418" y1="27951" x2="22418" y2="27951"/>
                        <a14:backgroundMark x1="18886" y1="24559" x2="18886" y2="24559"/>
                        <a14:backgroundMark x1="20924" y1="30122" x2="20924" y2="30122"/>
                        <a14:backgroundMark x1="24592" y1="32564" x2="24592" y2="32564"/>
                        <a14:backgroundMark x1="36413" y1="33107" x2="36413" y2="33107"/>
                        <a14:backgroundMark x1="37500" y1="29444" x2="37500" y2="29444"/>
                        <a14:backgroundMark x1="40625" y1="24152" x2="40625" y2="24152"/>
                        <a14:backgroundMark x1="45516" y1="26594" x2="45516" y2="26594"/>
                        <a14:backgroundMark x1="47011" y1="31343" x2="47011" y2="31343"/>
                        <a14:backgroundMark x1="41033" y1="41520" x2="41033" y2="41520"/>
                        <a14:backgroundMark x1="43886" y1="45862" x2="43886" y2="45862"/>
                        <a14:backgroundMark x1="46060" y1="51153" x2="46060" y2="51153"/>
                        <a14:backgroundMark x1="49864" y1="52646" x2="49864" y2="52646"/>
                        <a14:backgroundMark x1="56522" y1="34871" x2="56386" y2="34464"/>
                        <a14:backgroundMark x1="73913" y1="38806" x2="73913" y2="38806"/>
                        <a14:backgroundMark x1="73098" y1="41655" x2="73098" y2="41655"/>
                        <a14:backgroundMark x1="71603" y1="43284" x2="71603" y2="43284"/>
                        <a14:backgroundMark x1="69158" y1="44233" x2="69158" y2="44233"/>
                        <a14:backgroundMark x1="68886" y1="45590" x2="68886" y2="45590"/>
                        <a14:backgroundMark x1="19022" y1="50475" x2="19022" y2="50475"/>
                        <a14:backgroundMark x1="15082" y1="45862" x2="15082" y2="45862"/>
                        <a14:backgroundMark x1="36413" y1="38399" x2="36413" y2="38399"/>
                        <a14:backgroundMark x1="50679" y1="30801" x2="50679" y2="30801"/>
                        <a14:backgroundMark x1="75543" y1="28901" x2="75543" y2="28901"/>
                        <a14:backgroundMark x1="35326" y1="59973" x2="35326" y2="59973"/>
                        <a14:backgroundMark x1="34103" y1="59023" x2="34103" y2="59023"/>
                        <a14:backgroundMark x1="32745" y1="58073" x2="32745" y2="58073"/>
                        <a14:backgroundMark x1="20109" y1="74898" x2="21467" y2="74491"/>
                        <a14:backgroundMark x1="31386" y1="72592" x2="31522" y2="72592"/>
                        <a14:backgroundMark x1="35326" y1="68657" x2="35326" y2="68657"/>
                        <a14:backgroundMark x1="42663" y1="70014" x2="42663" y2="70014"/>
                        <a14:backgroundMark x1="37364" y1="72320" x2="37364" y2="72320"/>
                        <a14:backgroundMark x1="76087" y1="65943" x2="76087" y2="65943"/>
                        <a14:backgroundMark x1="39538" y1="66893" x2="39538" y2="66893"/>
                        <a14:backgroundMark x1="33560" y1="73948" x2="33560" y2="73948"/>
                        <a14:backgroundMark x1="34511" y1="30258" x2="34511" y2="30258"/>
                      </a14:backgroundRemoval>
                    </a14:imgEffect>
                  </a14:imgLayer>
                </a14:imgProps>
              </a:ext>
              <a:ext uri="{28A0092B-C50C-407E-A947-70E740481C1C}">
                <a14:useLocalDpi xmlns:a14="http://schemas.microsoft.com/office/drawing/2010/main" val="0"/>
              </a:ext>
            </a:extLst>
          </a:blip>
          <a:stretch>
            <a:fillRect/>
          </a:stretch>
        </p:blipFill>
        <p:spPr>
          <a:xfrm>
            <a:off x="3015049" y="7150185"/>
            <a:ext cx="5894173" cy="5844746"/>
          </a:xfrm>
          <a:prstGeom prst="rect">
            <a:avLst/>
          </a:prstGeom>
        </p:spPr>
      </p:pic>
      <p:pic>
        <p:nvPicPr>
          <p:cNvPr id="5" name="Picture 4" descr="A yellow background with a black and white image&#10;&#10;AI-generated content may be incorrect.">
            <a:extLst>
              <a:ext uri="{FF2B5EF4-FFF2-40B4-BE49-F238E27FC236}">
                <a16:creationId xmlns:a16="http://schemas.microsoft.com/office/drawing/2014/main" id="{1EC1595E-781B-48D7-A99F-0C7DE48659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61892" y="1440442"/>
            <a:ext cx="7939596" cy="5200650"/>
          </a:xfrm>
          <a:prstGeom prst="rect">
            <a:avLst/>
          </a:prstGeom>
        </p:spPr>
      </p:pic>
      <p:pic>
        <p:nvPicPr>
          <p:cNvPr id="3" name="Picture 2" descr="A person sitting in a yoga pose&#10;&#10;AI-generated content may be incorrect.">
            <a:extLst>
              <a:ext uri="{FF2B5EF4-FFF2-40B4-BE49-F238E27FC236}">
                <a16:creationId xmlns:a16="http://schemas.microsoft.com/office/drawing/2014/main" id="{65DAC700-2279-C7E4-967E-42E7AFCD332A}"/>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backgroundMark x1="16327" y1="73878" x2="16327" y2="73878"/>
                        <a14:backgroundMark x1="84592" y1="74592" x2="84592" y2="74592"/>
                        <a14:backgroundMark x1="73980" y1="73265" x2="73980" y2="73265"/>
                      </a14:backgroundRemoval>
                    </a14:imgEffect>
                  </a14:imgLayer>
                </a14:imgProps>
              </a:ext>
              <a:ext uri="{28A0092B-C50C-407E-A947-70E740481C1C}">
                <a14:useLocalDpi xmlns:a14="http://schemas.microsoft.com/office/drawing/2010/main" val="0"/>
              </a:ext>
            </a:extLst>
          </a:blip>
          <a:stretch>
            <a:fillRect/>
          </a:stretch>
        </p:blipFill>
        <p:spPr>
          <a:xfrm>
            <a:off x="-319343" y="396119"/>
            <a:ext cx="5125452" cy="5996633"/>
          </a:xfrm>
          <a:prstGeom prst="rect">
            <a:avLst/>
          </a:prstGeom>
        </p:spPr>
      </p:pic>
      <p:sp>
        <p:nvSpPr>
          <p:cNvPr id="6" name="TextBox 5">
            <a:extLst>
              <a:ext uri="{FF2B5EF4-FFF2-40B4-BE49-F238E27FC236}">
                <a16:creationId xmlns:a16="http://schemas.microsoft.com/office/drawing/2014/main" id="{25E33234-F2F0-F71D-19F7-E956B81C3868}"/>
              </a:ext>
            </a:extLst>
          </p:cNvPr>
          <p:cNvSpPr txBox="1"/>
          <p:nvPr/>
        </p:nvSpPr>
        <p:spPr>
          <a:xfrm>
            <a:off x="4806109" y="1868437"/>
            <a:ext cx="6280991" cy="4524315"/>
          </a:xfrm>
          <a:prstGeom prst="rect">
            <a:avLst/>
          </a:prstGeom>
          <a:noFill/>
        </p:spPr>
        <p:txBody>
          <a:bodyPr wrap="square" rtlCol="0">
            <a:spAutoFit/>
          </a:bodyPr>
          <a:lstStyle/>
          <a:p>
            <a:r>
              <a:rPr lang="en-US" sz="2400" dirty="0"/>
              <a:t>Many yoga poses stretch muscles and joints that are rarely used, this will help joints, ligaments and tendons.</a:t>
            </a:r>
          </a:p>
          <a:p>
            <a:r>
              <a:rPr lang="en-US" sz="2400" dirty="0"/>
              <a:t>Some yoga poses are especially good for organs that are rarely stimulated externally. This  keeps the organs healthy and helps yours body fight off disease.</a:t>
            </a:r>
          </a:p>
          <a:p>
            <a:r>
              <a:rPr lang="en-US" sz="2400" dirty="0"/>
              <a:t>Many yoga poses require you to support your weight on your own. All yoga poses need good balance. These poses are done slowly but precisely, which helps build strength and endurance.</a:t>
            </a:r>
          </a:p>
        </p:txBody>
      </p:sp>
      <p:sp>
        <p:nvSpPr>
          <p:cNvPr id="7" name="TextBox 6">
            <a:extLst>
              <a:ext uri="{FF2B5EF4-FFF2-40B4-BE49-F238E27FC236}">
                <a16:creationId xmlns:a16="http://schemas.microsoft.com/office/drawing/2014/main" id="{038B715B-8092-8E70-98CE-7C713DC2DDFF}"/>
              </a:ext>
            </a:extLst>
          </p:cNvPr>
          <p:cNvSpPr txBox="1"/>
          <p:nvPr/>
        </p:nvSpPr>
        <p:spPr>
          <a:xfrm>
            <a:off x="3853234" y="580963"/>
            <a:ext cx="8072437" cy="830997"/>
          </a:xfrm>
          <a:prstGeom prst="rect">
            <a:avLst/>
          </a:prstGeom>
          <a:noFill/>
        </p:spPr>
        <p:txBody>
          <a:bodyPr wrap="square" rtlCol="0">
            <a:spAutoFit/>
          </a:bodyPr>
          <a:lstStyle/>
          <a:p>
            <a:r>
              <a:rPr lang="en-US" sz="4800" dirty="0">
                <a:solidFill>
                  <a:srgbClr val="D46112"/>
                </a:solidFill>
                <a:latin typeface="Algerian" panose="04020705040A02060702" pitchFamily="82" charset="0"/>
              </a:rPr>
              <a:t>Health Benefits Of Yoga</a:t>
            </a:r>
            <a:endParaRPr lang="en-IN" sz="4800" dirty="0">
              <a:solidFill>
                <a:srgbClr val="D46112"/>
              </a:solidFill>
              <a:latin typeface="Algerian" panose="04020705040A02060702" pitchFamily="82" charset="0"/>
            </a:endParaRPr>
          </a:p>
        </p:txBody>
      </p:sp>
      <p:sp>
        <p:nvSpPr>
          <p:cNvPr id="8" name="Oval 7">
            <a:extLst>
              <a:ext uri="{FF2B5EF4-FFF2-40B4-BE49-F238E27FC236}">
                <a16:creationId xmlns:a16="http://schemas.microsoft.com/office/drawing/2014/main" id="{6915A99B-C17D-607F-9837-5269DD72983E}"/>
              </a:ext>
            </a:extLst>
          </p:cNvPr>
          <p:cNvSpPr/>
          <p:nvPr/>
        </p:nvSpPr>
        <p:spPr>
          <a:xfrm>
            <a:off x="-7790410" y="-603426"/>
            <a:ext cx="7240045" cy="7753611"/>
          </a:xfrm>
          <a:prstGeom prst="ellipse">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5679FEA4-BFFC-80FF-8DD3-F6FD7F307761}"/>
              </a:ext>
            </a:extLst>
          </p:cNvPr>
          <p:cNvSpPr txBox="1"/>
          <p:nvPr/>
        </p:nvSpPr>
        <p:spPr>
          <a:xfrm>
            <a:off x="-4673993" y="1129902"/>
            <a:ext cx="3569676" cy="4154984"/>
          </a:xfrm>
          <a:prstGeom prst="rect">
            <a:avLst/>
          </a:prstGeom>
          <a:noFill/>
        </p:spPr>
        <p:txBody>
          <a:bodyPr wrap="square" rtlCol="0">
            <a:spAutoFit/>
          </a:bodyPr>
          <a:lstStyle/>
          <a:p>
            <a:r>
              <a:rPr lang="en-US" sz="6600" dirty="0">
                <a:latin typeface="Algerian" panose="04020705040A02060702" pitchFamily="82" charset="0"/>
              </a:rPr>
              <a:t>Types of yoga asanas</a:t>
            </a:r>
            <a:endParaRPr lang="en-IN" sz="6600" dirty="0">
              <a:latin typeface="Algerian" panose="04020705040A02060702" pitchFamily="82" charset="0"/>
            </a:endParaRPr>
          </a:p>
        </p:txBody>
      </p:sp>
    </p:spTree>
    <p:extLst>
      <p:ext uri="{BB962C8B-B14F-4D97-AF65-F5344CB8AC3E}">
        <p14:creationId xmlns:p14="http://schemas.microsoft.com/office/powerpoint/2010/main" val="28930310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634B3CD8-474B-426E-A8F1-302FFBC970DC}"/>
              </a:ext>
            </a:extLst>
          </p:cNvPr>
          <p:cNvSpPr/>
          <p:nvPr/>
        </p:nvSpPr>
        <p:spPr>
          <a:xfrm>
            <a:off x="-2367592" y="-286049"/>
            <a:ext cx="7240045" cy="7753611"/>
          </a:xfrm>
          <a:prstGeom prst="ellipse">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3F10BEA9-A57A-44DE-9012-D034D93095E5}"/>
              </a:ext>
            </a:extLst>
          </p:cNvPr>
          <p:cNvSpPr txBox="1"/>
          <p:nvPr/>
        </p:nvSpPr>
        <p:spPr>
          <a:xfrm>
            <a:off x="738555" y="1351508"/>
            <a:ext cx="3569676" cy="4154984"/>
          </a:xfrm>
          <a:prstGeom prst="rect">
            <a:avLst/>
          </a:prstGeom>
          <a:noFill/>
        </p:spPr>
        <p:txBody>
          <a:bodyPr wrap="square" rtlCol="0">
            <a:spAutoFit/>
          </a:bodyPr>
          <a:lstStyle/>
          <a:p>
            <a:r>
              <a:rPr lang="en-US" sz="6600" dirty="0">
                <a:latin typeface="Algerian" panose="04020705040A02060702" pitchFamily="82" charset="0"/>
              </a:rPr>
              <a:t>Types of yoga asanas</a:t>
            </a:r>
            <a:endParaRPr lang="en-IN" sz="6600" dirty="0">
              <a:latin typeface="Algerian" panose="04020705040A02060702" pitchFamily="82" charset="0"/>
            </a:endParaRPr>
          </a:p>
        </p:txBody>
      </p:sp>
      <p:pic>
        <p:nvPicPr>
          <p:cNvPr id="12" name="Picture 11">
            <a:extLst>
              <a:ext uri="{FF2B5EF4-FFF2-40B4-BE49-F238E27FC236}">
                <a16:creationId xmlns:a16="http://schemas.microsoft.com/office/drawing/2014/main" id="{9FE84E2F-A1B6-44E3-9813-A1DD26F9F05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5130399" y="43118"/>
            <a:ext cx="2617217" cy="2028562"/>
          </a:xfrm>
          <a:prstGeom prst="rect">
            <a:avLst/>
          </a:prstGeom>
        </p:spPr>
      </p:pic>
      <p:pic>
        <p:nvPicPr>
          <p:cNvPr id="14" name="Picture 13">
            <a:extLst>
              <a:ext uri="{FF2B5EF4-FFF2-40B4-BE49-F238E27FC236}">
                <a16:creationId xmlns:a16="http://schemas.microsoft.com/office/drawing/2014/main" id="{A36860D3-0321-44C9-AF68-23BF86E14A5D}"/>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8549835" y="134055"/>
            <a:ext cx="2903610" cy="2028562"/>
          </a:xfrm>
          <a:prstGeom prst="rect">
            <a:avLst/>
          </a:prstGeom>
        </p:spPr>
      </p:pic>
      <p:pic>
        <p:nvPicPr>
          <p:cNvPr id="16" name="Picture 15">
            <a:extLst>
              <a:ext uri="{FF2B5EF4-FFF2-40B4-BE49-F238E27FC236}">
                <a16:creationId xmlns:a16="http://schemas.microsoft.com/office/drawing/2014/main" id="{A73451AB-62DF-4A5E-9578-6CF275A4123E}"/>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5028723" y="3799909"/>
            <a:ext cx="2617217" cy="2204407"/>
          </a:xfrm>
          <a:prstGeom prst="rect">
            <a:avLst/>
          </a:prstGeom>
        </p:spPr>
      </p:pic>
      <p:pic>
        <p:nvPicPr>
          <p:cNvPr id="18" name="Picture 17">
            <a:extLst>
              <a:ext uri="{FF2B5EF4-FFF2-40B4-BE49-F238E27FC236}">
                <a16:creationId xmlns:a16="http://schemas.microsoft.com/office/drawing/2014/main" id="{6153AA5D-C8BB-46BA-A299-B98E9361E21B}"/>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6683616" y="1617937"/>
            <a:ext cx="3333750" cy="3333750"/>
          </a:xfrm>
          <a:prstGeom prst="rect">
            <a:avLst/>
          </a:prstGeom>
        </p:spPr>
      </p:pic>
      <p:pic>
        <p:nvPicPr>
          <p:cNvPr id="20" name="Picture 19">
            <a:extLst>
              <a:ext uri="{FF2B5EF4-FFF2-40B4-BE49-F238E27FC236}">
                <a16:creationId xmlns:a16="http://schemas.microsoft.com/office/drawing/2014/main" id="{5B678A88-233D-49B3-9F24-67D490716EBB}"/>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8938319" y="4171189"/>
            <a:ext cx="3048000" cy="2033016"/>
          </a:xfrm>
          <a:prstGeom prst="rect">
            <a:avLst/>
          </a:prstGeom>
        </p:spPr>
      </p:pic>
      <p:sp>
        <p:nvSpPr>
          <p:cNvPr id="21" name="TextBox 20">
            <a:extLst>
              <a:ext uri="{FF2B5EF4-FFF2-40B4-BE49-F238E27FC236}">
                <a16:creationId xmlns:a16="http://schemas.microsoft.com/office/drawing/2014/main" id="{D6F3F6B1-6FBF-4113-8CD1-E7A3346196C8}"/>
              </a:ext>
            </a:extLst>
          </p:cNvPr>
          <p:cNvSpPr txBox="1"/>
          <p:nvPr/>
        </p:nvSpPr>
        <p:spPr>
          <a:xfrm>
            <a:off x="5835132" y="1617937"/>
            <a:ext cx="2180492" cy="646331"/>
          </a:xfrm>
          <a:prstGeom prst="rect">
            <a:avLst/>
          </a:prstGeom>
          <a:noFill/>
        </p:spPr>
        <p:txBody>
          <a:bodyPr wrap="square" rtlCol="0">
            <a:spAutoFit/>
          </a:bodyPr>
          <a:lstStyle/>
          <a:p>
            <a:r>
              <a:rPr lang="en-US" dirty="0" err="1"/>
              <a:t>Uatrasana</a:t>
            </a:r>
            <a:endParaRPr lang="en-US" dirty="0"/>
          </a:p>
          <a:p>
            <a:r>
              <a:rPr lang="en-US" dirty="0"/>
              <a:t>(camel pose)</a:t>
            </a:r>
            <a:endParaRPr lang="en-IN" dirty="0"/>
          </a:p>
        </p:txBody>
      </p:sp>
      <p:sp>
        <p:nvSpPr>
          <p:cNvPr id="23" name="TextBox 22">
            <a:extLst>
              <a:ext uri="{FF2B5EF4-FFF2-40B4-BE49-F238E27FC236}">
                <a16:creationId xmlns:a16="http://schemas.microsoft.com/office/drawing/2014/main" id="{F6AACAC5-3C1F-4821-AFB4-5D0DCCA987A9}"/>
              </a:ext>
            </a:extLst>
          </p:cNvPr>
          <p:cNvSpPr txBox="1"/>
          <p:nvPr/>
        </p:nvSpPr>
        <p:spPr>
          <a:xfrm>
            <a:off x="9372073" y="1670303"/>
            <a:ext cx="2180492" cy="646331"/>
          </a:xfrm>
          <a:prstGeom prst="rect">
            <a:avLst/>
          </a:prstGeom>
          <a:noFill/>
        </p:spPr>
        <p:txBody>
          <a:bodyPr wrap="square" rtlCol="0">
            <a:spAutoFit/>
          </a:bodyPr>
          <a:lstStyle/>
          <a:p>
            <a:r>
              <a:rPr lang="en-US" dirty="0" err="1"/>
              <a:t>Padmasana</a:t>
            </a:r>
            <a:endParaRPr lang="en-US" dirty="0"/>
          </a:p>
          <a:p>
            <a:r>
              <a:rPr lang="en-US" dirty="0"/>
              <a:t>(Cobra pose)</a:t>
            </a:r>
            <a:endParaRPr lang="en-IN" dirty="0"/>
          </a:p>
        </p:txBody>
      </p:sp>
      <p:sp>
        <p:nvSpPr>
          <p:cNvPr id="24" name="TextBox 23">
            <a:extLst>
              <a:ext uri="{FF2B5EF4-FFF2-40B4-BE49-F238E27FC236}">
                <a16:creationId xmlns:a16="http://schemas.microsoft.com/office/drawing/2014/main" id="{B1FB3437-CAB7-441E-A7A7-A6284172394D}"/>
              </a:ext>
            </a:extLst>
          </p:cNvPr>
          <p:cNvSpPr txBox="1"/>
          <p:nvPr/>
        </p:nvSpPr>
        <p:spPr>
          <a:xfrm>
            <a:off x="5698831" y="5744912"/>
            <a:ext cx="2293347" cy="646331"/>
          </a:xfrm>
          <a:prstGeom prst="rect">
            <a:avLst/>
          </a:prstGeom>
          <a:noFill/>
        </p:spPr>
        <p:txBody>
          <a:bodyPr wrap="square" rtlCol="0">
            <a:spAutoFit/>
          </a:bodyPr>
          <a:lstStyle/>
          <a:p>
            <a:r>
              <a:rPr lang="en-US" dirty="0" err="1"/>
              <a:t>Padmasana</a:t>
            </a:r>
            <a:endParaRPr lang="en-US" dirty="0"/>
          </a:p>
          <a:p>
            <a:r>
              <a:rPr lang="en-US" dirty="0"/>
              <a:t>(forward fold)</a:t>
            </a:r>
            <a:endParaRPr lang="en-IN" dirty="0"/>
          </a:p>
        </p:txBody>
      </p:sp>
      <p:sp>
        <p:nvSpPr>
          <p:cNvPr id="25" name="TextBox 24">
            <a:extLst>
              <a:ext uri="{FF2B5EF4-FFF2-40B4-BE49-F238E27FC236}">
                <a16:creationId xmlns:a16="http://schemas.microsoft.com/office/drawing/2014/main" id="{878711AC-5CD7-4D78-A3ED-9F3D7D7077FA}"/>
              </a:ext>
            </a:extLst>
          </p:cNvPr>
          <p:cNvSpPr txBox="1"/>
          <p:nvPr/>
        </p:nvSpPr>
        <p:spPr>
          <a:xfrm>
            <a:off x="9372073" y="5744911"/>
            <a:ext cx="3048000" cy="646331"/>
          </a:xfrm>
          <a:prstGeom prst="rect">
            <a:avLst/>
          </a:prstGeom>
          <a:noFill/>
        </p:spPr>
        <p:txBody>
          <a:bodyPr wrap="square" rtlCol="0">
            <a:spAutoFit/>
          </a:bodyPr>
          <a:lstStyle/>
          <a:p>
            <a:r>
              <a:rPr lang="en-US" dirty="0" err="1"/>
              <a:t>Svanasana</a:t>
            </a:r>
            <a:endParaRPr lang="en-US" dirty="0"/>
          </a:p>
          <a:p>
            <a:r>
              <a:rPr lang="en-US" dirty="0"/>
              <a:t>(downward facing dog)</a:t>
            </a:r>
            <a:endParaRPr lang="en-IN" dirty="0"/>
          </a:p>
        </p:txBody>
      </p:sp>
      <p:sp>
        <p:nvSpPr>
          <p:cNvPr id="26" name="TextBox 25">
            <a:extLst>
              <a:ext uri="{FF2B5EF4-FFF2-40B4-BE49-F238E27FC236}">
                <a16:creationId xmlns:a16="http://schemas.microsoft.com/office/drawing/2014/main" id="{A3E23D38-EE98-4D07-90AD-8283270945E9}"/>
              </a:ext>
            </a:extLst>
          </p:cNvPr>
          <p:cNvSpPr txBox="1"/>
          <p:nvPr/>
        </p:nvSpPr>
        <p:spPr>
          <a:xfrm>
            <a:off x="7695801" y="4413852"/>
            <a:ext cx="2180492" cy="646331"/>
          </a:xfrm>
          <a:prstGeom prst="rect">
            <a:avLst/>
          </a:prstGeom>
          <a:noFill/>
        </p:spPr>
        <p:txBody>
          <a:bodyPr wrap="square" rtlCol="0">
            <a:spAutoFit/>
          </a:bodyPr>
          <a:lstStyle/>
          <a:p>
            <a:r>
              <a:rPr lang="en-US" dirty="0" err="1"/>
              <a:t>Padmasana</a:t>
            </a:r>
            <a:endParaRPr lang="en-US" dirty="0"/>
          </a:p>
          <a:p>
            <a:r>
              <a:rPr lang="en-US" dirty="0"/>
              <a:t>(Lotus pose)</a:t>
            </a:r>
            <a:endParaRPr lang="en-IN" dirty="0"/>
          </a:p>
        </p:txBody>
      </p:sp>
      <p:sp>
        <p:nvSpPr>
          <p:cNvPr id="4" name="TextBox 3">
            <a:extLst>
              <a:ext uri="{FF2B5EF4-FFF2-40B4-BE49-F238E27FC236}">
                <a16:creationId xmlns:a16="http://schemas.microsoft.com/office/drawing/2014/main" id="{F7FEC883-79E8-4B60-9314-F084AF3CD68F}"/>
              </a:ext>
            </a:extLst>
          </p:cNvPr>
          <p:cNvSpPr txBox="1"/>
          <p:nvPr/>
        </p:nvSpPr>
        <p:spPr>
          <a:xfrm>
            <a:off x="-2348154" y="861367"/>
            <a:ext cx="1526218" cy="615553"/>
          </a:xfrm>
          <a:prstGeom prst="rect">
            <a:avLst/>
          </a:prstGeom>
          <a:noFill/>
        </p:spPr>
        <p:txBody>
          <a:bodyPr wrap="square" rtlCol="0">
            <a:spAutoFit/>
          </a:bodyPr>
          <a:lstStyle/>
          <a:p>
            <a:r>
              <a:rPr lang="en-US" dirty="0"/>
              <a:t>7.Dhyana</a:t>
            </a:r>
          </a:p>
          <a:p>
            <a:r>
              <a:rPr lang="en-US" sz="1600" dirty="0"/>
              <a:t>Meditation</a:t>
            </a:r>
            <a:endParaRPr lang="en-IN" sz="1600" dirty="0"/>
          </a:p>
        </p:txBody>
      </p:sp>
      <p:sp>
        <p:nvSpPr>
          <p:cNvPr id="5" name="TextBox 4">
            <a:extLst>
              <a:ext uri="{FF2B5EF4-FFF2-40B4-BE49-F238E27FC236}">
                <a16:creationId xmlns:a16="http://schemas.microsoft.com/office/drawing/2014/main" id="{19A817C2-C799-FAE1-4072-7073A7D64EBD}"/>
              </a:ext>
            </a:extLst>
          </p:cNvPr>
          <p:cNvSpPr txBox="1"/>
          <p:nvPr/>
        </p:nvSpPr>
        <p:spPr>
          <a:xfrm>
            <a:off x="-2807249" y="2338287"/>
            <a:ext cx="2307545" cy="615553"/>
          </a:xfrm>
          <a:prstGeom prst="rect">
            <a:avLst/>
          </a:prstGeom>
          <a:noFill/>
        </p:spPr>
        <p:txBody>
          <a:bodyPr wrap="square" rtlCol="0">
            <a:spAutoFit/>
          </a:bodyPr>
          <a:lstStyle/>
          <a:p>
            <a:r>
              <a:rPr lang="en-US" dirty="0"/>
              <a:t>5.Pratyahara</a:t>
            </a:r>
          </a:p>
          <a:p>
            <a:r>
              <a:rPr lang="en-US" sz="1600" dirty="0" err="1"/>
              <a:t>Withdrawl</a:t>
            </a:r>
            <a:r>
              <a:rPr lang="en-US" sz="1600" dirty="0"/>
              <a:t> of senses</a:t>
            </a:r>
            <a:endParaRPr lang="en-IN" sz="1600" dirty="0"/>
          </a:p>
        </p:txBody>
      </p:sp>
      <p:sp>
        <p:nvSpPr>
          <p:cNvPr id="6" name="TextBox 5">
            <a:extLst>
              <a:ext uri="{FF2B5EF4-FFF2-40B4-BE49-F238E27FC236}">
                <a16:creationId xmlns:a16="http://schemas.microsoft.com/office/drawing/2014/main" id="{977853B3-4942-3279-F47C-32983460C1BD}"/>
              </a:ext>
            </a:extLst>
          </p:cNvPr>
          <p:cNvSpPr txBox="1"/>
          <p:nvPr/>
        </p:nvSpPr>
        <p:spPr>
          <a:xfrm>
            <a:off x="-3138509" y="3184356"/>
            <a:ext cx="2766646" cy="615553"/>
          </a:xfrm>
          <a:prstGeom prst="rect">
            <a:avLst/>
          </a:prstGeom>
          <a:noFill/>
        </p:spPr>
        <p:txBody>
          <a:bodyPr wrap="square" rtlCol="0">
            <a:spAutoFit/>
          </a:bodyPr>
          <a:lstStyle/>
          <a:p>
            <a:r>
              <a:rPr lang="en-US" dirty="0"/>
              <a:t>3.Asana</a:t>
            </a:r>
          </a:p>
          <a:p>
            <a:r>
              <a:rPr lang="en-US" sz="1600" dirty="0"/>
              <a:t>Movement and posture</a:t>
            </a:r>
            <a:endParaRPr lang="en-IN" sz="1600" dirty="0"/>
          </a:p>
        </p:txBody>
      </p:sp>
      <p:sp>
        <p:nvSpPr>
          <p:cNvPr id="7" name="TextBox 6">
            <a:extLst>
              <a:ext uri="{FF2B5EF4-FFF2-40B4-BE49-F238E27FC236}">
                <a16:creationId xmlns:a16="http://schemas.microsoft.com/office/drawing/2014/main" id="{7AD752FA-3103-57B2-2DED-B4E250AC9250}"/>
              </a:ext>
            </a:extLst>
          </p:cNvPr>
          <p:cNvSpPr txBox="1"/>
          <p:nvPr/>
        </p:nvSpPr>
        <p:spPr>
          <a:xfrm>
            <a:off x="-2344895" y="4643910"/>
            <a:ext cx="1716481" cy="615553"/>
          </a:xfrm>
          <a:prstGeom prst="rect">
            <a:avLst/>
          </a:prstGeom>
          <a:noFill/>
        </p:spPr>
        <p:txBody>
          <a:bodyPr wrap="square" rtlCol="0">
            <a:spAutoFit/>
          </a:bodyPr>
          <a:lstStyle/>
          <a:p>
            <a:r>
              <a:rPr lang="en-US" dirty="0"/>
              <a:t>1.Yama</a:t>
            </a:r>
          </a:p>
          <a:p>
            <a:r>
              <a:rPr lang="en-US" sz="1600" dirty="0"/>
              <a:t>Self-restraint</a:t>
            </a:r>
            <a:endParaRPr lang="en-IN" sz="1600" dirty="0"/>
          </a:p>
        </p:txBody>
      </p:sp>
      <p:sp>
        <p:nvSpPr>
          <p:cNvPr id="8" name="TextBox 7">
            <a:extLst>
              <a:ext uri="{FF2B5EF4-FFF2-40B4-BE49-F238E27FC236}">
                <a16:creationId xmlns:a16="http://schemas.microsoft.com/office/drawing/2014/main" id="{6B2B62E9-3088-C82B-90BC-4CDD7BF98E6A}"/>
              </a:ext>
            </a:extLst>
          </p:cNvPr>
          <p:cNvSpPr txBox="1"/>
          <p:nvPr/>
        </p:nvSpPr>
        <p:spPr>
          <a:xfrm>
            <a:off x="12186137" y="840559"/>
            <a:ext cx="1833348" cy="615553"/>
          </a:xfrm>
          <a:prstGeom prst="rect">
            <a:avLst/>
          </a:prstGeom>
          <a:noFill/>
        </p:spPr>
        <p:txBody>
          <a:bodyPr wrap="square" rtlCol="0">
            <a:spAutoFit/>
          </a:bodyPr>
          <a:lstStyle/>
          <a:p>
            <a:r>
              <a:rPr lang="en-US" dirty="0"/>
              <a:t>8.Samadhi</a:t>
            </a:r>
          </a:p>
          <a:p>
            <a:r>
              <a:rPr lang="en-US" sz="1600" dirty="0"/>
              <a:t>union</a:t>
            </a:r>
            <a:endParaRPr lang="en-IN" sz="1600" dirty="0"/>
          </a:p>
        </p:txBody>
      </p:sp>
      <p:sp>
        <p:nvSpPr>
          <p:cNvPr id="11" name="TextBox 10">
            <a:extLst>
              <a:ext uri="{FF2B5EF4-FFF2-40B4-BE49-F238E27FC236}">
                <a16:creationId xmlns:a16="http://schemas.microsoft.com/office/drawing/2014/main" id="{6BD55689-1E0F-3299-C939-DB6EAFC4B20B}"/>
              </a:ext>
            </a:extLst>
          </p:cNvPr>
          <p:cNvSpPr txBox="1"/>
          <p:nvPr/>
        </p:nvSpPr>
        <p:spPr>
          <a:xfrm>
            <a:off x="12255664" y="2092261"/>
            <a:ext cx="2860431" cy="615553"/>
          </a:xfrm>
          <a:prstGeom prst="rect">
            <a:avLst/>
          </a:prstGeom>
          <a:noFill/>
        </p:spPr>
        <p:txBody>
          <a:bodyPr wrap="square" rtlCol="0">
            <a:spAutoFit/>
          </a:bodyPr>
          <a:lstStyle/>
          <a:p>
            <a:r>
              <a:rPr lang="en-US" dirty="0"/>
              <a:t>6.Dharana</a:t>
            </a:r>
          </a:p>
          <a:p>
            <a:r>
              <a:rPr lang="en-US" sz="1600" dirty="0"/>
              <a:t>concentration</a:t>
            </a:r>
            <a:endParaRPr lang="en-IN" sz="1600" dirty="0"/>
          </a:p>
        </p:txBody>
      </p:sp>
      <p:sp>
        <p:nvSpPr>
          <p:cNvPr id="13" name="TextBox 12">
            <a:extLst>
              <a:ext uri="{FF2B5EF4-FFF2-40B4-BE49-F238E27FC236}">
                <a16:creationId xmlns:a16="http://schemas.microsoft.com/office/drawing/2014/main" id="{363AF93E-4746-B852-3357-5670F29DF6F2}"/>
              </a:ext>
            </a:extLst>
          </p:cNvPr>
          <p:cNvSpPr txBox="1"/>
          <p:nvPr/>
        </p:nvSpPr>
        <p:spPr>
          <a:xfrm>
            <a:off x="12328692" y="3282981"/>
            <a:ext cx="2286000" cy="615553"/>
          </a:xfrm>
          <a:prstGeom prst="rect">
            <a:avLst/>
          </a:prstGeom>
          <a:noFill/>
        </p:spPr>
        <p:txBody>
          <a:bodyPr wrap="square" rtlCol="0">
            <a:spAutoFit/>
          </a:bodyPr>
          <a:lstStyle/>
          <a:p>
            <a:r>
              <a:rPr lang="en-US" dirty="0"/>
              <a:t>4.Pranayama</a:t>
            </a:r>
          </a:p>
          <a:p>
            <a:r>
              <a:rPr lang="en-US" sz="1600" dirty="0"/>
              <a:t>Breath</a:t>
            </a:r>
            <a:endParaRPr lang="en-IN" sz="1600" dirty="0"/>
          </a:p>
        </p:txBody>
      </p:sp>
      <p:sp>
        <p:nvSpPr>
          <p:cNvPr id="15" name="TextBox 14">
            <a:extLst>
              <a:ext uri="{FF2B5EF4-FFF2-40B4-BE49-F238E27FC236}">
                <a16:creationId xmlns:a16="http://schemas.microsoft.com/office/drawing/2014/main" id="{0EDE33A0-3A38-03C3-EA25-2E700C20F424}"/>
              </a:ext>
            </a:extLst>
          </p:cNvPr>
          <p:cNvSpPr txBox="1"/>
          <p:nvPr/>
        </p:nvSpPr>
        <p:spPr>
          <a:xfrm>
            <a:off x="12195502" y="4602922"/>
            <a:ext cx="3165231" cy="584775"/>
          </a:xfrm>
          <a:prstGeom prst="rect">
            <a:avLst/>
          </a:prstGeom>
          <a:noFill/>
        </p:spPr>
        <p:txBody>
          <a:bodyPr wrap="square" rtlCol="0">
            <a:spAutoFit/>
          </a:bodyPr>
          <a:lstStyle/>
          <a:p>
            <a:r>
              <a:rPr lang="en-US" dirty="0"/>
              <a:t>2.Niyama</a:t>
            </a:r>
          </a:p>
          <a:p>
            <a:r>
              <a:rPr lang="en-US" sz="1400" dirty="0"/>
              <a:t>Observation</a:t>
            </a:r>
            <a:endParaRPr lang="en-IN" sz="1400" dirty="0"/>
          </a:p>
        </p:txBody>
      </p:sp>
      <p:sp>
        <p:nvSpPr>
          <p:cNvPr id="17" name="TextBox 16">
            <a:extLst>
              <a:ext uri="{FF2B5EF4-FFF2-40B4-BE49-F238E27FC236}">
                <a16:creationId xmlns:a16="http://schemas.microsoft.com/office/drawing/2014/main" id="{592F0A66-25C7-8A37-21B1-9E6C2C0B73CE}"/>
              </a:ext>
            </a:extLst>
          </p:cNvPr>
          <p:cNvSpPr txBox="1"/>
          <p:nvPr/>
        </p:nvSpPr>
        <p:spPr>
          <a:xfrm>
            <a:off x="4642783" y="6885832"/>
            <a:ext cx="3188676" cy="369332"/>
          </a:xfrm>
          <a:prstGeom prst="rect">
            <a:avLst/>
          </a:prstGeom>
          <a:noFill/>
        </p:spPr>
        <p:txBody>
          <a:bodyPr wrap="square" rtlCol="0">
            <a:spAutoFit/>
          </a:bodyPr>
          <a:lstStyle/>
          <a:p>
            <a:r>
              <a:rPr lang="en-US" dirty="0"/>
              <a:t>The Eight Limbs Of  YOGA</a:t>
            </a:r>
            <a:endParaRPr lang="en-IN" dirty="0"/>
          </a:p>
        </p:txBody>
      </p:sp>
    </p:spTree>
    <p:extLst>
      <p:ext uri="{BB962C8B-B14F-4D97-AF65-F5344CB8AC3E}">
        <p14:creationId xmlns:p14="http://schemas.microsoft.com/office/powerpoint/2010/main" val="25940072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C1596F1-E2C9-4EAF-B5A3-DCB5DAF53958}"/>
              </a:ext>
            </a:extLst>
          </p:cNvPr>
          <p:cNvSpPr txBox="1"/>
          <p:nvPr/>
        </p:nvSpPr>
        <p:spPr>
          <a:xfrm>
            <a:off x="1256135" y="267753"/>
            <a:ext cx="1483467" cy="615553"/>
          </a:xfrm>
          <a:prstGeom prst="rect">
            <a:avLst/>
          </a:prstGeom>
          <a:solidFill>
            <a:srgbClr val="FF9933"/>
          </a:solidFill>
        </p:spPr>
        <p:txBody>
          <a:bodyPr wrap="square" rtlCol="0">
            <a:spAutoFit/>
          </a:bodyPr>
          <a:lstStyle/>
          <a:p>
            <a:r>
              <a:rPr lang="en-US" dirty="0"/>
              <a:t>1.Samadhi</a:t>
            </a:r>
          </a:p>
          <a:p>
            <a:r>
              <a:rPr lang="en-US" sz="1600" dirty="0"/>
              <a:t>union</a:t>
            </a:r>
            <a:endParaRPr lang="en-IN" sz="1600" dirty="0"/>
          </a:p>
        </p:txBody>
      </p:sp>
      <p:sp>
        <p:nvSpPr>
          <p:cNvPr id="11" name="TextBox 10">
            <a:extLst>
              <a:ext uri="{FF2B5EF4-FFF2-40B4-BE49-F238E27FC236}">
                <a16:creationId xmlns:a16="http://schemas.microsoft.com/office/drawing/2014/main" id="{8983D079-8991-43F1-A131-3EC3111AD71C}"/>
              </a:ext>
            </a:extLst>
          </p:cNvPr>
          <p:cNvSpPr txBox="1"/>
          <p:nvPr/>
        </p:nvSpPr>
        <p:spPr>
          <a:xfrm>
            <a:off x="1140044" y="1875018"/>
            <a:ext cx="1599558" cy="615553"/>
          </a:xfrm>
          <a:prstGeom prst="rect">
            <a:avLst/>
          </a:prstGeom>
          <a:solidFill>
            <a:srgbClr val="FF9933"/>
          </a:solidFill>
        </p:spPr>
        <p:txBody>
          <a:bodyPr wrap="square" rtlCol="0">
            <a:spAutoFit/>
          </a:bodyPr>
          <a:lstStyle/>
          <a:p>
            <a:r>
              <a:rPr lang="en-US" dirty="0"/>
              <a:t>3.Dharana</a:t>
            </a:r>
          </a:p>
          <a:p>
            <a:r>
              <a:rPr lang="en-US" sz="1600" dirty="0"/>
              <a:t>concentration</a:t>
            </a:r>
            <a:endParaRPr lang="en-IN" sz="1600" dirty="0"/>
          </a:p>
        </p:txBody>
      </p:sp>
      <p:sp>
        <p:nvSpPr>
          <p:cNvPr id="12" name="TextBox 11">
            <a:extLst>
              <a:ext uri="{FF2B5EF4-FFF2-40B4-BE49-F238E27FC236}">
                <a16:creationId xmlns:a16="http://schemas.microsoft.com/office/drawing/2014/main" id="{EDE35382-8E7C-43D6-A71B-EB43E8FAC4BF}"/>
              </a:ext>
            </a:extLst>
          </p:cNvPr>
          <p:cNvSpPr txBox="1"/>
          <p:nvPr/>
        </p:nvSpPr>
        <p:spPr>
          <a:xfrm>
            <a:off x="1094779" y="4787710"/>
            <a:ext cx="1716482" cy="584775"/>
          </a:xfrm>
          <a:prstGeom prst="rect">
            <a:avLst/>
          </a:prstGeom>
          <a:solidFill>
            <a:srgbClr val="FF9933"/>
          </a:solidFill>
        </p:spPr>
        <p:txBody>
          <a:bodyPr wrap="square" rtlCol="0">
            <a:spAutoFit/>
          </a:bodyPr>
          <a:lstStyle/>
          <a:p>
            <a:r>
              <a:rPr lang="en-US" dirty="0"/>
              <a:t>7.Niyama</a:t>
            </a:r>
          </a:p>
          <a:p>
            <a:r>
              <a:rPr lang="en-US" sz="1400" dirty="0"/>
              <a:t>Observation</a:t>
            </a:r>
            <a:endParaRPr lang="en-IN" sz="1400" dirty="0"/>
          </a:p>
        </p:txBody>
      </p:sp>
      <p:sp>
        <p:nvSpPr>
          <p:cNvPr id="13" name="TextBox 12">
            <a:extLst>
              <a:ext uri="{FF2B5EF4-FFF2-40B4-BE49-F238E27FC236}">
                <a16:creationId xmlns:a16="http://schemas.microsoft.com/office/drawing/2014/main" id="{F9AB4858-406C-4A22-B49E-0731DD013B9C}"/>
              </a:ext>
            </a:extLst>
          </p:cNvPr>
          <p:cNvSpPr txBox="1"/>
          <p:nvPr/>
        </p:nvSpPr>
        <p:spPr>
          <a:xfrm>
            <a:off x="1140044" y="3477558"/>
            <a:ext cx="1709793" cy="615553"/>
          </a:xfrm>
          <a:prstGeom prst="rect">
            <a:avLst/>
          </a:prstGeom>
          <a:solidFill>
            <a:srgbClr val="FF9933"/>
          </a:solidFill>
        </p:spPr>
        <p:txBody>
          <a:bodyPr wrap="square" rtlCol="0">
            <a:spAutoFit/>
          </a:bodyPr>
          <a:lstStyle/>
          <a:p>
            <a:r>
              <a:rPr lang="en-US" dirty="0"/>
              <a:t>5.Pranayama</a:t>
            </a:r>
          </a:p>
          <a:p>
            <a:r>
              <a:rPr lang="en-US" sz="1600" dirty="0"/>
              <a:t>Breath</a:t>
            </a:r>
            <a:endParaRPr lang="en-IN" sz="1600" dirty="0"/>
          </a:p>
        </p:txBody>
      </p:sp>
      <p:sp>
        <p:nvSpPr>
          <p:cNvPr id="14" name="TextBox 13">
            <a:extLst>
              <a:ext uri="{FF2B5EF4-FFF2-40B4-BE49-F238E27FC236}">
                <a16:creationId xmlns:a16="http://schemas.microsoft.com/office/drawing/2014/main" id="{65539316-C029-43D5-915A-F29599C14463}"/>
              </a:ext>
            </a:extLst>
          </p:cNvPr>
          <p:cNvSpPr txBox="1"/>
          <p:nvPr/>
        </p:nvSpPr>
        <p:spPr>
          <a:xfrm>
            <a:off x="5001006" y="1080244"/>
            <a:ext cx="1526218" cy="615553"/>
          </a:xfrm>
          <a:prstGeom prst="rect">
            <a:avLst/>
          </a:prstGeom>
          <a:solidFill>
            <a:srgbClr val="FF9933">
              <a:alpha val="69804"/>
            </a:srgbClr>
          </a:solidFill>
        </p:spPr>
        <p:txBody>
          <a:bodyPr wrap="square" rtlCol="0">
            <a:spAutoFit/>
          </a:bodyPr>
          <a:lstStyle/>
          <a:p>
            <a:r>
              <a:rPr lang="en-US" dirty="0"/>
              <a:t>2.Dhyana</a:t>
            </a:r>
          </a:p>
          <a:p>
            <a:r>
              <a:rPr lang="en-US" sz="1600" dirty="0"/>
              <a:t>Meditation</a:t>
            </a:r>
            <a:endParaRPr lang="en-IN" sz="1600" dirty="0"/>
          </a:p>
        </p:txBody>
      </p:sp>
      <p:sp>
        <p:nvSpPr>
          <p:cNvPr id="15" name="TextBox 14">
            <a:extLst>
              <a:ext uri="{FF2B5EF4-FFF2-40B4-BE49-F238E27FC236}">
                <a16:creationId xmlns:a16="http://schemas.microsoft.com/office/drawing/2014/main" id="{D4BC5EA0-B0AF-4D96-A8D8-8D27ACF899B1}"/>
              </a:ext>
            </a:extLst>
          </p:cNvPr>
          <p:cNvSpPr txBox="1"/>
          <p:nvPr/>
        </p:nvSpPr>
        <p:spPr>
          <a:xfrm>
            <a:off x="4826257" y="2862005"/>
            <a:ext cx="2307545" cy="615553"/>
          </a:xfrm>
          <a:prstGeom prst="rect">
            <a:avLst/>
          </a:prstGeom>
          <a:solidFill>
            <a:srgbClr val="FF9933">
              <a:alpha val="69804"/>
            </a:srgbClr>
          </a:solidFill>
        </p:spPr>
        <p:txBody>
          <a:bodyPr wrap="square" rtlCol="0">
            <a:spAutoFit/>
          </a:bodyPr>
          <a:lstStyle/>
          <a:p>
            <a:r>
              <a:rPr lang="en-US" dirty="0"/>
              <a:t>4.Pratyahara</a:t>
            </a:r>
          </a:p>
          <a:p>
            <a:r>
              <a:rPr lang="en-US" sz="1600" dirty="0" err="1"/>
              <a:t>Withdrawl</a:t>
            </a:r>
            <a:r>
              <a:rPr lang="en-US" sz="1600" dirty="0"/>
              <a:t> of senses</a:t>
            </a:r>
            <a:endParaRPr lang="en-IN" sz="1600" dirty="0"/>
          </a:p>
        </p:txBody>
      </p:sp>
      <p:sp>
        <p:nvSpPr>
          <p:cNvPr id="16" name="TextBox 15">
            <a:extLst>
              <a:ext uri="{FF2B5EF4-FFF2-40B4-BE49-F238E27FC236}">
                <a16:creationId xmlns:a16="http://schemas.microsoft.com/office/drawing/2014/main" id="{FBEFC8C3-06E6-4837-BDF4-EB676412CEFE}"/>
              </a:ext>
            </a:extLst>
          </p:cNvPr>
          <p:cNvSpPr txBox="1"/>
          <p:nvPr/>
        </p:nvSpPr>
        <p:spPr>
          <a:xfrm>
            <a:off x="4406963" y="4335989"/>
            <a:ext cx="2307545" cy="615553"/>
          </a:xfrm>
          <a:prstGeom prst="rect">
            <a:avLst/>
          </a:prstGeom>
          <a:solidFill>
            <a:srgbClr val="FF9933">
              <a:alpha val="69804"/>
            </a:srgbClr>
          </a:solidFill>
        </p:spPr>
        <p:txBody>
          <a:bodyPr wrap="square" rtlCol="0">
            <a:spAutoFit/>
          </a:bodyPr>
          <a:lstStyle/>
          <a:p>
            <a:r>
              <a:rPr lang="en-US" dirty="0"/>
              <a:t>6.Asana</a:t>
            </a:r>
          </a:p>
          <a:p>
            <a:r>
              <a:rPr lang="en-US" sz="1600" dirty="0"/>
              <a:t>Movement and posture</a:t>
            </a:r>
            <a:endParaRPr lang="en-IN" sz="1600" dirty="0"/>
          </a:p>
        </p:txBody>
      </p:sp>
      <p:sp>
        <p:nvSpPr>
          <p:cNvPr id="17" name="TextBox 16">
            <a:extLst>
              <a:ext uri="{FF2B5EF4-FFF2-40B4-BE49-F238E27FC236}">
                <a16:creationId xmlns:a16="http://schemas.microsoft.com/office/drawing/2014/main" id="{D710385C-84BC-422F-B10F-F0FB95A3AAA3}"/>
              </a:ext>
            </a:extLst>
          </p:cNvPr>
          <p:cNvSpPr txBox="1"/>
          <p:nvPr/>
        </p:nvSpPr>
        <p:spPr>
          <a:xfrm>
            <a:off x="4142765" y="5777756"/>
            <a:ext cx="1716481" cy="615553"/>
          </a:xfrm>
          <a:prstGeom prst="rect">
            <a:avLst/>
          </a:prstGeom>
          <a:solidFill>
            <a:srgbClr val="FF9933">
              <a:alpha val="69804"/>
            </a:srgbClr>
          </a:solidFill>
        </p:spPr>
        <p:txBody>
          <a:bodyPr wrap="square" rtlCol="0">
            <a:spAutoFit/>
          </a:bodyPr>
          <a:lstStyle/>
          <a:p>
            <a:r>
              <a:rPr lang="en-US" dirty="0"/>
              <a:t>8.Yama</a:t>
            </a:r>
          </a:p>
          <a:p>
            <a:r>
              <a:rPr lang="en-US" sz="1600" dirty="0"/>
              <a:t>Self-restraint</a:t>
            </a:r>
            <a:endParaRPr lang="en-IN" sz="1600" dirty="0"/>
          </a:p>
        </p:txBody>
      </p:sp>
      <p:sp>
        <p:nvSpPr>
          <p:cNvPr id="3" name="Oval 2">
            <a:extLst>
              <a:ext uri="{FF2B5EF4-FFF2-40B4-BE49-F238E27FC236}">
                <a16:creationId xmlns:a16="http://schemas.microsoft.com/office/drawing/2014/main" id="{482870A6-8E4D-8AA9-3413-1B1B725B68CF}"/>
              </a:ext>
            </a:extLst>
          </p:cNvPr>
          <p:cNvSpPr/>
          <p:nvPr/>
        </p:nvSpPr>
        <p:spPr>
          <a:xfrm>
            <a:off x="7683142" y="-419246"/>
            <a:ext cx="6755641" cy="7574508"/>
          </a:xfrm>
          <a:prstGeom prst="ellipse">
            <a:avLst/>
          </a:prstGeom>
          <a:solidFill>
            <a:srgbClr val="FF99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9" name="Picture 8">
            <a:extLst>
              <a:ext uri="{FF2B5EF4-FFF2-40B4-BE49-F238E27FC236}">
                <a16:creationId xmlns:a16="http://schemas.microsoft.com/office/drawing/2014/main" id="{D7FB4785-C868-4BAE-8671-610CE786E34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6106" b="91995" l="6658" r="92935">
                        <a14:foregroundMark x1="48777" y1="35957" x2="48777" y2="35957"/>
                        <a14:foregroundMark x1="48777" y1="34871" x2="48777" y2="34871"/>
                        <a14:foregroundMark x1="10054" y1="46540" x2="10054" y2="46540"/>
                        <a14:foregroundMark x1="6658" y1="46676" x2="6658" y2="46676"/>
                        <a14:foregroundMark x1="89130" y1="51289" x2="89130" y2="51289"/>
                        <a14:foregroundMark x1="92935" y1="53053" x2="92935" y2="53053"/>
                        <a14:foregroundMark x1="41984" y1="16147" x2="41984" y2="16147"/>
                        <a14:foregroundMark x1="33288" y1="19810" x2="33288" y2="19810"/>
                        <a14:foregroundMark x1="27038" y1="17503" x2="27038" y2="17503"/>
                        <a14:foregroundMark x1="32337" y1="20896" x2="32337" y2="20896"/>
                        <a14:foregroundMark x1="32473" y1="20488" x2="32473" y2="20488"/>
                        <a14:foregroundMark x1="26766" y1="18996" x2="26766" y2="18996"/>
                        <a14:foregroundMark x1="48913" y1="15197" x2="48913" y2="15197"/>
                        <a14:foregroundMark x1="45516" y1="21167" x2="45516" y2="21167"/>
                        <a14:foregroundMark x1="52989" y1="10991" x2="52989" y2="10991"/>
                        <a14:foregroundMark x1="58832" y1="12754" x2="58832" y2="12754"/>
                        <a14:foregroundMark x1="51495" y1="6106" x2="51495" y2="6106"/>
                        <a14:foregroundMark x1="32473" y1="20760" x2="32473" y2="20760"/>
                        <a14:foregroundMark x1="27174" y1="18996" x2="26087" y2="17910"/>
                        <a14:foregroundMark x1="31793" y1="22117" x2="32745" y2="20624"/>
                        <a14:foregroundMark x1="65489" y1="72863" x2="65489" y2="72863"/>
                        <a14:foregroundMark x1="28125" y1="78290" x2="25543" y2="81547"/>
                        <a14:foregroundMark x1="50136" y1="91995" x2="57201" y2="91859"/>
                        <a14:foregroundMark x1="24185" y1="56581" x2="24185" y2="56581"/>
                        <a14:foregroundMark x1="12772" y1="51289" x2="12772" y2="51289"/>
                        <a14:foregroundMark x1="17935" y1="62144" x2="18614" y2="63772"/>
                        <a14:foregroundMark x1="59239" y1="51560" x2="57745" y2="54138"/>
                        <a14:foregroundMark x1="59511" y1="58616" x2="59511" y2="58887"/>
                        <a14:foregroundMark x1="47690" y1="66893" x2="47011" y2="66893"/>
                        <a14:foregroundMark x1="47690" y1="75441" x2="48234" y2="76526"/>
                        <a14:foregroundMark x1="35462" y1="78426" x2="36413" y2="79376"/>
                        <a14:foregroundMark x1="61549" y1="43555" x2="62908" y2="44369"/>
                        <a14:foregroundMark x1="27853" y1="51696" x2="28125" y2="50611"/>
                        <a14:foregroundMark x1="34239" y1="48033" x2="33152" y2="47490"/>
                        <a14:foregroundMark x1="71060" y1="51289" x2="72418" y2="50611"/>
                        <a14:foregroundMark x1="13451" y1="21303" x2="14402" y2="21303"/>
                        <a14:foregroundMark x1="21603" y1="24288" x2="21603" y2="22252"/>
                        <a14:foregroundMark x1="15761" y1="27273" x2="18478" y2="27001"/>
                        <a14:foregroundMark x1="41033" y1="22117" x2="41168" y2="22117"/>
                        <a14:foregroundMark x1="41304" y1="22117" x2="41304" y2="22117"/>
                        <a14:foregroundMark x1="29755" y1="27273" x2="29755" y2="27273"/>
                        <a14:foregroundMark x1="26902" y1="34193" x2="26902" y2="34193"/>
                        <a14:foregroundMark x1="75679" y1="35685" x2="75815" y2="35278"/>
                        <a14:foregroundMark x1="77446" y1="34735" x2="76223" y2="36499"/>
                        <a14:foregroundMark x1="16712" y1="30529" x2="18750" y2="30258"/>
                        <a14:foregroundMark x1="49864" y1="35142" x2="49592" y2="34328"/>
                        <a14:foregroundMark x1="77038" y1="30258" x2="78668" y2="30122"/>
                        <a14:foregroundMark x1="79755" y1="27137" x2="80299" y2="25373"/>
                        <a14:foregroundMark x1="26630" y1="63365" x2="31929" y2="61058"/>
                        <a14:foregroundMark x1="37908" y1="61058" x2="38043" y2="59023"/>
                        <a14:foregroundMark x1="14946" y1="43284" x2="14674" y2="41520"/>
                        <a14:foregroundMark x1="82745" y1="69199" x2="83560" y2="69199"/>
                        <a14:foregroundMark x1="77174" y1="68792" x2="77446" y2="69335"/>
                        <a14:foregroundMark x1="63179" y1="56038" x2="64402" y2="56716"/>
                        <a14:backgroundMark x1="58288" y1="46811" x2="58288" y2="46811"/>
                        <a14:backgroundMark x1="64810" y1="41791" x2="64810" y2="41791"/>
                        <a14:backgroundMark x1="27038" y1="56988" x2="27038" y2="56988"/>
                        <a14:backgroundMark x1="19565" y1="59294" x2="21739" y2="60516"/>
                        <a14:backgroundMark x1="30163" y1="45590" x2="31114" y2="45590"/>
                        <a14:backgroundMark x1="29299" y1="34193" x2="29484" y2="36228"/>
                        <a14:backgroundMark x1="29212" y1="33243" x2="29299" y2="34193"/>
                        <a14:backgroundMark x1="36141" y1="54953" x2="36141" y2="54953"/>
                        <a14:backgroundMark x1="48777" y1="61872" x2="48777" y2="62958"/>
                        <a14:backgroundMark x1="43207" y1="67164" x2="43207" y2="67164"/>
                        <a14:backgroundMark x1="41033" y1="62280" x2="41033" y2="62280"/>
                        <a14:backgroundMark x1="35598" y1="63229" x2="35598" y2="63229"/>
                        <a14:backgroundMark x1="38179" y1="76255" x2="38315" y2="76934"/>
                        <a14:backgroundMark x1="44022" y1="74491" x2="44022" y2="74491"/>
                        <a14:backgroundMark x1="73098" y1="34600" x2="72690" y2="34193"/>
                        <a14:backgroundMark x1="71467" y1="32836" x2="71332" y2="31750"/>
                        <a14:backgroundMark x1="75951" y1="30936" x2="75951" y2="30936"/>
                        <a14:backgroundMark x1="30707" y1="52646" x2="30707" y2="51425"/>
                        <a14:backgroundMark x1="51766" y1="26323" x2="51766" y2="26323"/>
                        <a14:backgroundMark x1="63587" y1="29037" x2="63587" y2="28901"/>
                        <a14:backgroundMark x1="70109" y1="41520" x2="70109" y2="41113"/>
                        <a14:backgroundMark x1="70380" y1="54410" x2="70380" y2="54410"/>
                        <a14:backgroundMark x1="78261" y1="57123" x2="78261" y2="56445"/>
                        <a14:backgroundMark x1="42527" y1="35821" x2="42935" y2="36228"/>
                        <a14:backgroundMark x1="43886" y1="31615" x2="43886" y2="31615"/>
                        <a14:backgroundMark x1="33288" y1="24966" x2="33288" y2="24966"/>
                        <a14:backgroundMark x1="22418" y1="27951" x2="22418" y2="27951"/>
                        <a14:backgroundMark x1="18886" y1="24559" x2="18886" y2="24559"/>
                        <a14:backgroundMark x1="20924" y1="30122" x2="20924" y2="30122"/>
                        <a14:backgroundMark x1="24592" y1="32564" x2="24592" y2="32564"/>
                        <a14:backgroundMark x1="36413" y1="33107" x2="36413" y2="33107"/>
                        <a14:backgroundMark x1="37500" y1="29444" x2="37500" y2="29444"/>
                        <a14:backgroundMark x1="40625" y1="24152" x2="40625" y2="24152"/>
                        <a14:backgroundMark x1="45516" y1="26594" x2="45516" y2="26594"/>
                        <a14:backgroundMark x1="47011" y1="31343" x2="47011" y2="31343"/>
                        <a14:backgroundMark x1="41033" y1="41520" x2="41033" y2="41520"/>
                        <a14:backgroundMark x1="43886" y1="45862" x2="43886" y2="45862"/>
                        <a14:backgroundMark x1="46060" y1="51153" x2="46060" y2="51153"/>
                        <a14:backgroundMark x1="49864" y1="52646" x2="49864" y2="52646"/>
                        <a14:backgroundMark x1="56522" y1="34871" x2="56386" y2="34464"/>
                        <a14:backgroundMark x1="73913" y1="38806" x2="73913" y2="38806"/>
                        <a14:backgroundMark x1="73098" y1="41655" x2="73098" y2="41655"/>
                        <a14:backgroundMark x1="71603" y1="43284" x2="71603" y2="43284"/>
                        <a14:backgroundMark x1="69158" y1="44233" x2="69158" y2="44233"/>
                        <a14:backgroundMark x1="68886" y1="45590" x2="68886" y2="45590"/>
                        <a14:backgroundMark x1="19022" y1="50475" x2="19022" y2="50475"/>
                        <a14:backgroundMark x1="15082" y1="45862" x2="15082" y2="45862"/>
                        <a14:backgroundMark x1="36413" y1="38399" x2="36413" y2="38399"/>
                        <a14:backgroundMark x1="50679" y1="30801" x2="50679" y2="30801"/>
                        <a14:backgroundMark x1="75543" y1="28901" x2="75543" y2="28901"/>
                        <a14:backgroundMark x1="35326" y1="59973" x2="35326" y2="59973"/>
                        <a14:backgroundMark x1="34103" y1="59023" x2="34103" y2="59023"/>
                        <a14:backgroundMark x1="32745" y1="58073" x2="32745" y2="58073"/>
                        <a14:backgroundMark x1="20109" y1="74898" x2="21467" y2="74491"/>
                        <a14:backgroundMark x1="31386" y1="72592" x2="31522" y2="72592"/>
                        <a14:backgroundMark x1="35326" y1="68657" x2="35326" y2="68657"/>
                        <a14:backgroundMark x1="42663" y1="70014" x2="42663" y2="70014"/>
                        <a14:backgroundMark x1="37364" y1="72320" x2="37364" y2="72320"/>
                        <a14:backgroundMark x1="76087" y1="65943" x2="76087" y2="65943"/>
                        <a14:backgroundMark x1="39538" y1="66893" x2="39538" y2="66893"/>
                        <a14:backgroundMark x1="33560" y1="73948" x2="33560" y2="73948"/>
                        <a14:backgroundMark x1="34511" y1="30258" x2="34511" y2="30258"/>
                      </a14:backgroundRemoval>
                    </a14:imgEffect>
                  </a14:imgLayer>
                </a14:imgProps>
              </a:ext>
              <a:ext uri="{28A0092B-C50C-407E-A947-70E740481C1C}">
                <a14:useLocalDpi xmlns:a14="http://schemas.microsoft.com/office/drawing/2010/main" val="0"/>
              </a:ext>
            </a:extLst>
          </a:blip>
          <a:stretch>
            <a:fillRect/>
          </a:stretch>
        </p:blipFill>
        <p:spPr>
          <a:xfrm>
            <a:off x="7644566" y="821193"/>
            <a:ext cx="5894173" cy="5844746"/>
          </a:xfrm>
          <a:prstGeom prst="rect">
            <a:avLst/>
          </a:prstGeom>
        </p:spPr>
      </p:pic>
      <p:sp>
        <p:nvSpPr>
          <p:cNvPr id="18" name="TextBox 17">
            <a:extLst>
              <a:ext uri="{FF2B5EF4-FFF2-40B4-BE49-F238E27FC236}">
                <a16:creationId xmlns:a16="http://schemas.microsoft.com/office/drawing/2014/main" id="{B0C56CC8-1ABB-4E45-9943-5BDFC7A1D6A5}"/>
              </a:ext>
            </a:extLst>
          </p:cNvPr>
          <p:cNvSpPr txBox="1"/>
          <p:nvPr/>
        </p:nvSpPr>
        <p:spPr>
          <a:xfrm>
            <a:off x="8313601" y="809868"/>
            <a:ext cx="4721774" cy="523220"/>
          </a:xfrm>
          <a:prstGeom prst="rect">
            <a:avLst/>
          </a:prstGeom>
          <a:noFill/>
        </p:spPr>
        <p:txBody>
          <a:bodyPr wrap="square" rtlCol="0">
            <a:spAutoFit/>
          </a:bodyPr>
          <a:lstStyle/>
          <a:p>
            <a:r>
              <a:rPr lang="en-US" sz="2800" dirty="0">
                <a:solidFill>
                  <a:srgbClr val="D46112"/>
                </a:solidFill>
                <a:latin typeface="Algerian" panose="04020705040A02060702" pitchFamily="82" charset="0"/>
              </a:rPr>
              <a:t> Eight Limbs Of  YOGA</a:t>
            </a:r>
            <a:endParaRPr lang="en-IN" sz="2800" dirty="0">
              <a:solidFill>
                <a:srgbClr val="D46112"/>
              </a:solidFill>
              <a:latin typeface="Algerian" panose="04020705040A02060702" pitchFamily="82" charset="0"/>
            </a:endParaRPr>
          </a:p>
        </p:txBody>
      </p:sp>
      <p:pic>
        <p:nvPicPr>
          <p:cNvPr id="6" name="Picture 5" descr="A yellow background with a black and white image&#10;&#10;AI-generated content may be incorrect.">
            <a:extLst>
              <a:ext uri="{FF2B5EF4-FFF2-40B4-BE49-F238E27FC236}">
                <a16:creationId xmlns:a16="http://schemas.microsoft.com/office/drawing/2014/main" id="{6A875096-78B9-B8E0-2425-1AFE40DF8A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656081" y="-836543"/>
            <a:ext cx="5804848" cy="3816042"/>
          </a:xfrm>
          <a:prstGeom prst="rect">
            <a:avLst/>
          </a:prstGeom>
        </p:spPr>
      </p:pic>
    </p:spTree>
    <p:extLst>
      <p:ext uri="{BB962C8B-B14F-4D97-AF65-F5344CB8AC3E}">
        <p14:creationId xmlns:p14="http://schemas.microsoft.com/office/powerpoint/2010/main" val="23849425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A yellow background with a black and white image&#10;&#10;AI-generated content may be incorrect.">
            <a:extLst>
              <a:ext uri="{FF2B5EF4-FFF2-40B4-BE49-F238E27FC236}">
                <a16:creationId xmlns:a16="http://schemas.microsoft.com/office/drawing/2014/main" id="{368BA90B-57B6-3D82-EAD8-72A79F4AA8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557462"/>
            <a:ext cx="5804848" cy="3816042"/>
          </a:xfrm>
          <a:prstGeom prst="rect">
            <a:avLst/>
          </a:prstGeom>
        </p:spPr>
      </p:pic>
      <p:pic>
        <p:nvPicPr>
          <p:cNvPr id="14" name="Picture 13" descr="A person standing on one leg with her hands over her head&#10;&#10;AI-generated content may be incorrect.">
            <a:extLst>
              <a:ext uri="{FF2B5EF4-FFF2-40B4-BE49-F238E27FC236}">
                <a16:creationId xmlns:a16="http://schemas.microsoft.com/office/drawing/2014/main" id="{C773A866-7702-B160-4C60-D1468A5B39F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9286" r="90510">
                        <a14:foregroundMark x1="9286" y1="76633" x2="9286" y2="76633"/>
                        <a14:foregroundMark x1="90510" y1="76429" x2="90510" y2="76429"/>
                        <a14:foregroundMark x1="76531" y1="42551" x2="76531" y2="42551"/>
                        <a14:foregroundMark x1="46837" y1="88367" x2="46837" y2="88367"/>
                      </a14:backgroundRemoval>
                    </a14:imgEffect>
                  </a14:imgLayer>
                </a14:imgProps>
              </a:ext>
              <a:ext uri="{28A0092B-C50C-407E-A947-70E740481C1C}">
                <a14:useLocalDpi xmlns:a14="http://schemas.microsoft.com/office/drawing/2010/main" val="0"/>
              </a:ext>
            </a:extLst>
          </a:blip>
          <a:stretch>
            <a:fillRect/>
          </a:stretch>
        </p:blipFill>
        <p:spPr>
          <a:xfrm>
            <a:off x="-358254" y="313899"/>
            <a:ext cx="6454254" cy="6858000"/>
          </a:xfrm>
          <a:prstGeom prst="rect">
            <a:avLst/>
          </a:prstGeom>
        </p:spPr>
      </p:pic>
      <p:sp>
        <p:nvSpPr>
          <p:cNvPr id="15" name="TextBox 14">
            <a:extLst>
              <a:ext uri="{FF2B5EF4-FFF2-40B4-BE49-F238E27FC236}">
                <a16:creationId xmlns:a16="http://schemas.microsoft.com/office/drawing/2014/main" id="{945891FC-EC33-8F8D-1058-7B05027DA949}"/>
              </a:ext>
            </a:extLst>
          </p:cNvPr>
          <p:cNvSpPr txBox="1"/>
          <p:nvPr/>
        </p:nvSpPr>
        <p:spPr>
          <a:xfrm>
            <a:off x="6755641" y="2911211"/>
            <a:ext cx="4899547" cy="3108543"/>
          </a:xfrm>
          <a:prstGeom prst="rect">
            <a:avLst/>
          </a:prstGeom>
          <a:noFill/>
        </p:spPr>
        <p:txBody>
          <a:bodyPr wrap="square" rtlCol="0">
            <a:spAutoFit/>
          </a:bodyPr>
          <a:lstStyle/>
          <a:p>
            <a:pPr marL="285750" indent="-285750">
              <a:buFont typeface="Wingdings" panose="05000000000000000000" pitchFamily="2" charset="2"/>
              <a:buChar char="v"/>
            </a:pPr>
            <a:r>
              <a:rPr lang="en-US" sz="2800" dirty="0"/>
              <a:t>Yoga helps in maintaining an appropriate posture</a:t>
            </a:r>
          </a:p>
          <a:p>
            <a:pPr marL="285750" indent="-285750">
              <a:buFont typeface="Wingdings" panose="05000000000000000000" pitchFamily="2" charset="2"/>
              <a:buChar char="v"/>
            </a:pPr>
            <a:r>
              <a:rPr lang="en-US" sz="2800" dirty="0"/>
              <a:t>It makes us resilient to daily stressors </a:t>
            </a:r>
          </a:p>
          <a:p>
            <a:pPr marL="285750" indent="-285750">
              <a:buFont typeface="Wingdings" panose="05000000000000000000" pitchFamily="2" charset="2"/>
              <a:buChar char="v"/>
            </a:pPr>
            <a:r>
              <a:rPr lang="en-US" sz="2800" dirty="0"/>
              <a:t>It improves our flexibility</a:t>
            </a:r>
          </a:p>
          <a:p>
            <a:pPr marL="285750" indent="-285750">
              <a:buFont typeface="Wingdings" panose="05000000000000000000" pitchFamily="2" charset="2"/>
              <a:buChar char="v"/>
            </a:pPr>
            <a:r>
              <a:rPr lang="en-US" sz="2800" dirty="0"/>
              <a:t>It helps maintain muscle health and strengthens them</a:t>
            </a:r>
            <a:endParaRPr lang="en-IN" sz="2800" dirty="0"/>
          </a:p>
        </p:txBody>
      </p:sp>
      <p:sp>
        <p:nvSpPr>
          <p:cNvPr id="18" name="TextBox 17">
            <a:extLst>
              <a:ext uri="{FF2B5EF4-FFF2-40B4-BE49-F238E27FC236}">
                <a16:creationId xmlns:a16="http://schemas.microsoft.com/office/drawing/2014/main" id="{7BC04474-BD5A-C1F0-1C80-002495B4BC42}"/>
              </a:ext>
            </a:extLst>
          </p:cNvPr>
          <p:cNvSpPr txBox="1"/>
          <p:nvPr/>
        </p:nvSpPr>
        <p:spPr>
          <a:xfrm>
            <a:off x="5145207" y="1487841"/>
            <a:ext cx="6923964" cy="830997"/>
          </a:xfrm>
          <a:prstGeom prst="rect">
            <a:avLst/>
          </a:prstGeom>
          <a:noFill/>
        </p:spPr>
        <p:txBody>
          <a:bodyPr wrap="square" rtlCol="0">
            <a:spAutoFit/>
          </a:bodyPr>
          <a:lstStyle/>
          <a:p>
            <a:r>
              <a:rPr lang="en-US" sz="4800" dirty="0">
                <a:solidFill>
                  <a:srgbClr val="D46112"/>
                </a:solidFill>
                <a:latin typeface="Algerian" panose="04020705040A02060702" pitchFamily="82" charset="0"/>
              </a:rPr>
              <a:t>Importances Of Yoga</a:t>
            </a:r>
            <a:endParaRPr lang="en-IN" sz="4800" dirty="0">
              <a:solidFill>
                <a:srgbClr val="D46112"/>
              </a:solidFill>
              <a:latin typeface="Algerian" panose="04020705040A02060702" pitchFamily="82" charset="0"/>
            </a:endParaRPr>
          </a:p>
        </p:txBody>
      </p:sp>
    </p:spTree>
    <p:extLst>
      <p:ext uri="{BB962C8B-B14F-4D97-AF65-F5344CB8AC3E}">
        <p14:creationId xmlns:p14="http://schemas.microsoft.com/office/powerpoint/2010/main" val="24569330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erson sitting in a lotus position&#10;&#10;AI-generated content may be incorrect.">
            <a:extLst>
              <a:ext uri="{FF2B5EF4-FFF2-40B4-BE49-F238E27FC236}">
                <a16:creationId xmlns:a16="http://schemas.microsoft.com/office/drawing/2014/main" id="{441540D3-04AD-DAEC-821D-481BD03DE9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9642" y="2148288"/>
            <a:ext cx="7932145" cy="4709711"/>
          </a:xfrm>
          <a:prstGeom prst="rect">
            <a:avLst/>
          </a:prstGeom>
        </p:spPr>
      </p:pic>
      <p:sp>
        <p:nvSpPr>
          <p:cNvPr id="4" name="TextBox 3">
            <a:extLst>
              <a:ext uri="{FF2B5EF4-FFF2-40B4-BE49-F238E27FC236}">
                <a16:creationId xmlns:a16="http://schemas.microsoft.com/office/drawing/2014/main" id="{42406095-E4FB-D111-8CB7-D7549A9B7C04}"/>
              </a:ext>
            </a:extLst>
          </p:cNvPr>
          <p:cNvSpPr txBox="1"/>
          <p:nvPr/>
        </p:nvSpPr>
        <p:spPr>
          <a:xfrm>
            <a:off x="3833870" y="605928"/>
            <a:ext cx="6775373" cy="1938992"/>
          </a:xfrm>
          <a:prstGeom prst="rect">
            <a:avLst/>
          </a:prstGeom>
          <a:noFill/>
        </p:spPr>
        <p:txBody>
          <a:bodyPr wrap="square" rtlCol="0">
            <a:spAutoFit/>
          </a:bodyPr>
          <a:lstStyle/>
          <a:p>
            <a:r>
              <a:rPr lang="en-US" sz="6000" dirty="0">
                <a:solidFill>
                  <a:srgbClr val="F19759"/>
                </a:solidFill>
                <a:latin typeface="Algerian" panose="04020705040A02060702" pitchFamily="82" charset="0"/>
              </a:rPr>
              <a:t>Thanks For Watching</a:t>
            </a:r>
            <a:endParaRPr lang="en-IN" sz="6000" dirty="0">
              <a:solidFill>
                <a:srgbClr val="F19759"/>
              </a:solidFill>
              <a:latin typeface="Algerian" panose="04020705040A02060702" pitchFamily="82" charset="0"/>
            </a:endParaRPr>
          </a:p>
        </p:txBody>
      </p:sp>
    </p:spTree>
    <p:extLst>
      <p:ext uri="{BB962C8B-B14F-4D97-AF65-F5344CB8AC3E}">
        <p14:creationId xmlns:p14="http://schemas.microsoft.com/office/powerpoint/2010/main" val="554449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622</TotalTime>
  <Words>563</Words>
  <Application>Microsoft Office PowerPoint</Application>
  <PresentationFormat>Widescreen</PresentationFormat>
  <Paragraphs>97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Algerian</vt:lpstr>
      <vt:lpstr>Arial</vt:lpstr>
      <vt:lpstr>Calibri</vt:lpstr>
      <vt:lpstr>Calibri Light</vt:lpstr>
      <vt:lpstr>Wingdings</vt:lpstr>
      <vt:lpstr>Office Theme</vt:lpstr>
      <vt:lpstr>PowerPoint Presentation</vt:lpstr>
      <vt:lpstr>Definition of Yoga</vt:lpstr>
      <vt:lpstr>Definition of Yoga</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YOGA</dc:title>
  <dc:creator>MAAYA-05</dc:creator>
  <cp:lastModifiedBy>MAAYA-17</cp:lastModifiedBy>
  <cp:revision>41</cp:revision>
  <dcterms:created xsi:type="dcterms:W3CDTF">2026-04-03T09:04:25Z</dcterms:created>
  <dcterms:modified xsi:type="dcterms:W3CDTF">2026-04-08T10:11:35Z</dcterms:modified>
</cp:coreProperties>
</file>