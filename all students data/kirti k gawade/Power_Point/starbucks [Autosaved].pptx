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DE2281-B1BB-4FB5-BA3E-6410279970BC}">
          <p14:sldIdLst>
            <p14:sldId id="256"/>
          </p14:sldIdLst>
        </p14:section>
        <p14:section name="Untitled Section" id="{CBC9396C-6073-4F19-B746-AC8C7455D13E}">
          <p14:sldIdLst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FFCCCC"/>
    <a:srgbClr val="FF66CC"/>
    <a:srgbClr val="FF3399"/>
    <a:srgbClr val="CC0066"/>
    <a:srgbClr val="89C064"/>
    <a:srgbClr val="30BC5B"/>
    <a:srgbClr val="87BE62"/>
    <a:srgbClr val="75B44A"/>
    <a:srgbClr val="649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>
        <p:scale>
          <a:sx n="41" d="100"/>
          <a:sy n="41" d="100"/>
        </p:scale>
        <p:origin x="239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2C2F-014A-4592-9255-F9A932C10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EFDA9-DAAF-4713-A8A4-75EA5AF35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17DB6-EA34-4CC3-A104-8EB3B0F4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118D-318A-4F11-8915-DEE4ABEF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D73AF-6E20-4C63-8102-BF3B388F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5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1CFF-ECB5-4490-8335-F7F06BF0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26272-730A-436B-9DFB-3C0C93F8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D0497-FB59-4268-8C1A-49932A2B6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0098B-A20C-498C-94C5-26CC8CA78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0A4AC-DB49-4B4C-B193-6716BDEA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67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E5FA-1DCE-4B2F-8196-B6D398E6C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A19B8-3B77-4D91-8463-576DAC7DA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694CC-06DF-4503-9077-967D8133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68240-EB05-43BD-81D6-42631443D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4D8A2-DED1-4164-8E9F-60CEEF3A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8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E36E-FB98-4EF2-800E-D4946A90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4508B-31C6-4FB2-94D4-07584E640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9E7B1-B299-452F-B456-62F998AC6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74243-7916-49D2-A9B5-72C382D8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6D654-2E43-47C5-B63C-DDD80A6E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B2CC6-D4A6-4AC2-9E97-FDAEA203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3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19B0-776D-47A0-BE9A-3BD3B73F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4BCDF-170B-4057-A2D2-91DE172F6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FDCAE-8ADE-483D-A64E-1A7332154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D6C7B-3070-4012-80AD-021726D6C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0E882-9ABC-4CCD-917D-96127FBE9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584E2-8A33-4F87-90FF-AF059031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66A3EE-D0ED-4FDB-9526-005CB99F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7A564-BE02-4293-8972-016C48D8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0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A684-CD20-4484-A40C-B355A566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D1977E-1B23-41C8-8C62-82CAE46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906B7-5F85-4D3F-8B34-5FBB5876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DBBDD-65D9-4E39-BAF5-04CE2C1E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18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AE4C4-B0D4-45E8-888B-BF81F1E9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44C509-A77A-4FB7-9F17-4FAF2187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15B65-C548-4C77-ADCA-93FF6C66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72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8429-D1DC-433B-85EE-EDF0B1EE2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BA981-8E0B-483A-8797-7096BB4C0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D3EFB-46F3-49C0-B3DE-C050716E2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B447C-1F72-4BB6-A4A3-E09D5AEA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11874-1CE3-4EE6-8A71-880A8A78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8C315-0930-4606-8090-AAEB3337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44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1C0E-16A1-492A-90D7-EE7EAC5D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B50195-DB48-4658-8AA3-E8BBC7DD2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6199C-48B5-4AAF-8B58-5C80EA505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2A263-9ECF-4BBE-BEB7-7C9949E1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D481B-6958-428E-BDA6-C66899C4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23EE1-9FCA-4428-B3D4-E7CE948F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2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F521-ED22-4F9D-B3DF-0B8ADF0A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D9661-DB8B-4BD2-9E99-570090CCE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62E8B-82BA-4FFC-9FFB-48D75FE0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B271-511B-403D-B72C-7BBE4BF5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559B-FAD4-4C5A-A8B9-CA473CEE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80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3DEF1-30AB-4160-96ED-686FF5FB1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FA638-9D8A-42C9-A314-BBBDE6941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4CEE-CA66-4724-9DD6-3B0A7C7B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3D278-8A0E-479A-A87C-892141DE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D9F6-BD35-4213-8426-5E4C19B4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76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BAD74-FFB2-4788-B624-1E57C3F8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4A13-F3CF-446B-BE08-0AB5491A0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1FD93-E75D-48DE-8F1E-CCF474D12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A6164-B95F-474F-8E3D-17183AB6D0F0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DF00-9F7D-40A5-B671-C4326E69F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C72C5-F177-4A4E-AE57-CFAB7A0BA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FA9A-072B-4FB8-8305-AF8DCB17A1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7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reepngimg.com/png/24210-starbucks-logo-imag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freepngimg.com/png/24210-starbucks-logo-imag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freepngimg.com/png/24210-starbucks-logo-image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hyperlink" Target="https://freepngimg.com/png/24210-starbucks-logo-imag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epngimg.com/png/24210-starbucks-logo-image" TargetMode="External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0"/>
              </a:schemeClr>
            </a:gs>
            <a:gs pos="23000">
              <a:schemeClr val="accent6">
                <a:lumMod val="50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7E64C-6748-40DC-8756-27AD61970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52900" y="1733550"/>
            <a:ext cx="3886200" cy="3924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8AE5C-54F7-49E4-A183-39EE2DA6E243}"/>
              </a:ext>
            </a:extLst>
          </p:cNvPr>
          <p:cNvSpPr txBox="1"/>
          <p:nvPr/>
        </p:nvSpPr>
        <p:spPr>
          <a:xfrm>
            <a:off x="-3459336" y="2781234"/>
            <a:ext cx="1202154" cy="857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834C84-E966-4619-8D8C-53E436901D1D}"/>
              </a:ext>
            </a:extLst>
          </p:cNvPr>
          <p:cNvSpPr txBox="1"/>
          <p:nvPr/>
        </p:nvSpPr>
        <p:spPr>
          <a:xfrm>
            <a:off x="-1845518" y="2748203"/>
            <a:ext cx="1845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UBE COCONUT MACCHIATO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77114-BA70-4275-8215-232543BF84D4}"/>
              </a:ext>
            </a:extLst>
          </p:cNvPr>
          <p:cNvSpPr txBox="1"/>
          <p:nvPr/>
        </p:nvSpPr>
        <p:spPr>
          <a:xfrm>
            <a:off x="-4857731" y="4269091"/>
            <a:ext cx="1398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TOASTED COCONUT LATTE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7B35E1-F5D6-4A87-9BEB-837FF4183ECB}"/>
              </a:ext>
            </a:extLst>
          </p:cNvPr>
          <p:cNvSpPr txBox="1"/>
          <p:nvPr/>
        </p:nvSpPr>
        <p:spPr>
          <a:xfrm>
            <a:off x="-6322588" y="2919733"/>
            <a:ext cx="1398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LATTE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A2293-AEA5-4170-B254-A7B1341EE918}"/>
              </a:ext>
            </a:extLst>
          </p:cNvPr>
          <p:cNvSpPr txBox="1"/>
          <p:nvPr/>
        </p:nvSpPr>
        <p:spPr>
          <a:xfrm>
            <a:off x="-4870767" y="2828835"/>
            <a:ext cx="15193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CREAM MATCHA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46D748-C7A8-4977-8505-744710C7FAA6}"/>
              </a:ext>
            </a:extLst>
          </p:cNvPr>
          <p:cNvSpPr txBox="1"/>
          <p:nvPr/>
        </p:nvSpPr>
        <p:spPr>
          <a:xfrm>
            <a:off x="-1853413" y="4125327"/>
            <a:ext cx="1475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CREAM CHAI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26071D-DA81-4CD8-884B-262062924C56}"/>
              </a:ext>
            </a:extLst>
          </p:cNvPr>
          <p:cNvSpPr txBox="1"/>
          <p:nvPr/>
        </p:nvSpPr>
        <p:spPr>
          <a:xfrm>
            <a:off x="-3351445" y="4269091"/>
            <a:ext cx="1602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LAVENDER CREAM FRAPPUCCINO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BFC261-F58A-4B17-AE1A-5AB7F4814200}"/>
              </a:ext>
            </a:extLst>
          </p:cNvPr>
          <p:cNvSpPr txBox="1"/>
          <p:nvPr/>
        </p:nvSpPr>
        <p:spPr>
          <a:xfrm>
            <a:off x="-3367848" y="2781234"/>
            <a:ext cx="1845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TOASTED COCONUT CREAM COLD BREW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5876FC-2786-4830-859C-547817FC68E0}"/>
              </a:ext>
            </a:extLst>
          </p:cNvPr>
          <p:cNvSpPr txBox="1"/>
          <p:nvPr/>
        </p:nvSpPr>
        <p:spPr>
          <a:xfrm>
            <a:off x="-6309318" y="4546090"/>
            <a:ext cx="1343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FROG CAKE POP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62DEC-B5DC-4A06-A3EE-69A09CF1A770}"/>
              </a:ext>
            </a:extLst>
          </p:cNvPr>
          <p:cNvSpPr txBox="1"/>
          <p:nvPr/>
        </p:nvSpPr>
        <p:spPr>
          <a:xfrm>
            <a:off x="5546481" y="8674909"/>
            <a:ext cx="1099038" cy="48320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 2026 </a:t>
            </a:r>
            <a:endParaRPr lang="en-IN" sz="4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04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4260B3-0275-4E64-8EAA-451021769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53569" y="267606"/>
            <a:ext cx="884861" cy="893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3412763" y="1594885"/>
            <a:ext cx="5366471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 2026 </a:t>
            </a:r>
            <a:endParaRPr lang="en-IN" sz="4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0763250" y="-333376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1549062" y="45243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0239375" y="19049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287125" y="588168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11668125" y="535781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10763250" y="640556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364629" y="6286500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10102691" y="6715125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10505201" y="-40685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1872005" y="-144921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0" y="-983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-395288" y="978465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390524" y="77843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914836" y="-25626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1484277" y="-55682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2895" y="202621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0" y="5762625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652898" y="559162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736128" y="6453187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-312337" y="55751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1220038" y="6637677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-67523" y="532348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658873" y="5349082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F672B8-1C4B-4C41-996A-2EC33BB7ECD4}"/>
              </a:ext>
            </a:extLst>
          </p:cNvPr>
          <p:cNvSpPr txBox="1"/>
          <p:nvPr/>
        </p:nvSpPr>
        <p:spPr>
          <a:xfrm>
            <a:off x="6501015" y="4566560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TOASTED COCONUT LATTE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C7C690-C58F-4646-A45C-26A02F2029B1}"/>
              </a:ext>
            </a:extLst>
          </p:cNvPr>
          <p:cNvSpPr txBox="1"/>
          <p:nvPr/>
        </p:nvSpPr>
        <p:spPr>
          <a:xfrm>
            <a:off x="6547342" y="3165582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LATTE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2DD993-68D8-4CDE-B5F6-0B1F90DFC1A6}"/>
              </a:ext>
            </a:extLst>
          </p:cNvPr>
          <p:cNvSpPr txBox="1"/>
          <p:nvPr/>
        </p:nvSpPr>
        <p:spPr>
          <a:xfrm>
            <a:off x="8405011" y="3164883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CREAM MATCHA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F19957-E426-4221-A304-A6536B83AEE1}"/>
              </a:ext>
            </a:extLst>
          </p:cNvPr>
          <p:cNvSpPr txBox="1"/>
          <p:nvPr/>
        </p:nvSpPr>
        <p:spPr>
          <a:xfrm>
            <a:off x="2201120" y="4597216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LAVENDER CREAM CHAI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34CDB3-50CD-456A-97D9-F2485D776118}"/>
              </a:ext>
            </a:extLst>
          </p:cNvPr>
          <p:cNvSpPr txBox="1"/>
          <p:nvPr/>
        </p:nvSpPr>
        <p:spPr>
          <a:xfrm>
            <a:off x="4319143" y="4596928"/>
            <a:ext cx="1934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LAVENDER CREAM FRAPPUCCINO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4319143" y="321571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TOASTED COCONUT CREAM COLD BREW</a:t>
            </a:r>
            <a:endParaRPr lang="en-IN" dirty="0">
              <a:solidFill>
                <a:srgbClr val="990033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EB6354-DC7D-4CCD-901E-BEA1FDC9DA83}"/>
              </a:ext>
            </a:extLst>
          </p:cNvPr>
          <p:cNvSpPr txBox="1"/>
          <p:nvPr/>
        </p:nvSpPr>
        <p:spPr>
          <a:xfrm>
            <a:off x="8405011" y="4596928"/>
            <a:ext cx="1622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FROG CAKE POP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3EF48EB-66BE-4AC1-8162-052BE4698C81}"/>
              </a:ext>
            </a:extLst>
          </p:cNvPr>
          <p:cNvSpPr/>
          <p:nvPr/>
        </p:nvSpPr>
        <p:spPr>
          <a:xfrm rot="1079973">
            <a:off x="-8874989" y="-2294458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79BF2B-CB0D-4543-AC24-672FCD8BADED}"/>
              </a:ext>
            </a:extLst>
          </p:cNvPr>
          <p:cNvSpPr/>
          <p:nvPr/>
        </p:nvSpPr>
        <p:spPr>
          <a:xfrm rot="1079973">
            <a:off x="-1071701" y="1025923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486289F-9456-400F-A3D3-4432BA3BFC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146" y="1341631"/>
            <a:ext cx="11007054" cy="709618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2201120" y="3210137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ICED UBE COCONUT MACCHIATO</a:t>
            </a:r>
            <a:endParaRPr lang="en-IN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55098" y="-426343"/>
            <a:ext cx="9370871" cy="62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5FABE16C-EA52-4A19-B7FA-F411B75C046A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D64495-F827-4F36-A587-0A9A7E6A749D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260B3-0275-4E64-8EAA-451021769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4044462" y="2620212"/>
            <a:ext cx="50624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90033"/>
                </a:solidFill>
              </a:rPr>
              <a:t>- The Starbucks Iced Ube Coconut Macchiato is a spring 2026 beverage featuring espresso, milk, and toasted coconut syrup, topped with a distinctive </a:t>
            </a:r>
            <a:r>
              <a:rPr lang="en-US" sz="2000" dirty="0" err="1">
                <a:solidFill>
                  <a:srgbClr val="990033"/>
                </a:solidFill>
              </a:rPr>
              <a:t>ube</a:t>
            </a:r>
            <a:r>
              <a:rPr lang="en-US" sz="2000" dirty="0">
                <a:solidFill>
                  <a:srgbClr val="990033"/>
                </a:solidFill>
              </a:rPr>
              <a:t> cold foam and coconut flakes.</a:t>
            </a:r>
            <a:endParaRPr lang="en-IN" sz="2000" dirty="0">
              <a:solidFill>
                <a:srgbClr val="990033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572F9-6C07-480D-BD30-B899F062481F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1089" y="-391112"/>
            <a:ext cx="9370871" cy="625747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1495651" y="5000317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195" y="4349094"/>
            <a:ext cx="2656154" cy="171240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8635002" y="6017277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990033"/>
                </a:solidFill>
              </a:rPr>
              <a:t>TOASTED COCONUT CREAM COLD BREW</a:t>
            </a:r>
            <a:endParaRPr lang="en-IN" sz="1400" b="1" dirty="0">
              <a:solidFill>
                <a:srgbClr val="990033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DA2DA88-3337-4F43-890C-763D654681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171" y="-1422028"/>
            <a:ext cx="10040566" cy="1004056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13137DE1-E510-4872-97C2-D23317B01502}"/>
              </a:ext>
            </a:extLst>
          </p:cNvPr>
          <p:cNvSpPr txBox="1"/>
          <p:nvPr/>
        </p:nvSpPr>
        <p:spPr>
          <a:xfrm>
            <a:off x="13417085" y="6192401"/>
            <a:ext cx="1688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0033"/>
                </a:solidFill>
              </a:rPr>
              <a:t>ICED LAVENDER LATTE</a:t>
            </a:r>
            <a:endParaRPr lang="en-IN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94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994C4E48-9750-4099-8F68-FD502674EFC0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60F6F9A-DFA0-4E82-99A3-BCC94C0A80CA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1407995" y="5111026"/>
            <a:ext cx="2086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TOASTED COCONUT CREAM COLD BREW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799" y="2013748"/>
            <a:ext cx="4886831" cy="315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US" dirty="0">
                <a:solidFill>
                  <a:srgbClr val="990033"/>
                </a:solidFill>
              </a:rPr>
              <a:t>The Starbucks Toasted Coconut Cream Cold Brew is</a:t>
            </a:r>
            <a:r>
              <a:rPr lang="en-IN" sz="1600" dirty="0">
                <a:solidFill>
                  <a:srgbClr val="990033"/>
                </a:solidFill>
              </a:rPr>
              <a:t> </a:t>
            </a:r>
            <a:r>
              <a:rPr lang="en-IN" dirty="0">
                <a:solidFill>
                  <a:srgbClr val="990033"/>
                </a:solidFill>
              </a:rPr>
              <a:t>a spring 2026 menu item featuring Starbucks Cold Brew sweetened with vanilla syrup, topped with a toasted coconut cream cold foam, and finished with toasted coconut flakes. It offers a creamy, lightly coconut-forward taste rather than an overpowering tropical flavour.</a:t>
            </a:r>
            <a:endParaRPr lang="en-IN" sz="2000" dirty="0">
              <a:solidFill>
                <a:srgbClr val="990033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16C686A-B9B9-4513-A07D-41E8FE5C8C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237" y="3874041"/>
            <a:ext cx="2671304" cy="267130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8784529" y="6072842"/>
            <a:ext cx="1688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990033"/>
                </a:solidFill>
              </a:rPr>
              <a:t>ICED LAVENDER LATTE</a:t>
            </a:r>
            <a:endParaRPr lang="en-IN" sz="1400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40010" y="-645875"/>
            <a:ext cx="9370871" cy="625747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6AF70B0-CE46-4E33-B000-088D46F41C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1279" y="-2156767"/>
            <a:ext cx="10306582" cy="980676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19BDE2E-FABD-465A-8A6F-24B64D4022B0}"/>
              </a:ext>
            </a:extLst>
          </p:cNvPr>
          <p:cNvSpPr txBox="1"/>
          <p:nvPr/>
        </p:nvSpPr>
        <p:spPr>
          <a:xfrm>
            <a:off x="13098357" y="6303674"/>
            <a:ext cx="1834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ICED LAVENDER CREAM MATCHA</a:t>
            </a:r>
            <a:endParaRPr lang="en-IN" sz="16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303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4272FBC3-69FF-48A3-A48B-52CBCBA2C7E0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D10C53D-B1C4-40F6-A5F1-B23CF2684052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2503" y="-627520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1458829" y="5246497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IN" dirty="0">
                <a:solidFill>
                  <a:srgbClr val="990033"/>
                </a:solidFill>
              </a:rPr>
              <a:t>The Iced Lavender Latte is </a:t>
            </a:r>
            <a:r>
              <a:rPr lang="en-IN" sz="2000" dirty="0">
                <a:solidFill>
                  <a:srgbClr val="990033"/>
                </a:solidFill>
              </a:rPr>
              <a:t>a spring time menu item featuring Blonde Espresso, oat milk, ice, and a proprietary lavender powder</a:t>
            </a:r>
            <a:r>
              <a:rPr lang="en-IN" dirty="0">
                <a:solidFill>
                  <a:srgbClr val="990033"/>
                </a:solidFill>
              </a:rPr>
              <a:t>. It offers a light, floral, and subtly sweet </a:t>
            </a:r>
            <a:r>
              <a:rPr lang="en-IN" dirty="0" err="1">
                <a:solidFill>
                  <a:srgbClr val="990033"/>
                </a:solidFill>
              </a:rPr>
              <a:t>flavor</a:t>
            </a:r>
            <a:r>
              <a:rPr lang="en-IN" dirty="0">
                <a:solidFill>
                  <a:srgbClr val="990033"/>
                </a:solidFill>
              </a:rPr>
              <a:t> profile, often described as similar to lavender ice cream with soft vanilla notes.</a:t>
            </a:r>
            <a:endParaRPr lang="en-IN" sz="2000" dirty="0">
              <a:solidFill>
                <a:srgbClr val="99003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567" y="3965271"/>
            <a:ext cx="2594620" cy="2468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BF1873-DDE7-4141-B6AA-C022DB792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6357" y="1375008"/>
            <a:ext cx="4864160" cy="486416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8666948" y="6153413"/>
            <a:ext cx="1834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ICED LAVENDER CREAM MATCHA</a:t>
            </a:r>
            <a:endParaRPr lang="en-IN" sz="1600" dirty="0">
              <a:solidFill>
                <a:srgbClr val="990033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E1DC6F3-0CE2-4438-8745-19CC6B651C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5840" y="-3337857"/>
            <a:ext cx="11916138" cy="1191613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6CE004D-DD2D-4846-9D92-A9BAA00C08F4}"/>
              </a:ext>
            </a:extLst>
          </p:cNvPr>
          <p:cNvSpPr txBox="1"/>
          <p:nvPr/>
        </p:nvSpPr>
        <p:spPr>
          <a:xfrm>
            <a:off x="13087574" y="6303841"/>
            <a:ext cx="1585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ICED LAVENDER CREAM CHAI</a:t>
            </a:r>
            <a:endParaRPr lang="en-IN" sz="16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546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FFEF34C2-2956-4C72-A563-A12C32914671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A810545-773C-4AC6-9ED1-5DF9A47FE5A4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762105" y="6670507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2503" y="-627520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US" sz="2000" dirty="0">
                <a:solidFill>
                  <a:srgbClr val="990033"/>
                </a:solidFill>
              </a:rPr>
              <a:t>The Starbucks Iced Lavender Cream </a:t>
            </a:r>
            <a:r>
              <a:rPr lang="en-US" dirty="0" err="1">
                <a:solidFill>
                  <a:srgbClr val="990033"/>
                </a:solidFill>
              </a:rPr>
              <a:t>Matcha</a:t>
            </a:r>
            <a:r>
              <a:rPr lang="en-US" dirty="0">
                <a:solidFill>
                  <a:srgbClr val="990033"/>
                </a:solidFill>
              </a:rPr>
              <a:t> is </a:t>
            </a:r>
            <a:r>
              <a:rPr lang="en-US" sz="2000" dirty="0">
                <a:solidFill>
                  <a:srgbClr val="990033"/>
                </a:solidFill>
              </a:rPr>
              <a:t>a floral, creamy spring menu item featuring </a:t>
            </a:r>
            <a:r>
              <a:rPr lang="en-US" sz="2000" dirty="0" err="1">
                <a:solidFill>
                  <a:srgbClr val="990033"/>
                </a:solidFill>
              </a:rPr>
              <a:t>matcha</a:t>
            </a:r>
            <a:r>
              <a:rPr lang="en-US" sz="2000" dirty="0">
                <a:solidFill>
                  <a:srgbClr val="990033"/>
                </a:solidFill>
              </a:rPr>
              <a:t> green tea and oat milk, topped with a sweet, lavender-hued cold foam.</a:t>
            </a:r>
            <a:endParaRPr lang="en-IN" sz="2000" dirty="0">
              <a:solidFill>
                <a:srgbClr val="99003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8AB5639-707F-4B53-B664-AB001B4820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52891" y="1101221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" y="1549700"/>
            <a:ext cx="4358807" cy="435880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1379083" y="5337367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505" y="4006633"/>
            <a:ext cx="2479755" cy="247975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8618130" y="6129829"/>
            <a:ext cx="1585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ICED LAVENDER CREAM CHAI</a:t>
            </a:r>
            <a:endParaRPr lang="en-IN" sz="1600" dirty="0">
              <a:solidFill>
                <a:srgbClr val="990033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3C4D2B1-E9B6-4D9B-81C3-D65A5C8A9B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229" y="-3854902"/>
            <a:ext cx="14303203" cy="1430320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C3B4001-D338-4C77-BE85-73216F415C96}"/>
              </a:ext>
            </a:extLst>
          </p:cNvPr>
          <p:cNvSpPr txBox="1"/>
          <p:nvPr/>
        </p:nvSpPr>
        <p:spPr>
          <a:xfrm>
            <a:off x="12788001" y="6247180"/>
            <a:ext cx="1753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LAVENDER CREAM FRAPPUCCINO</a:t>
            </a:r>
            <a:endParaRPr lang="en-IN" sz="16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116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8">
            <a:extLst>
              <a:ext uri="{FF2B5EF4-FFF2-40B4-BE49-F238E27FC236}">
                <a16:creationId xmlns:a16="http://schemas.microsoft.com/office/drawing/2014/main" id="{B7DCD0BE-8FF6-4D88-97D4-1D4EF9C02FC2}"/>
              </a:ext>
            </a:extLst>
          </p:cNvPr>
          <p:cNvSpPr/>
          <p:nvPr/>
        </p:nvSpPr>
        <p:spPr>
          <a:xfrm rot="1079973">
            <a:off x="1082294" y="4233327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3453A7-FEE1-4E3D-BD28-53D6E26A817D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2503" y="-627520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23697" y="1076560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8783" y="1165743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43" y="1646503"/>
            <a:ext cx="4537851" cy="453785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1412664" y="5569662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008" y="3775240"/>
            <a:ext cx="2730911" cy="273091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8487263" y="6153643"/>
            <a:ext cx="1753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LAVENDER CREAM FRAPPUCCINO</a:t>
            </a:r>
            <a:endParaRPr lang="en-IN" sz="1600" dirty="0">
              <a:solidFill>
                <a:srgbClr val="9900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US" dirty="0">
                <a:solidFill>
                  <a:srgbClr val="990033"/>
                </a:solidFill>
              </a:rPr>
              <a:t>The Starbucks Iced Lavender Cream Chai is </a:t>
            </a:r>
            <a:r>
              <a:rPr lang="en-US" sz="2000" dirty="0">
                <a:solidFill>
                  <a:srgbClr val="990033"/>
                </a:solidFill>
              </a:rPr>
              <a:t>a spring 2026 menu addition featuring a classic iced chai tea latte (chai concentrate, milk, ice) topped with a sweet, floral lavender cream cold foam</a:t>
            </a:r>
            <a:r>
              <a:rPr lang="en-US" dirty="0">
                <a:solidFill>
                  <a:srgbClr val="990033"/>
                </a:solidFill>
              </a:rPr>
              <a:t>. The drink is known for its light, floral, and creamy profile.</a:t>
            </a:r>
            <a:endParaRPr lang="en-IN" sz="2000" dirty="0">
              <a:solidFill>
                <a:srgbClr val="990033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07DA691-64BB-4285-B2C6-37BF7A2CC2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8598" y="-2326307"/>
            <a:ext cx="11849124" cy="1184912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3DA1646-BE00-48BB-BE47-A623B8D63A36}"/>
              </a:ext>
            </a:extLst>
          </p:cNvPr>
          <p:cNvSpPr txBox="1"/>
          <p:nvPr/>
        </p:nvSpPr>
        <p:spPr>
          <a:xfrm>
            <a:off x="13081280" y="5851849"/>
            <a:ext cx="1781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TOASTED COCONUT LATTE</a:t>
            </a:r>
            <a:endParaRPr lang="en-IN" sz="16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6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val 49">
            <a:extLst>
              <a:ext uri="{FF2B5EF4-FFF2-40B4-BE49-F238E27FC236}">
                <a16:creationId xmlns:a16="http://schemas.microsoft.com/office/drawing/2014/main" id="{C0D0878F-144C-4CB5-A47C-501463985FF6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FFD3D88-2B02-471D-95AB-0EDB0CBF519C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954" y="-645262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IN" dirty="0">
                <a:solidFill>
                  <a:srgbClr val="990033"/>
                </a:solidFill>
              </a:rPr>
              <a:t>The Starbucks Lavender Crème Frappuccino is a caffeine-free, blended beverage featuring sweet lavender powder and vanilla syrup mixed with milk and ice, topped with whipped cream.</a:t>
            </a:r>
            <a:endParaRPr lang="en-IN" sz="2000" dirty="0">
              <a:solidFill>
                <a:srgbClr val="99003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-2416682" y="5018101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8478" y="1140248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8783" y="1165743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0072" y="1112635"/>
            <a:ext cx="4537851" cy="4537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294" y="1084695"/>
            <a:ext cx="5092288" cy="509228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1400765" y="5607282"/>
            <a:ext cx="193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LAVENDER CREAM FRAPPUCCINO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980F19-CA60-48E4-8FB8-C6E9EDF0F8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942" y="3976173"/>
            <a:ext cx="2334119" cy="233411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DE2E85E-5F2A-469F-BF16-DA1D9887402B}"/>
              </a:ext>
            </a:extLst>
          </p:cNvPr>
          <p:cNvSpPr txBox="1"/>
          <p:nvPr/>
        </p:nvSpPr>
        <p:spPr>
          <a:xfrm>
            <a:off x="8720296" y="5851849"/>
            <a:ext cx="1781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TOASTED COCONUT LATTE</a:t>
            </a:r>
            <a:endParaRPr lang="en-IN" sz="1600" dirty="0">
              <a:solidFill>
                <a:srgbClr val="990033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1626A30-BF0B-4F1C-899E-20EF74CD23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80400">
            <a:off x="12267465" y="187078"/>
            <a:ext cx="9503409" cy="950340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B7D155A-A63A-418C-839B-418F1038639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6183">
            <a:off x="13584814" y="929423"/>
            <a:ext cx="9190254" cy="919025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E37EC28D-C72B-4694-A6C8-4D3E4DF6F679}"/>
              </a:ext>
            </a:extLst>
          </p:cNvPr>
          <p:cNvSpPr txBox="1"/>
          <p:nvPr/>
        </p:nvSpPr>
        <p:spPr>
          <a:xfrm>
            <a:off x="13281345" y="5990764"/>
            <a:ext cx="119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FROG CAKE POP</a:t>
            </a:r>
          </a:p>
        </p:txBody>
      </p:sp>
    </p:spTree>
    <p:extLst>
      <p:ext uri="{BB962C8B-B14F-4D97-AF65-F5344CB8AC3E}">
        <p14:creationId xmlns:p14="http://schemas.microsoft.com/office/powerpoint/2010/main" val="3694125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96C1B1D8-B0BD-4B78-B9D7-9FFBBE93A424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1151FA9-A2CB-4A95-8256-0F3A604EE2A7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954" y="-645262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US" dirty="0">
                <a:solidFill>
                  <a:srgbClr val="990033"/>
                </a:solidFill>
              </a:rPr>
              <a:t>The Starbucks Toasted Coconut Latte is a year-round espresso beverage featuring signature espresso, steamed milk, and a toasted coconut-flavored syrup. It is available hot or iced and offers a sweet, nutty, and creamy flavor.</a:t>
            </a:r>
            <a:endParaRPr lang="en-IN" sz="2000" dirty="0">
              <a:solidFill>
                <a:srgbClr val="99003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-2416682" y="5018101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-2583546" y="5035197"/>
            <a:ext cx="193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LAVENDER CREAM FRAPPUCCINO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8478" y="1140248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8783" y="1165743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0072" y="1112635"/>
            <a:ext cx="4537851" cy="4537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09573" y="744422"/>
            <a:ext cx="5092288" cy="5092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980F19-CA60-48E4-8FB8-C6E9EDF0F8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9" y="1636564"/>
            <a:ext cx="4209214" cy="42092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DE2E85E-5F2A-469F-BF16-DA1D9887402B}"/>
              </a:ext>
            </a:extLst>
          </p:cNvPr>
          <p:cNvSpPr txBox="1"/>
          <p:nvPr/>
        </p:nvSpPr>
        <p:spPr>
          <a:xfrm>
            <a:off x="1728692" y="5122282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TOASTED COCONUT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4AEE0-B7A5-4F1B-9F25-BAEB6C1357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6183">
            <a:off x="8367633" y="4186107"/>
            <a:ext cx="2228511" cy="222851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22C9871-C0FE-4089-8A5F-6A557B643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80400">
            <a:off x="8198556" y="4067996"/>
            <a:ext cx="2022007" cy="202200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9020DB-DE95-43AA-88E9-975259A6DFF5}"/>
              </a:ext>
            </a:extLst>
          </p:cNvPr>
          <p:cNvSpPr txBox="1"/>
          <p:nvPr/>
        </p:nvSpPr>
        <p:spPr>
          <a:xfrm>
            <a:off x="8850028" y="5990764"/>
            <a:ext cx="119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FROG CAKE POP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F2E075-8969-4F40-A87E-E18B6EADAF37}"/>
              </a:ext>
            </a:extLst>
          </p:cNvPr>
          <p:cNvSpPr txBox="1"/>
          <p:nvPr/>
        </p:nvSpPr>
        <p:spPr>
          <a:xfrm>
            <a:off x="14153964" y="4281144"/>
            <a:ext cx="1245887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990033"/>
                </a:solidFill>
              </a:rPr>
              <a:t>Something Coming soon…..</a:t>
            </a:r>
            <a:endParaRPr lang="en-IN" sz="8800" b="1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60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DAE80DD5-245F-4BF1-9D6B-FAF034837276}"/>
              </a:ext>
            </a:extLst>
          </p:cNvPr>
          <p:cNvSpPr/>
          <p:nvPr/>
        </p:nvSpPr>
        <p:spPr>
          <a:xfrm rot="1079973">
            <a:off x="1150310" y="4083341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CB74A31-C4EA-4811-B91E-7423BA27CF8A}"/>
              </a:ext>
            </a:extLst>
          </p:cNvPr>
          <p:cNvSpPr/>
          <p:nvPr/>
        </p:nvSpPr>
        <p:spPr>
          <a:xfrm rot="1079973">
            <a:off x="-3157707" y="-2260931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7F941-2E23-4C00-9764-6078BF357504}"/>
              </a:ext>
            </a:extLst>
          </p:cNvPr>
          <p:cNvSpPr txBox="1"/>
          <p:nvPr/>
        </p:nvSpPr>
        <p:spPr>
          <a:xfrm>
            <a:off x="5127290" y="332612"/>
            <a:ext cx="2427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990033"/>
                </a:solidFill>
                <a:latin typeface="Baskerville Old Face" panose="02020602080505020303" pitchFamily="18" charset="0"/>
              </a:rPr>
              <a:t>SPRING MENU</a:t>
            </a:r>
            <a:endParaRPr lang="en-IN" sz="2400" b="1" dirty="0">
              <a:solidFill>
                <a:srgbClr val="990033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744665" y="40030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501312" y="230380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875052" y="359825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068970" y="636474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00663" y="611057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91094" y="4544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966400" y="5038799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8857" y="-734899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2032" y="1721444"/>
            <a:ext cx="4886831" cy="31505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-2416682" y="5018101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-2583546" y="5035197"/>
            <a:ext cx="193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LAVENDER CREAM FRAPPUCCINO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8478" y="1140248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8783" y="1165743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0072" y="1112635"/>
            <a:ext cx="4537851" cy="453785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DE2E85E-5F2A-469F-BF16-DA1D9887402B}"/>
              </a:ext>
            </a:extLst>
          </p:cNvPr>
          <p:cNvSpPr txBox="1"/>
          <p:nvPr/>
        </p:nvSpPr>
        <p:spPr>
          <a:xfrm>
            <a:off x="-2271316" y="5045714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TOASTED COCONUT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1404" y="653077"/>
            <a:ext cx="5092288" cy="5092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980F19-CA60-48E4-8FB8-C6E9EDF0F8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99681" y="1508538"/>
            <a:ext cx="4209214" cy="4209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B29613-0A9B-4876-B347-81A7EF23665D}"/>
              </a:ext>
            </a:extLst>
          </p:cNvPr>
          <p:cNvSpPr txBox="1"/>
          <p:nvPr/>
        </p:nvSpPr>
        <p:spPr>
          <a:xfrm>
            <a:off x="4567603" y="7364162"/>
            <a:ext cx="2972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CUSTOMIZED</a:t>
            </a:r>
            <a:r>
              <a:rPr lang="en-US" dirty="0">
                <a:solidFill>
                  <a:srgbClr val="990033"/>
                </a:solidFill>
              </a:rPr>
              <a:t> </a:t>
            </a:r>
            <a:r>
              <a:rPr lang="en-US" b="1" dirty="0">
                <a:solidFill>
                  <a:srgbClr val="990033"/>
                </a:solidFill>
              </a:rPr>
              <a:t>REFRESHERS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54AEE0-B7A5-4F1B-9F25-BAEB6C1357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6183">
            <a:off x="214804" y="2116579"/>
            <a:ext cx="3805330" cy="380533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9020DB-DE95-43AA-88E9-975259A6DFF5}"/>
              </a:ext>
            </a:extLst>
          </p:cNvPr>
          <p:cNvSpPr txBox="1"/>
          <p:nvPr/>
        </p:nvSpPr>
        <p:spPr>
          <a:xfrm>
            <a:off x="1628518" y="5227402"/>
            <a:ext cx="119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FROG CAKE POP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22C9871-C0FE-4089-8A5F-6A557B643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80400">
            <a:off x="-76392" y="1799806"/>
            <a:ext cx="3684277" cy="36842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81445-7425-46DA-B540-CD764C5F7AC8}"/>
              </a:ext>
            </a:extLst>
          </p:cNvPr>
          <p:cNvSpPr txBox="1"/>
          <p:nvPr/>
        </p:nvSpPr>
        <p:spPr>
          <a:xfrm>
            <a:off x="8225979" y="5277725"/>
            <a:ext cx="2545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90033"/>
                </a:solidFill>
              </a:rPr>
              <a:t>Something Coming soon…..</a:t>
            </a:r>
            <a:endParaRPr lang="en-IN" sz="2800" b="1" dirty="0">
              <a:solidFill>
                <a:srgbClr val="9900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77E7A-7CAA-4A7A-8B4A-45779CE3CAF3}"/>
              </a:ext>
            </a:extLst>
          </p:cNvPr>
          <p:cNvSpPr txBox="1"/>
          <p:nvPr/>
        </p:nvSpPr>
        <p:spPr>
          <a:xfrm>
            <a:off x="3971760" y="2442833"/>
            <a:ext cx="506246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0033"/>
                </a:solidFill>
              </a:rPr>
              <a:t>- </a:t>
            </a:r>
            <a:r>
              <a:rPr lang="en-US" dirty="0">
                <a:solidFill>
                  <a:srgbClr val="990033"/>
                </a:solidFill>
              </a:rPr>
              <a:t>The Starbucks Frog Cake Pop, introduced in spring 2026, is a vegetarian-friendly treat featuring vanilla cake mixed with buttercream, dipped in green chocolaty icing. It has a similar taste to the classic birthday cake pop—soft and dense—and is designed to look like a friendly frog.</a:t>
            </a:r>
            <a:endParaRPr lang="en-IN" sz="2000" dirty="0">
              <a:solidFill>
                <a:srgbClr val="990033"/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23EE87D-EE2B-4AB3-B6AF-04887E277A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61945" y="563444"/>
            <a:ext cx="5872419" cy="579775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B9282A6-1FCC-4809-9041-A64959867C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342" y="1191078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val 56">
            <a:extLst>
              <a:ext uri="{FF2B5EF4-FFF2-40B4-BE49-F238E27FC236}">
                <a16:creationId xmlns:a16="http://schemas.microsoft.com/office/drawing/2014/main" id="{F0439C71-5F3D-4E08-8E41-7953CD88D1ED}"/>
              </a:ext>
            </a:extLst>
          </p:cNvPr>
          <p:cNvSpPr/>
          <p:nvPr/>
        </p:nvSpPr>
        <p:spPr>
          <a:xfrm rot="1079973">
            <a:off x="1093959" y="7206852"/>
            <a:ext cx="7133322" cy="7133322"/>
          </a:xfrm>
          <a:prstGeom prst="ellips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244ED39-4F4B-441D-8929-2F94724C6023}"/>
              </a:ext>
            </a:extLst>
          </p:cNvPr>
          <p:cNvSpPr/>
          <p:nvPr/>
        </p:nvSpPr>
        <p:spPr>
          <a:xfrm rot="1079973">
            <a:off x="-9334773" y="-440239"/>
            <a:ext cx="7133322" cy="7133322"/>
          </a:xfrm>
          <a:prstGeom prst="ellipse">
            <a:avLst/>
          </a:prstGeom>
          <a:solidFill>
            <a:srgbClr val="99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1779524" y="1572462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589079" y="21226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1337405" y="454496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149301" y="6469714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9063450" y="402108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9481889" y="659606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10190458" y="5718007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7166777" y="614663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8791807" y="150234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0484109" y="277785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1220038" y="282079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21211" y="164650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426565" y="21862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3798101" y="177992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3423564" y="56344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2202823" y="2881632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1256298" y="6052046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5272512" y="6477492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3664375" y="58919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256077" y="522911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5569639" y="483547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1020204" y="4268566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2906624" y="4461504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06591" y="-875040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8695" y="1516574"/>
            <a:ext cx="4886831" cy="31505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599342" y="99902"/>
            <a:ext cx="523875" cy="5290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-2416682" y="5018101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-2583546" y="5035197"/>
            <a:ext cx="193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LAVENDER CREAM FRAPPUCCINO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08943" y="864620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87743" y="649366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6003" y="300702"/>
            <a:ext cx="4537851" cy="453785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DE2E85E-5F2A-469F-BF16-DA1D9887402B}"/>
              </a:ext>
            </a:extLst>
          </p:cNvPr>
          <p:cNvSpPr txBox="1"/>
          <p:nvPr/>
        </p:nvSpPr>
        <p:spPr>
          <a:xfrm>
            <a:off x="-2271316" y="5045714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TOASTED COCONUT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31886" y="190346"/>
            <a:ext cx="5092288" cy="509228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22C9871-C0FE-4089-8A5F-6A557B6437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80400">
            <a:off x="-7566597" y="1284284"/>
            <a:ext cx="3684277" cy="3684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4AEE0-B7A5-4F1B-9F25-BAEB6C135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6183">
            <a:off x="-6077989" y="1632398"/>
            <a:ext cx="3805330" cy="380533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9020DB-DE95-43AA-88E9-975259A6DFF5}"/>
              </a:ext>
            </a:extLst>
          </p:cNvPr>
          <p:cNvSpPr txBox="1"/>
          <p:nvPr/>
        </p:nvSpPr>
        <p:spPr>
          <a:xfrm>
            <a:off x="-1825670" y="5018101"/>
            <a:ext cx="114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FROG CAKE POP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980F19-CA60-48E4-8FB8-C6E9EDF0F8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39659" y="1380641"/>
            <a:ext cx="4209214" cy="42092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81445-7425-46DA-B540-CD764C5F7AC8}"/>
              </a:ext>
            </a:extLst>
          </p:cNvPr>
          <p:cNvSpPr txBox="1"/>
          <p:nvPr/>
        </p:nvSpPr>
        <p:spPr>
          <a:xfrm>
            <a:off x="4823201" y="495942"/>
            <a:ext cx="254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90033"/>
                </a:solidFill>
              </a:rPr>
              <a:t>Coming soon…..</a:t>
            </a:r>
            <a:endParaRPr lang="en-IN" sz="2800" b="1" dirty="0">
              <a:solidFill>
                <a:srgbClr val="990033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4BD5D7-ED64-47D2-869E-26D7DB302A63}"/>
              </a:ext>
            </a:extLst>
          </p:cNvPr>
          <p:cNvSpPr txBox="1"/>
          <p:nvPr/>
        </p:nvSpPr>
        <p:spPr>
          <a:xfrm>
            <a:off x="3898192" y="5323732"/>
            <a:ext cx="4875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990033"/>
                </a:solidFill>
              </a:rPr>
              <a:t>CUSTOMIZED</a:t>
            </a:r>
            <a:r>
              <a:rPr lang="en-US" sz="3200" dirty="0">
                <a:solidFill>
                  <a:srgbClr val="990033"/>
                </a:solidFill>
              </a:rPr>
              <a:t> </a:t>
            </a:r>
            <a:r>
              <a:rPr lang="en-US" sz="3200" b="1" dirty="0">
                <a:solidFill>
                  <a:srgbClr val="990033"/>
                </a:solidFill>
              </a:rPr>
              <a:t>REFRESHERS</a:t>
            </a:r>
            <a:endParaRPr lang="en-IN" sz="3200" b="1" dirty="0">
              <a:solidFill>
                <a:srgbClr val="990033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ECC78F-9D46-4E2D-9A22-4670860672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671" y="563445"/>
            <a:ext cx="4762500" cy="4762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9D185-7896-4FA7-BF4D-6C3508CCC3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858" y="699377"/>
            <a:ext cx="5872419" cy="579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0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0066"/>
            </a:gs>
            <a:gs pos="46000">
              <a:srgbClr val="FF3399"/>
            </a:gs>
            <a:gs pos="100000">
              <a:schemeClr val="bg1">
                <a:lumMod val="95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DA53F95-5B39-4DE1-B1FB-94CB828E53CC}"/>
              </a:ext>
            </a:extLst>
          </p:cNvPr>
          <p:cNvSpPr/>
          <p:nvPr/>
        </p:nvSpPr>
        <p:spPr>
          <a:xfrm>
            <a:off x="10844203" y="6078611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4DAA4C-A132-452A-B610-F0727EA97B3D}"/>
              </a:ext>
            </a:extLst>
          </p:cNvPr>
          <p:cNvSpPr/>
          <p:nvPr/>
        </p:nvSpPr>
        <p:spPr>
          <a:xfrm>
            <a:off x="10496968" y="-23480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BE8488-6087-4FFF-AFBE-676ECAAE40CF}"/>
              </a:ext>
            </a:extLst>
          </p:cNvPr>
          <p:cNvSpPr/>
          <p:nvPr/>
        </p:nvSpPr>
        <p:spPr>
          <a:xfrm>
            <a:off x="10341990" y="6458113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60B76-9DCD-41B1-A4FA-607A93B7BEC2}"/>
              </a:ext>
            </a:extLst>
          </p:cNvPr>
          <p:cNvSpPr/>
          <p:nvPr/>
        </p:nvSpPr>
        <p:spPr>
          <a:xfrm>
            <a:off x="11346704" y="4471133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5F3B69-CCE8-464E-8CC6-49E801CD1B15}"/>
              </a:ext>
            </a:extLst>
          </p:cNvPr>
          <p:cNvSpPr/>
          <p:nvPr/>
        </p:nvSpPr>
        <p:spPr>
          <a:xfrm>
            <a:off x="11870579" y="645811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0CFD98-1F0E-419F-9BAE-05563A09E2C8}"/>
              </a:ext>
            </a:extLst>
          </p:cNvPr>
          <p:cNvSpPr/>
          <p:nvPr/>
        </p:nvSpPr>
        <p:spPr>
          <a:xfrm>
            <a:off x="11627771" y="404337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7811EB-81BC-43C5-9A26-4BC6E2FAC281}"/>
              </a:ext>
            </a:extLst>
          </p:cNvPr>
          <p:cNvSpPr/>
          <p:nvPr/>
        </p:nvSpPr>
        <p:spPr>
          <a:xfrm>
            <a:off x="9997113" y="6387463"/>
            <a:ext cx="398621" cy="38100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2826FE-7AFA-4906-A962-6BFEAAD6C45A}"/>
              </a:ext>
            </a:extLst>
          </p:cNvPr>
          <p:cNvSpPr/>
          <p:nvPr/>
        </p:nvSpPr>
        <p:spPr>
          <a:xfrm>
            <a:off x="8401610" y="6420175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CC3CC-EF16-4490-B854-A9404D1725A2}"/>
              </a:ext>
            </a:extLst>
          </p:cNvPr>
          <p:cNvSpPr/>
          <p:nvPr/>
        </p:nvSpPr>
        <p:spPr>
          <a:xfrm>
            <a:off x="11881184" y="5422771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84EB02-3B77-4DA5-A4AE-39F1D729D8C2}"/>
              </a:ext>
            </a:extLst>
          </p:cNvPr>
          <p:cNvSpPr/>
          <p:nvPr/>
        </p:nvSpPr>
        <p:spPr>
          <a:xfrm>
            <a:off x="11003614" y="66857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C8677B-CB2F-4485-9828-44A1EAE2DE83}"/>
              </a:ext>
            </a:extLst>
          </p:cNvPr>
          <p:cNvSpPr/>
          <p:nvPr/>
        </p:nvSpPr>
        <p:spPr>
          <a:xfrm>
            <a:off x="7845529" y="-245170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A37157-8425-45CC-8EA8-DA6C1A5E1884}"/>
              </a:ext>
            </a:extLst>
          </p:cNvPr>
          <p:cNvSpPr/>
          <p:nvPr/>
        </p:nvSpPr>
        <p:spPr>
          <a:xfrm>
            <a:off x="9833120" y="217217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F3FEC4C-93D1-438F-A07C-2DD0176B5EF1}"/>
              </a:ext>
            </a:extLst>
          </p:cNvPr>
          <p:cNvSpPr/>
          <p:nvPr/>
        </p:nvSpPr>
        <p:spPr>
          <a:xfrm>
            <a:off x="6866742" y="-21271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7FB9B-6BE4-4EFF-AEF3-8892B0A5ABAA}"/>
              </a:ext>
            </a:extLst>
          </p:cNvPr>
          <p:cNvSpPr/>
          <p:nvPr/>
        </p:nvSpPr>
        <p:spPr>
          <a:xfrm>
            <a:off x="8492148" y="67772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443F8E-15A3-4AE8-BDD2-0989FF565FD6}"/>
              </a:ext>
            </a:extLst>
          </p:cNvPr>
          <p:cNvSpPr/>
          <p:nvPr/>
        </p:nvSpPr>
        <p:spPr>
          <a:xfrm>
            <a:off x="8781131" y="-686818"/>
            <a:ext cx="1451429" cy="1427910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165699B-895C-432D-BE88-DFE68A105365}"/>
              </a:ext>
            </a:extLst>
          </p:cNvPr>
          <p:cNvSpPr/>
          <p:nvPr/>
        </p:nvSpPr>
        <p:spPr>
          <a:xfrm>
            <a:off x="6080783" y="6405265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B858EC-CD7B-4EB4-AAD5-E18167C6BD99}"/>
              </a:ext>
            </a:extLst>
          </p:cNvPr>
          <p:cNvSpPr/>
          <p:nvPr/>
        </p:nvSpPr>
        <p:spPr>
          <a:xfrm>
            <a:off x="7464848" y="5946646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32B829-BF83-4972-8C63-2FDCE6CDF06C}"/>
              </a:ext>
            </a:extLst>
          </p:cNvPr>
          <p:cNvSpPr/>
          <p:nvPr/>
        </p:nvSpPr>
        <p:spPr>
          <a:xfrm>
            <a:off x="8925485" y="5812389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195528-156B-4255-AC10-4B8CC598DE2D}"/>
              </a:ext>
            </a:extLst>
          </p:cNvPr>
          <p:cNvSpPr/>
          <p:nvPr/>
        </p:nvSpPr>
        <p:spPr>
          <a:xfrm>
            <a:off x="7084167" y="6570848"/>
            <a:ext cx="469139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063BBD5-983E-4FBC-91C1-5EECFAD05B58}"/>
              </a:ext>
            </a:extLst>
          </p:cNvPr>
          <p:cNvSpPr/>
          <p:nvPr/>
        </p:nvSpPr>
        <p:spPr>
          <a:xfrm>
            <a:off x="6634162" y="6350664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48ABA8-DAD5-410F-8821-D12746C7A95E}"/>
              </a:ext>
            </a:extLst>
          </p:cNvPr>
          <p:cNvSpPr/>
          <p:nvPr/>
        </p:nvSpPr>
        <p:spPr>
          <a:xfrm>
            <a:off x="8040554" y="6602486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5A71D16-6C30-447F-B2CE-EAB7EDF75BBE}"/>
              </a:ext>
            </a:extLst>
          </p:cNvPr>
          <p:cNvSpPr/>
          <p:nvPr/>
        </p:nvSpPr>
        <p:spPr>
          <a:xfrm>
            <a:off x="7464848" y="2517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C749D-35A6-4E53-A82D-C585ED7319B7}"/>
              </a:ext>
            </a:extLst>
          </p:cNvPr>
          <p:cNvSpPr/>
          <p:nvPr/>
        </p:nvSpPr>
        <p:spPr>
          <a:xfrm>
            <a:off x="6339627" y="6577963"/>
            <a:ext cx="345396" cy="345396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7D1D0-AD0D-4124-8231-859FDDA75EBB}"/>
              </a:ext>
            </a:extLst>
          </p:cNvPr>
          <p:cNvSpPr txBox="1"/>
          <p:nvPr/>
        </p:nvSpPr>
        <p:spPr>
          <a:xfrm>
            <a:off x="3596262" y="3054330"/>
            <a:ext cx="1451429" cy="957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FE1257-87F8-4F40-AEF7-0311FB4D2C9B}"/>
              </a:ext>
            </a:extLst>
          </p:cNvPr>
          <p:cNvSpPr txBox="1"/>
          <p:nvPr/>
        </p:nvSpPr>
        <p:spPr>
          <a:xfrm>
            <a:off x="-2634360" y="5018672"/>
            <a:ext cx="22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UBE COCONUT MACCHIATO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8E59C0-5BEF-49BA-B124-7906C0F63347}"/>
              </a:ext>
            </a:extLst>
          </p:cNvPr>
          <p:cNvSpPr txBox="1"/>
          <p:nvPr/>
        </p:nvSpPr>
        <p:spPr>
          <a:xfrm>
            <a:off x="-2699855" y="5018672"/>
            <a:ext cx="202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990033"/>
                </a:solidFill>
              </a:rPr>
              <a:t>TOASTED COCONUT CREAM COLD BREW</a:t>
            </a:r>
            <a:endParaRPr lang="en-IN" sz="1600" b="1" dirty="0">
              <a:solidFill>
                <a:srgbClr val="990033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65ECAC3-891F-4CC4-8BB2-F54EAB63E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30226" y="-1045975"/>
            <a:ext cx="9370871" cy="62574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7A5A377-1ADB-4F25-87BE-EAFE1DBC9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7315" y="1662450"/>
            <a:ext cx="4886831" cy="31505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4C41DEA-3A21-48FD-8400-47904DADE365}"/>
              </a:ext>
            </a:extLst>
          </p:cNvPr>
          <p:cNvSpPr txBox="1"/>
          <p:nvPr/>
        </p:nvSpPr>
        <p:spPr>
          <a:xfrm>
            <a:off x="-2452008" y="5027850"/>
            <a:ext cx="1688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8E060B4-2DA6-4672-BF5F-D26E575D8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14" b="97816" l="1225" r="97794">
                        <a14:foregroundMark x1="28922" y1="17233" x2="14216" y2="41505"/>
                        <a14:foregroundMark x1="14216" y1="41505" x2="12255" y2="54126"/>
                        <a14:foregroundMark x1="12255" y1="54126" x2="14461" y2="69417"/>
                        <a14:foregroundMark x1="14461" y1="69417" x2="21814" y2="80825"/>
                        <a14:foregroundMark x1="21814" y1="80825" x2="32598" y2="88835"/>
                        <a14:foregroundMark x1="32598" y1="88835" x2="47794" y2="93932"/>
                        <a14:foregroundMark x1="47794" y1="93932" x2="60784" y2="91019"/>
                        <a14:foregroundMark x1="60784" y1="91019" x2="70833" y2="79612"/>
                        <a14:foregroundMark x1="70833" y1="79612" x2="82353" y2="53641"/>
                        <a14:foregroundMark x1="82353" y1="53641" x2="84314" y2="37621"/>
                        <a14:foregroundMark x1="84314" y1="37621" x2="76225" y2="25971"/>
                        <a14:foregroundMark x1="76225" y1="25971" x2="50245" y2="14563"/>
                        <a14:foregroundMark x1="50245" y1="14563" x2="35294" y2="13592"/>
                        <a14:foregroundMark x1="35294" y1="13592" x2="28922" y2="19660"/>
                        <a14:foregroundMark x1="30882" y1="8738" x2="19118" y2="11893"/>
                        <a14:foregroundMark x1="19118" y1="11893" x2="10784" y2="22087"/>
                        <a14:foregroundMark x1="10784" y1="22087" x2="5882" y2="47087"/>
                        <a14:foregroundMark x1="5882" y1="47087" x2="7598" y2="62621"/>
                        <a14:foregroundMark x1="7598" y1="62621" x2="14951" y2="77427"/>
                        <a14:foregroundMark x1="14951" y1="77427" x2="37010" y2="96117"/>
                        <a14:foregroundMark x1="37010" y1="96117" x2="50980" y2="96602"/>
                        <a14:foregroundMark x1="50980" y1="96602" x2="65931" y2="88350"/>
                        <a14:foregroundMark x1="65931" y1="88350" x2="77696" y2="73786"/>
                        <a14:foregroundMark x1="77696" y1="73786" x2="87255" y2="43689"/>
                        <a14:foregroundMark x1="87255" y1="43689" x2="86520" y2="30340"/>
                        <a14:foregroundMark x1="86520" y1="30340" x2="77941" y2="17476"/>
                        <a14:foregroundMark x1="77941" y1="17476" x2="51225" y2="6068"/>
                        <a14:foregroundMark x1="51225" y1="6068" x2="35049" y2="5097"/>
                        <a14:foregroundMark x1="94363" y1="28883" x2="97059" y2="55340"/>
                        <a14:foregroundMark x1="97059" y1="55340" x2="93382" y2="67233"/>
                        <a14:foregroundMark x1="93382" y1="67233" x2="75980" y2="87621"/>
                        <a14:foregroundMark x1="75980" y1="87621" x2="51225" y2="95874"/>
                        <a14:foregroundMark x1="51225" y1="95874" x2="37255" y2="95874"/>
                        <a14:foregroundMark x1="37255" y1="95874" x2="33333" y2="94417"/>
                        <a14:foregroundMark x1="31373" y1="39806" x2="45833" y2="35437"/>
                        <a14:foregroundMark x1="45833" y1="35437" x2="57843" y2="40534"/>
                        <a14:foregroundMark x1="57843" y1="40534" x2="58578" y2="61893"/>
                        <a14:foregroundMark x1="57108" y1="27670" x2="62990" y2="59466"/>
                        <a14:foregroundMark x1="62990" y1="59466" x2="62990" y2="59466"/>
                        <a14:foregroundMark x1="68137" y1="52427" x2="69363" y2="58738"/>
                        <a14:foregroundMark x1="89951" y1="46845" x2="90196" y2="53155"/>
                        <a14:foregroundMark x1="32598" y1="32039" x2="58333" y2="28155"/>
                        <a14:foregroundMark x1="23284" y1="48058" x2="22794" y2="61650"/>
                        <a14:foregroundMark x1="22794" y1="61650" x2="23284" y2="63350"/>
                        <a14:foregroundMark x1="62990" y1="46602" x2="62745" y2="61165"/>
                        <a14:foregroundMark x1="62500" y1="30097" x2="72794" y2="29369"/>
                        <a14:foregroundMark x1="27451" y1="28398" x2="20098" y2="56068"/>
                        <a14:foregroundMark x1="20098" y1="56068" x2="19853" y2="68932"/>
                        <a14:foregroundMark x1="19853" y1="68932" x2="21814" y2="71117"/>
                        <a14:foregroundMark x1="38725" y1="47573" x2="34559" y2="58981"/>
                        <a14:foregroundMark x1="34559" y1="58981" x2="34314" y2="60680"/>
                        <a14:foregroundMark x1="34314" y1="64806" x2="37990" y2="77670"/>
                        <a14:foregroundMark x1="37990" y1="77670" x2="37990" y2="77913"/>
                        <a14:foregroundMark x1="28186" y1="74029" x2="40931" y2="79612"/>
                        <a14:foregroundMark x1="40931" y1="79612" x2="53431" y2="79126"/>
                        <a14:foregroundMark x1="53431" y1="79126" x2="65196" y2="74029"/>
                        <a14:foregroundMark x1="65196" y1="74029" x2="66912" y2="65291"/>
                        <a14:foregroundMark x1="26716" y1="77427" x2="31863" y2="83738"/>
                        <a14:foregroundMark x1="93382" y1="46359" x2="92402" y2="61650"/>
                        <a14:foregroundMark x1="2696" y1="42476" x2="3922" y2="58010"/>
                        <a14:foregroundMark x1="98284" y1="44903" x2="97794" y2="54612"/>
                        <a14:foregroundMark x1="30392" y1="6068" x2="31127" y2="5340"/>
                        <a14:foregroundMark x1="26471" y1="7767" x2="27206" y2="7524"/>
                        <a14:foregroundMark x1="40441" y1="3883" x2="40441" y2="3883"/>
                        <a14:foregroundMark x1="44608" y1="1942" x2="46814" y2="1699"/>
                        <a14:foregroundMark x1="50735" y1="1942" x2="52451" y2="1942"/>
                        <a14:foregroundMark x1="61029" y1="3398" x2="64461" y2="3883"/>
                        <a14:foregroundMark x1="77696" y1="10194" x2="78431" y2="11165"/>
                        <a14:foregroundMark x1="85294" y1="17718" x2="87500" y2="19175"/>
                        <a14:foregroundMark x1="71078" y1="6311" x2="71814" y2="7282"/>
                        <a14:foregroundMark x1="7843" y1="25485" x2="6863" y2="27913"/>
                        <a14:foregroundMark x1="3431" y1="36650" x2="4412" y2="34709"/>
                        <a14:foregroundMark x1="1471" y1="49029" x2="1471" y2="47816"/>
                        <a14:foregroundMark x1="35294" y1="3641" x2="37255" y2="3883"/>
                        <a14:foregroundMark x1="90441" y1="22330" x2="90686" y2="24272"/>
                        <a14:foregroundMark x1="97059" y1="37864" x2="97549" y2="39806"/>
                        <a14:foregroundMark x1="96814" y1="64806" x2="95588" y2="68689"/>
                        <a14:foregroundMark x1="98284" y1="58981" x2="98039" y2="60680"/>
                        <a14:foregroundMark x1="93873" y1="72087" x2="90931" y2="75728"/>
                        <a14:foregroundMark x1="90686" y1="77913" x2="89216" y2="81068"/>
                        <a14:foregroundMark x1="86765" y1="82524" x2="84559" y2="84466"/>
                        <a14:foregroundMark x1="83088" y1="86165" x2="81373" y2="88107"/>
                        <a14:foregroundMark x1="77451" y1="90049" x2="53676" y2="97816"/>
                        <a14:foregroundMark x1="53676" y1="97816" x2="41667" y2="97330"/>
                        <a14:foregroundMark x1="62745" y1="96359" x2="68627" y2="95874"/>
                        <a14:foregroundMark x1="31373" y1="94660" x2="27206" y2="91990"/>
                        <a14:foregroundMark x1="20833" y1="89078" x2="19363" y2="86408"/>
                        <a14:foregroundMark x1="15931" y1="84466" x2="14951" y2="81796"/>
                        <a14:foregroundMark x1="11275" y1="80340" x2="10539" y2="77670"/>
                        <a14:foregroundMark x1="7843" y1="74029" x2="7353" y2="71359"/>
                        <a14:foregroundMark x1="3676" y1="65777" x2="3431" y2="63107"/>
                        <a14:foregroundMark x1="1716" y1="56311" x2="1225" y2="548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086405" y="559096"/>
            <a:ext cx="3988755" cy="402786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3C630F9-3C27-49FE-B1E4-74DECA9FD426}"/>
              </a:ext>
            </a:extLst>
          </p:cNvPr>
          <p:cNvSpPr txBox="1"/>
          <p:nvPr/>
        </p:nvSpPr>
        <p:spPr>
          <a:xfrm>
            <a:off x="-2508646" y="4996688"/>
            <a:ext cx="1834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MATCHA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328D34-0A91-450F-A202-873A6E51BC7D}"/>
              </a:ext>
            </a:extLst>
          </p:cNvPr>
          <p:cNvSpPr txBox="1"/>
          <p:nvPr/>
        </p:nvSpPr>
        <p:spPr>
          <a:xfrm>
            <a:off x="-2416682" y="5018101"/>
            <a:ext cx="1754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ICED LAVENDER CREAM CHAI</a:t>
            </a:r>
            <a:endParaRPr lang="en-IN" b="1" dirty="0">
              <a:solidFill>
                <a:srgbClr val="99003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858E69-A25F-4653-AE79-13AEFB71A4C8}"/>
              </a:ext>
            </a:extLst>
          </p:cNvPr>
          <p:cNvSpPr txBox="1"/>
          <p:nvPr/>
        </p:nvSpPr>
        <p:spPr>
          <a:xfrm>
            <a:off x="-2583546" y="5035197"/>
            <a:ext cx="193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LAVENDER CREAM FRAPPUCCINO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9CA0A6F-23BA-4E00-8389-7E682C47A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80378" y="1175003"/>
            <a:ext cx="4864160" cy="486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E8629-ADDA-45F6-9D35-AD2B94AA9D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6846" y="1106334"/>
            <a:ext cx="4358807" cy="4358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2C948-AA92-46A8-A60A-46FEB31A3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0720" y="1171869"/>
            <a:ext cx="4537851" cy="453785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DE2E85E-5F2A-469F-BF16-DA1D9887402B}"/>
              </a:ext>
            </a:extLst>
          </p:cNvPr>
          <p:cNvSpPr txBox="1"/>
          <p:nvPr/>
        </p:nvSpPr>
        <p:spPr>
          <a:xfrm>
            <a:off x="-2271316" y="5045714"/>
            <a:ext cx="1781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TOASTED COCONUT LATTE</a:t>
            </a:r>
            <a:endParaRPr lang="en-IN" b="1" dirty="0">
              <a:solidFill>
                <a:srgbClr val="99003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BA65D-307D-4B8D-ABAB-1E0CBDE3C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23220" y="508186"/>
            <a:ext cx="5092288" cy="509228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22C9871-C0FE-4089-8A5F-6A557B6437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80400">
            <a:off x="-3376006" y="1832410"/>
            <a:ext cx="3684277" cy="3684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4AEE0-B7A5-4F1B-9F25-BAEB6C1357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36183">
            <a:off x="-5577643" y="1229989"/>
            <a:ext cx="3805330" cy="380533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9020DB-DE95-43AA-88E9-975259A6DFF5}"/>
              </a:ext>
            </a:extLst>
          </p:cNvPr>
          <p:cNvSpPr txBox="1"/>
          <p:nvPr/>
        </p:nvSpPr>
        <p:spPr>
          <a:xfrm>
            <a:off x="-1825670" y="5018101"/>
            <a:ext cx="114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90033"/>
                </a:solidFill>
              </a:rPr>
              <a:t>FROG CAKE POP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980F19-CA60-48E4-8FB8-C6E9EDF0F8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9003" y="1542452"/>
            <a:ext cx="4209214" cy="42092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13E8ED-3029-41D0-AB8D-A7003A5EDD09}"/>
              </a:ext>
            </a:extLst>
          </p:cNvPr>
          <p:cNvSpPr txBox="1"/>
          <p:nvPr/>
        </p:nvSpPr>
        <p:spPr>
          <a:xfrm>
            <a:off x="1220320" y="4737612"/>
            <a:ext cx="9674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erlin Sans FB" panose="020E0602020502020306" pitchFamily="34" charset="0"/>
              </a:rPr>
              <a:t>THANK YOU FOR WATCHING !!! </a:t>
            </a:r>
            <a:endParaRPr lang="en-IN" sz="54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CBD040D-C213-482D-828D-29A4BF84D25C}"/>
              </a:ext>
            </a:extLst>
          </p:cNvPr>
          <p:cNvSpPr/>
          <p:nvPr/>
        </p:nvSpPr>
        <p:spPr>
          <a:xfrm>
            <a:off x="10912934" y="-234800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61673FE-EED9-4471-8CAB-C153F0C6CF46}"/>
              </a:ext>
            </a:extLst>
          </p:cNvPr>
          <p:cNvSpPr/>
          <p:nvPr/>
        </p:nvSpPr>
        <p:spPr>
          <a:xfrm>
            <a:off x="8893279" y="6204075"/>
            <a:ext cx="1047750" cy="1047750"/>
          </a:xfrm>
          <a:prstGeom prst="ellipse">
            <a:avLst/>
          </a:prstGeom>
          <a:solidFill>
            <a:srgbClr val="FFCCCC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A9173F4-92D8-4A95-87A3-24506E7520F4}"/>
              </a:ext>
            </a:extLst>
          </p:cNvPr>
          <p:cNvSpPr/>
          <p:nvPr/>
        </p:nvSpPr>
        <p:spPr>
          <a:xfrm>
            <a:off x="11608640" y="1186250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CFF8FAA-6143-4C8E-9141-3CCCACC1D06E}"/>
              </a:ext>
            </a:extLst>
          </p:cNvPr>
          <p:cNvSpPr/>
          <p:nvPr/>
        </p:nvSpPr>
        <p:spPr>
          <a:xfrm>
            <a:off x="11772977" y="668578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56C9502-8BB6-440E-9F4E-41A4A24294E6}"/>
              </a:ext>
            </a:extLst>
          </p:cNvPr>
          <p:cNvSpPr/>
          <p:nvPr/>
        </p:nvSpPr>
        <p:spPr>
          <a:xfrm>
            <a:off x="11608641" y="5719815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4EFDF1-34C3-438C-B9FA-68BC97530EAF}"/>
              </a:ext>
            </a:extLst>
          </p:cNvPr>
          <p:cNvSpPr/>
          <p:nvPr/>
        </p:nvSpPr>
        <p:spPr>
          <a:xfrm>
            <a:off x="9363200" y="714356"/>
            <a:ext cx="523875" cy="523875"/>
          </a:xfrm>
          <a:prstGeom prst="ellipse">
            <a:avLst/>
          </a:prstGeom>
          <a:solidFill>
            <a:srgbClr val="FF66CC">
              <a:alpha val="3294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493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700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Baskerville Old Face</vt:lpstr>
      <vt:lpstr>Berlin Sans FB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MAAYA-05</dc:creator>
  <cp:lastModifiedBy>MAAYA-05</cp:lastModifiedBy>
  <cp:revision>41</cp:revision>
  <dcterms:created xsi:type="dcterms:W3CDTF">2026-04-04T10:18:01Z</dcterms:created>
  <dcterms:modified xsi:type="dcterms:W3CDTF">2026-04-08T09:50:39Z</dcterms:modified>
</cp:coreProperties>
</file>