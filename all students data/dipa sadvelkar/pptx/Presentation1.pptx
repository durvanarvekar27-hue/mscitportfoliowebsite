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jpg" ContentType="image/jpeg"/>
  <Override PartName="/ppt/media/image4.jpg" ContentType="image/jpeg"/>
  <Override PartName="/ppt/media/image5.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6EF94-AC1A-4F4D-ABF0-7053ACB7EC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504803-F1CD-44FF-9C4E-12F9BA18B9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212643-A6A2-4A78-BC66-EA63DC953025}"/>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5" name="Footer Placeholder 4">
            <a:extLst>
              <a:ext uri="{FF2B5EF4-FFF2-40B4-BE49-F238E27FC236}">
                <a16:creationId xmlns:a16="http://schemas.microsoft.com/office/drawing/2014/main" id="{DD335072-8BC7-49BF-B486-36DD8248B0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39B5CB-5300-41D8-8358-B7458C2F9D0A}"/>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779955316"/>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948D-1C1D-44C4-8B76-9E7D6C246E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B5F498-B274-4379-A767-3FC8E008CC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96F1A3-0AFC-406C-9AA5-BAD86D3B79A2}"/>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5" name="Footer Placeholder 4">
            <a:extLst>
              <a:ext uri="{FF2B5EF4-FFF2-40B4-BE49-F238E27FC236}">
                <a16:creationId xmlns:a16="http://schemas.microsoft.com/office/drawing/2014/main" id="{251F0251-8A22-4F8E-A4FD-BBA493AED1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F2C8F9-0DD8-45AA-9B54-7CE40EE6CB75}"/>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1616035369"/>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616FB-2DB0-46F6-B44A-4ADE069250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2418AF-160A-4906-8EE5-C9EAB17C0B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0683EF0-2DBE-4BCA-8368-7271983368A6}"/>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5" name="Footer Placeholder 4">
            <a:extLst>
              <a:ext uri="{FF2B5EF4-FFF2-40B4-BE49-F238E27FC236}">
                <a16:creationId xmlns:a16="http://schemas.microsoft.com/office/drawing/2014/main" id="{BC62EE1C-A4B8-4F0F-AF1B-49BC344809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14E211-8EE6-4715-A45B-4B83BBF86C6C}"/>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4284040673"/>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080CE-1F8C-42C8-9991-3E533C84FC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0DA6FB-FA11-4FDF-AAB8-78EEA921295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E011C2-D6D8-4D3E-A13C-E989E506399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DA6FAE1-D030-4224-9C66-8FBEE62AB4F9}"/>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6" name="Footer Placeholder 5">
            <a:extLst>
              <a:ext uri="{FF2B5EF4-FFF2-40B4-BE49-F238E27FC236}">
                <a16:creationId xmlns:a16="http://schemas.microsoft.com/office/drawing/2014/main" id="{E96394BC-117B-433E-AD92-DF0E085A65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4D80A2-8D86-41EA-9EF0-E0D20D1D65E3}"/>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654508450"/>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DA00A-0A11-4EE5-8A98-1CA8E63852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D5FE59-5C72-47EB-9414-7ADA111A91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DE8D608-5A30-433E-BB86-F6711CA596C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AFE910-387B-4843-B0DE-5D2202ECDC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13B1F5-5857-45AA-A311-FE8D50FFD9C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5992CA-9694-4B3E-972F-3F3509A7E922}"/>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8" name="Footer Placeholder 7">
            <a:extLst>
              <a:ext uri="{FF2B5EF4-FFF2-40B4-BE49-F238E27FC236}">
                <a16:creationId xmlns:a16="http://schemas.microsoft.com/office/drawing/2014/main" id="{57698F4F-D26D-4FB2-90A4-D23B38A9A3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1976D1-1FB0-413E-B196-265D0A0DF99C}"/>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397353722"/>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14CAE-30EB-42D6-8911-AD82C7576E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7C4C229-9BBA-49DB-BC94-137F1BC17034}"/>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4" name="Footer Placeholder 3">
            <a:extLst>
              <a:ext uri="{FF2B5EF4-FFF2-40B4-BE49-F238E27FC236}">
                <a16:creationId xmlns:a16="http://schemas.microsoft.com/office/drawing/2014/main" id="{33430882-37CA-42B5-8673-1190EC93A2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FAE04F-9037-41FA-B17A-39155D74F88E}"/>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2093533974"/>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FBC0C-0473-4449-BBB6-CE089E546062}"/>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3" name="Footer Placeholder 2">
            <a:extLst>
              <a:ext uri="{FF2B5EF4-FFF2-40B4-BE49-F238E27FC236}">
                <a16:creationId xmlns:a16="http://schemas.microsoft.com/office/drawing/2014/main" id="{D13C26AA-BDA2-441D-B967-A2C0268CCEA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8CE600-F1D5-4449-99EA-9A6CD516101B}"/>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4266538450"/>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6D21B-368E-420E-AA02-86F6C7ADC3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0DA82C-D7E9-4142-820C-EB8294C024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CF9FF1-3E58-422C-A345-50E408E5E8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5E26C4B-6B55-4613-BA20-B9FB676E7560}"/>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6" name="Footer Placeholder 5">
            <a:extLst>
              <a:ext uri="{FF2B5EF4-FFF2-40B4-BE49-F238E27FC236}">
                <a16:creationId xmlns:a16="http://schemas.microsoft.com/office/drawing/2014/main" id="{1C8C9F7D-02A5-4D32-9AB6-1398C31B9B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CBF5E4-D7F8-4621-9335-C0DF03AEF7FE}"/>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717874625"/>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7D7F-1E73-4AA3-B631-2CC62E9C59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448A8B-0F9D-49E7-9959-B90A1C8BED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B00539-091E-479A-860F-601688C245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26F217-0C0C-4CA7-8A59-B73B3187BE2C}"/>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6" name="Footer Placeholder 5">
            <a:extLst>
              <a:ext uri="{FF2B5EF4-FFF2-40B4-BE49-F238E27FC236}">
                <a16:creationId xmlns:a16="http://schemas.microsoft.com/office/drawing/2014/main" id="{86778043-A6FF-4330-B755-F308D679D8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F13F94-EDF2-4096-A27A-7245CDB998A3}"/>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2592339019"/>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E09A4-B5B9-4B7D-BAED-380EE474D9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8D8760-A54C-4479-9FF7-9D8A5D168E3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7504DD-6408-497C-965C-086B8B80B623}"/>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5" name="Footer Placeholder 4">
            <a:extLst>
              <a:ext uri="{FF2B5EF4-FFF2-40B4-BE49-F238E27FC236}">
                <a16:creationId xmlns:a16="http://schemas.microsoft.com/office/drawing/2014/main" id="{1CD4F8C7-CADD-41C4-8182-7F6E4F58DB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6A8843-15FA-4B0E-8842-E30794B08D04}"/>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298574316"/>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CE5144-0417-40D0-B325-E6683E95BF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05EB18-03F5-44CA-AFFA-C17BC5E97C3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9220CE-F801-4BDB-9645-948D39B8F496}"/>
              </a:ext>
            </a:extLst>
          </p:cNvPr>
          <p:cNvSpPr>
            <a:spLocks noGrp="1"/>
          </p:cNvSpPr>
          <p:nvPr>
            <p:ph type="dt" sz="half" idx="10"/>
          </p:nvPr>
        </p:nvSpPr>
        <p:spPr/>
        <p:txBody>
          <a:bodyPr/>
          <a:lstStyle/>
          <a:p>
            <a:fld id="{492D71C5-3FC3-4209-AD08-CE8B88E52F16}" type="datetimeFigureOut">
              <a:rPr lang="en-IN" smtClean="0"/>
              <a:t>31/May/2026</a:t>
            </a:fld>
            <a:endParaRPr lang="en-IN"/>
          </a:p>
        </p:txBody>
      </p:sp>
      <p:sp>
        <p:nvSpPr>
          <p:cNvPr id="5" name="Footer Placeholder 4">
            <a:extLst>
              <a:ext uri="{FF2B5EF4-FFF2-40B4-BE49-F238E27FC236}">
                <a16:creationId xmlns:a16="http://schemas.microsoft.com/office/drawing/2014/main" id="{9D7B0925-6B3A-4D15-B0A3-6FB4FDF6D2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B2E0B9-B311-45C5-A0CD-F5203CC416E9}"/>
              </a:ext>
            </a:extLst>
          </p:cNvPr>
          <p:cNvSpPr>
            <a:spLocks noGrp="1"/>
          </p:cNvSpPr>
          <p:nvPr>
            <p:ph type="sldNum" sz="quarter" idx="12"/>
          </p:nvPr>
        </p:nvSpPr>
        <p:spPr/>
        <p:txBody>
          <a:bodyPr/>
          <a:lstStyle/>
          <a:p>
            <a:fld id="{B59134F0-2D73-492C-9EEA-414C7C11C9E0}" type="slidenum">
              <a:rPr lang="en-IN" smtClean="0"/>
              <a:t>‹#›</a:t>
            </a:fld>
            <a:endParaRPr lang="en-IN"/>
          </a:p>
        </p:txBody>
      </p:sp>
    </p:spTree>
    <p:extLst>
      <p:ext uri="{BB962C8B-B14F-4D97-AF65-F5344CB8AC3E}">
        <p14:creationId xmlns:p14="http://schemas.microsoft.com/office/powerpoint/2010/main" val="3800114053"/>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A57364-54FD-4E22-9F84-69BAE6C06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BFB916-86C5-46DB-BB68-9085390E8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04AB1F-E24F-4AB8-BDB5-44DEE90D83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2D71C5-3FC3-4209-AD08-CE8B88E52F16}" type="datetimeFigureOut">
              <a:rPr lang="en-IN" smtClean="0"/>
              <a:t>31/May/2026</a:t>
            </a:fld>
            <a:endParaRPr lang="en-IN"/>
          </a:p>
        </p:txBody>
      </p:sp>
      <p:sp>
        <p:nvSpPr>
          <p:cNvPr id="5" name="Footer Placeholder 4">
            <a:extLst>
              <a:ext uri="{FF2B5EF4-FFF2-40B4-BE49-F238E27FC236}">
                <a16:creationId xmlns:a16="http://schemas.microsoft.com/office/drawing/2014/main" id="{975FE727-4180-445F-BEE4-0220DEEEC7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8B84C92-ABD6-4900-8560-8DE351C35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34F0-2D73-492C-9EEA-414C7C11C9E0}" type="slidenum">
              <a:rPr lang="en-IN" smtClean="0"/>
              <a:t>‹#›</a:t>
            </a:fld>
            <a:endParaRPr lang="en-IN"/>
          </a:p>
        </p:txBody>
      </p:sp>
    </p:spTree>
    <p:extLst>
      <p:ext uri="{BB962C8B-B14F-4D97-AF65-F5344CB8AC3E}">
        <p14:creationId xmlns:p14="http://schemas.microsoft.com/office/powerpoint/2010/main" val="1137609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C08876-D787-4F7E-A1AC-00EFEAF406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773" y="0"/>
            <a:ext cx="4041914" cy="30314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4" name="TextBox 13">
            <a:extLst>
              <a:ext uri="{FF2B5EF4-FFF2-40B4-BE49-F238E27FC236}">
                <a16:creationId xmlns:a16="http://schemas.microsoft.com/office/drawing/2014/main" id="{DE3CB66B-ABB7-4E65-984D-3EE94167645D}"/>
              </a:ext>
            </a:extLst>
          </p:cNvPr>
          <p:cNvSpPr txBox="1"/>
          <p:nvPr/>
        </p:nvSpPr>
        <p:spPr>
          <a:xfrm>
            <a:off x="4558747" y="238538"/>
            <a:ext cx="2372139" cy="615553"/>
          </a:xfrm>
          <a:prstGeom prst="rect">
            <a:avLst/>
          </a:prstGeom>
          <a:noFill/>
        </p:spPr>
        <p:txBody>
          <a:bodyPr wrap="square" rtlCol="0">
            <a:spAutoFit/>
          </a:bodyPr>
          <a:lstStyle/>
          <a:p>
            <a:r>
              <a:rPr lang="en-IN" sz="1600" dirty="0">
                <a:solidFill>
                  <a:srgbClr val="C00000"/>
                </a:solidFill>
                <a:latin typeface="Algerian" panose="04020705040A02060702" pitchFamily="82" charset="0"/>
              </a:rPr>
              <a:t>THE PANTANAL </a:t>
            </a:r>
            <a:r>
              <a:rPr lang="en-IN" dirty="0">
                <a:solidFill>
                  <a:srgbClr val="C00000"/>
                </a:solidFill>
                <a:latin typeface="Algerian" panose="04020705040A02060702" pitchFamily="82" charset="0"/>
              </a:rPr>
              <a:t>WETLAND</a:t>
            </a:r>
          </a:p>
        </p:txBody>
      </p:sp>
      <p:sp>
        <p:nvSpPr>
          <p:cNvPr id="17" name="TextBox 16">
            <a:extLst>
              <a:ext uri="{FF2B5EF4-FFF2-40B4-BE49-F238E27FC236}">
                <a16:creationId xmlns:a16="http://schemas.microsoft.com/office/drawing/2014/main" id="{4E0AB741-993D-400A-BBE4-CA195FB90584}"/>
              </a:ext>
            </a:extLst>
          </p:cNvPr>
          <p:cNvSpPr txBox="1"/>
          <p:nvPr/>
        </p:nvSpPr>
        <p:spPr>
          <a:xfrm>
            <a:off x="4532243" y="861391"/>
            <a:ext cx="6533322" cy="4801314"/>
          </a:xfrm>
          <a:prstGeom prst="rect">
            <a:avLst/>
          </a:prstGeom>
          <a:noFill/>
        </p:spPr>
        <p:txBody>
          <a:bodyPr wrap="square" rtlCol="0">
            <a:spAutoFit/>
          </a:bodyPr>
          <a:lstStyle/>
          <a:p>
            <a:r>
              <a:rPr lang="en-US" dirty="0"/>
              <a:t>The </a:t>
            </a:r>
            <a:r>
              <a:rPr lang="en-US" b="1" dirty="0"/>
              <a:t>Pantanal</a:t>
            </a:r>
            <a:r>
              <a:rPr lang="en-US" dirty="0"/>
              <a:t> is the world's largest tropical wetland area, spanning mostly through Brazil, with parts extending into Bolivia and Paraguay. Covering an estimated 140,000 to 180,000 square kilometers, this immense ecosystem functions like a giant reservoir that floods during the rainy season and dries out in the winter. It is renowned for its extraordinary biodiversity, hosting thousands of plant and animal species, including the world's highest concentration of jaguars and caimans. Due to its global environmental importance in climate regulation and water purification, parts of the Pantanal are designated as a UNESCO World Heritage Site.</a:t>
            </a:r>
          </a:p>
          <a:p>
            <a:r>
              <a:rPr lang="en-US" dirty="0"/>
              <a:t>Would you like to narrow down this information? I can provide specific details on:</a:t>
            </a:r>
          </a:p>
          <a:p>
            <a:r>
              <a:rPr lang="en-US" dirty="0"/>
              <a:t>The </a:t>
            </a:r>
            <a:r>
              <a:rPr lang="en-US" b="1" dirty="0"/>
              <a:t>best time to visit</a:t>
            </a:r>
            <a:r>
              <a:rPr lang="en-US" dirty="0"/>
              <a:t> for tourism</a:t>
            </a:r>
          </a:p>
          <a:p>
            <a:r>
              <a:rPr lang="en-US" dirty="0"/>
              <a:t>The unique </a:t>
            </a:r>
            <a:r>
              <a:rPr lang="en-US" b="1" dirty="0"/>
              <a:t>wildlife</a:t>
            </a:r>
            <a:r>
              <a:rPr lang="en-US" dirty="0"/>
              <a:t> found there</a:t>
            </a:r>
          </a:p>
          <a:p>
            <a:r>
              <a:rPr lang="en-US" dirty="0"/>
              <a:t>Current </a:t>
            </a:r>
            <a:r>
              <a:rPr lang="en-US" b="1" dirty="0"/>
              <a:t>environmental threats</a:t>
            </a:r>
            <a:r>
              <a:rPr lang="en-US" dirty="0"/>
              <a:t> like wildfires</a:t>
            </a:r>
          </a:p>
          <a:p>
            <a:endParaRPr lang="en-IN" dirty="0"/>
          </a:p>
        </p:txBody>
      </p:sp>
    </p:spTree>
    <p:extLst>
      <p:ext uri="{BB962C8B-B14F-4D97-AF65-F5344CB8AC3E}">
        <p14:creationId xmlns:p14="http://schemas.microsoft.com/office/powerpoint/2010/main" val="3139710418"/>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 fill="hold"/>
                                        <p:tgtEl>
                                          <p:spTgt spid="9"/>
                                        </p:tgtEl>
                                        <p:attrNameLst>
                                          <p:attrName>ppt_x</p:attrName>
                                        </p:attrNameLst>
                                      </p:cBhvr>
                                      <p:tavLst>
                                        <p:tav tm="0">
                                          <p:val>
                                            <p:strVal val="#ppt_x"/>
                                          </p:val>
                                        </p:tav>
                                        <p:tav tm="100000">
                                          <p:val>
                                            <p:strVal val="#ppt_x"/>
                                          </p:val>
                                        </p:tav>
                                      </p:tavLst>
                                    </p:anim>
                                    <p:anim calcmode="lin" valueType="num">
                                      <p:cBhvr additive="base">
                                        <p:cTn id="8" dur="1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A91AA8-67A8-4F15-A332-F05421AC8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18" y="276315"/>
            <a:ext cx="4732492" cy="31526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extBox 8">
            <a:extLst>
              <a:ext uri="{FF2B5EF4-FFF2-40B4-BE49-F238E27FC236}">
                <a16:creationId xmlns:a16="http://schemas.microsoft.com/office/drawing/2014/main" id="{DFFF27CC-E53C-48F6-B55F-A39D523E7764}"/>
              </a:ext>
            </a:extLst>
          </p:cNvPr>
          <p:cNvSpPr txBox="1"/>
          <p:nvPr/>
        </p:nvSpPr>
        <p:spPr>
          <a:xfrm>
            <a:off x="5512906" y="276315"/>
            <a:ext cx="6029739" cy="5806433"/>
          </a:xfrm>
          <a:prstGeom prst="rect">
            <a:avLst/>
          </a:prstGeom>
          <a:noFill/>
        </p:spPr>
        <p:txBody>
          <a:bodyPr wrap="square" rtlCol="0">
            <a:spAutoFit/>
          </a:bodyPr>
          <a:lstStyle/>
          <a:p>
            <a:endParaRPr lang="en-IN" dirty="0"/>
          </a:p>
        </p:txBody>
      </p:sp>
      <p:sp>
        <p:nvSpPr>
          <p:cNvPr id="15" name="TextBox 14">
            <a:extLst>
              <a:ext uri="{FF2B5EF4-FFF2-40B4-BE49-F238E27FC236}">
                <a16:creationId xmlns:a16="http://schemas.microsoft.com/office/drawing/2014/main" id="{D59BF4E2-A019-49E4-B4C5-889FE5A8E5BD}"/>
              </a:ext>
            </a:extLst>
          </p:cNvPr>
          <p:cNvSpPr txBox="1"/>
          <p:nvPr/>
        </p:nvSpPr>
        <p:spPr>
          <a:xfrm>
            <a:off x="6096000" y="384313"/>
            <a:ext cx="4161183" cy="369332"/>
          </a:xfrm>
          <a:prstGeom prst="rect">
            <a:avLst/>
          </a:prstGeom>
          <a:noFill/>
        </p:spPr>
        <p:txBody>
          <a:bodyPr wrap="square" rtlCol="0">
            <a:spAutoFit/>
          </a:bodyPr>
          <a:lstStyle/>
          <a:p>
            <a:r>
              <a:rPr lang="en-IN" dirty="0">
                <a:solidFill>
                  <a:srgbClr val="C00000"/>
                </a:solidFill>
                <a:latin typeface="Algerian" panose="04020705040A02060702" pitchFamily="82" charset="0"/>
              </a:rPr>
              <a:t>THE AMAZON RIVER BASIN WETLAND</a:t>
            </a:r>
          </a:p>
        </p:txBody>
      </p:sp>
      <p:sp>
        <p:nvSpPr>
          <p:cNvPr id="23" name="TextBox 22">
            <a:extLst>
              <a:ext uri="{FF2B5EF4-FFF2-40B4-BE49-F238E27FC236}">
                <a16:creationId xmlns:a16="http://schemas.microsoft.com/office/drawing/2014/main" id="{16F6651E-7CF8-4A88-A554-E3D9384A7914}"/>
              </a:ext>
            </a:extLst>
          </p:cNvPr>
          <p:cNvSpPr txBox="1"/>
          <p:nvPr/>
        </p:nvSpPr>
        <p:spPr>
          <a:xfrm>
            <a:off x="5963478" y="1086678"/>
            <a:ext cx="5459896" cy="5645426"/>
          </a:xfrm>
          <a:prstGeom prst="rect">
            <a:avLst/>
          </a:prstGeom>
          <a:noFill/>
        </p:spPr>
        <p:txBody>
          <a:bodyPr wrap="square" rtlCol="0">
            <a:spAutoFit/>
          </a:bodyPr>
          <a:lstStyle/>
          <a:p>
            <a:endParaRPr lang="en-IN" dirty="0"/>
          </a:p>
        </p:txBody>
      </p:sp>
      <p:sp>
        <p:nvSpPr>
          <p:cNvPr id="24" name="TextBox 23">
            <a:extLst>
              <a:ext uri="{FF2B5EF4-FFF2-40B4-BE49-F238E27FC236}">
                <a16:creationId xmlns:a16="http://schemas.microsoft.com/office/drawing/2014/main" id="{1D62587B-AB49-438A-A318-E499EBA33B4D}"/>
              </a:ext>
            </a:extLst>
          </p:cNvPr>
          <p:cNvSpPr txBox="1"/>
          <p:nvPr/>
        </p:nvSpPr>
        <p:spPr>
          <a:xfrm>
            <a:off x="5963478" y="1086678"/>
            <a:ext cx="5459896" cy="261610"/>
          </a:xfrm>
          <a:prstGeom prst="rect">
            <a:avLst/>
          </a:prstGeom>
          <a:noFill/>
        </p:spPr>
        <p:txBody>
          <a:bodyPr wrap="square" rtlCol="0">
            <a:spAutoFit/>
          </a:bodyPr>
          <a:lstStyle/>
          <a:p>
            <a:endParaRPr lang="en-IN" sz="1100" dirty="0"/>
          </a:p>
        </p:txBody>
      </p:sp>
      <p:sp>
        <p:nvSpPr>
          <p:cNvPr id="30" name="Rectangle 15">
            <a:extLst>
              <a:ext uri="{FF2B5EF4-FFF2-40B4-BE49-F238E27FC236}">
                <a16:creationId xmlns:a16="http://schemas.microsoft.com/office/drawing/2014/main" id="{793F376B-0B82-4505-92B0-42804AD23101}"/>
              </a:ext>
            </a:extLst>
          </p:cNvPr>
          <p:cNvSpPr>
            <a:spLocks noChangeArrowheads="1"/>
          </p:cNvSpPr>
          <p:nvPr/>
        </p:nvSpPr>
        <p:spPr bwMode="auto">
          <a:xfrm>
            <a:off x="5911936" y="1379038"/>
            <a:ext cx="5777946"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Amazon River Basin is the largest drainage system in the world, covering nearly 40% of South America across nine countries. It contains the planet's largest tropical rainforest, which acts as a vital global climate regulator and supports unparalleled biodiversity. Fed by over a thousand tributaries, the massive Amazon River itself accounts for roughly 20% of the world's total river flow into the oceans.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If you want to focus on a specific aspect of the basin, please tell me if you prefer to learn about its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unique wildlife</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indigenous communities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or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environmental threats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4821842"/>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CC3ECC-D40B-4088-B527-BA88DAA12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572" y="596349"/>
            <a:ext cx="4132430" cy="25311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A4F13553-C7C0-47CD-8614-80A2B68F2EAE}"/>
              </a:ext>
            </a:extLst>
          </p:cNvPr>
          <p:cNvSpPr txBox="1"/>
          <p:nvPr/>
        </p:nvSpPr>
        <p:spPr>
          <a:xfrm>
            <a:off x="6480313" y="596349"/>
            <a:ext cx="3790122" cy="369332"/>
          </a:xfrm>
          <a:prstGeom prst="rect">
            <a:avLst/>
          </a:prstGeom>
          <a:noFill/>
        </p:spPr>
        <p:txBody>
          <a:bodyPr wrap="square" rtlCol="0">
            <a:spAutoFit/>
          </a:bodyPr>
          <a:lstStyle/>
          <a:p>
            <a:r>
              <a:rPr lang="en-IN" dirty="0">
                <a:solidFill>
                  <a:srgbClr val="C00000"/>
                </a:solidFill>
                <a:latin typeface="Algerian" panose="04020705040A02060702" pitchFamily="82" charset="0"/>
              </a:rPr>
              <a:t>OKAVANGO DELTA WETLAND</a:t>
            </a:r>
          </a:p>
        </p:txBody>
      </p:sp>
      <p:sp>
        <p:nvSpPr>
          <p:cNvPr id="7" name="TextBox 6">
            <a:extLst>
              <a:ext uri="{FF2B5EF4-FFF2-40B4-BE49-F238E27FC236}">
                <a16:creationId xmlns:a16="http://schemas.microsoft.com/office/drawing/2014/main" id="{14119A88-E1D2-4D9B-B1F6-25031E5E3059}"/>
              </a:ext>
            </a:extLst>
          </p:cNvPr>
          <p:cNvSpPr txBox="1"/>
          <p:nvPr/>
        </p:nvSpPr>
        <p:spPr>
          <a:xfrm>
            <a:off x="5579165" y="917912"/>
            <a:ext cx="5327374" cy="5078313"/>
          </a:xfrm>
          <a:prstGeom prst="rect">
            <a:avLst/>
          </a:prstGeom>
          <a:noFill/>
        </p:spPr>
        <p:txBody>
          <a:bodyPr wrap="square" rtlCol="0">
            <a:spAutoFit/>
          </a:bodyPr>
          <a:lstStyle/>
          <a:p>
            <a:r>
              <a:rPr lang="en-US" dirty="0"/>
              <a:t>The Okavango Delta in Botswana is a stunning inland river oasis where the Okavango River empties into the Kalahari Desert. This unique ecosystem floods during the dry winter months, attracting thousands of animals and creating one of Africa’s premier wildlife sanctuaries. Known for its rich biodiversity, visitors can spot elephants, lions, and rare birds while exploring the tranquil water </a:t>
            </a:r>
            <a:r>
              <a:rPr lang="en-US" dirty="0">
                <a:latin typeface="Arial" panose="020B0604020202020204" pitchFamily="34" charset="0"/>
                <a:cs typeface="Arial" panose="020B0604020202020204" pitchFamily="34" charset="0"/>
              </a:rPr>
              <a:t>channels</a:t>
            </a:r>
            <a:r>
              <a:rPr lang="en-US" dirty="0"/>
              <a:t> in traditional dugout canoes called mokoros.</a:t>
            </a:r>
          </a:p>
          <a:p>
            <a:r>
              <a:rPr lang="en-US" dirty="0"/>
              <a:t>If you want to tailor this, please let me know:</a:t>
            </a:r>
          </a:p>
          <a:p>
            <a:endParaRPr lang="en-US" dirty="0"/>
          </a:p>
          <a:p>
            <a:r>
              <a:rPr lang="en-US" dirty="0"/>
              <a:t>* Is this paragraph for a school project, a travel brochure, or a social media post?</a:t>
            </a:r>
          </a:p>
          <a:p>
            <a:r>
              <a:rPr lang="en-US" dirty="0"/>
              <a:t>* What is the word count you need?</a:t>
            </a:r>
          </a:p>
          <a:p>
            <a:r>
              <a:rPr lang="en-US" dirty="0"/>
              <a:t>* Should it focus more on the animals, the geography, or safari travel?</a:t>
            </a:r>
          </a:p>
          <a:p>
            <a:endParaRPr lang="en-US" dirty="0"/>
          </a:p>
          <a:p>
            <a:endParaRPr lang="en-US" dirty="0"/>
          </a:p>
        </p:txBody>
      </p:sp>
    </p:spTree>
    <p:extLst>
      <p:ext uri="{BB962C8B-B14F-4D97-AF65-F5344CB8AC3E}">
        <p14:creationId xmlns:p14="http://schemas.microsoft.com/office/powerpoint/2010/main" val="1967289274"/>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35323D-E392-40C2-8996-46827ACCD3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598" y="357601"/>
            <a:ext cx="4795011" cy="25976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A22BA109-7E65-428A-A6AC-94E231EC7C75}"/>
              </a:ext>
            </a:extLst>
          </p:cNvPr>
          <p:cNvSpPr txBox="1"/>
          <p:nvPr/>
        </p:nvSpPr>
        <p:spPr>
          <a:xfrm>
            <a:off x="6612835" y="198782"/>
            <a:ext cx="2902226" cy="646331"/>
          </a:xfrm>
          <a:prstGeom prst="rect">
            <a:avLst/>
          </a:prstGeom>
          <a:noFill/>
        </p:spPr>
        <p:txBody>
          <a:bodyPr wrap="square" rtlCol="0">
            <a:spAutoFit/>
          </a:bodyPr>
          <a:lstStyle/>
          <a:p>
            <a:r>
              <a:rPr lang="en-IN" dirty="0">
                <a:solidFill>
                  <a:srgbClr val="C00000"/>
                </a:solidFill>
                <a:latin typeface="Algerian" panose="04020705040A02060702" pitchFamily="82" charset="0"/>
              </a:rPr>
              <a:t>THE SUNDERBANS WETLAND</a:t>
            </a:r>
          </a:p>
        </p:txBody>
      </p:sp>
      <p:sp>
        <p:nvSpPr>
          <p:cNvPr id="5" name="TextBox 4">
            <a:extLst>
              <a:ext uri="{FF2B5EF4-FFF2-40B4-BE49-F238E27FC236}">
                <a16:creationId xmlns:a16="http://schemas.microsoft.com/office/drawing/2014/main" id="{8CCAA0E4-09A8-4914-A99E-08FC045E7FA7}"/>
              </a:ext>
            </a:extLst>
          </p:cNvPr>
          <p:cNvSpPr txBox="1"/>
          <p:nvPr/>
        </p:nvSpPr>
        <p:spPr>
          <a:xfrm>
            <a:off x="6096000" y="917912"/>
            <a:ext cx="5181600" cy="5078313"/>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Sundarbans is the world's largest mangrove forest, spanning across India and Bangladesh along the Bay of Bengal. This UNESCO World Heritage Site is formed by the confluence of the Ganges, Brahmaputra, and Meghna rivers. It is globally famous for its rich biodiversity, serving as the unique, water-locked home of the endangered Royal Bengal tiger. Beyond its wildlife, this vast network of tidal waterways and islands acts as a crucial natural barrier against powerful tropical storms.</a:t>
            </a:r>
          </a:p>
          <a:p>
            <a:r>
              <a:rPr lang="en-US" dirty="0">
                <a:latin typeface="Arial" panose="020B0604020202020204" pitchFamily="34" charset="0"/>
                <a:cs typeface="Arial" panose="020B0604020202020204" pitchFamily="34" charset="0"/>
              </a:rPr>
              <a:t>To help me tailor more information for you, please let me know:</a:t>
            </a:r>
          </a:p>
          <a:p>
            <a:r>
              <a:rPr lang="en-US" dirty="0">
                <a:latin typeface="Arial" panose="020B0604020202020204" pitchFamily="34" charset="0"/>
                <a:cs typeface="Arial" panose="020B0604020202020204" pitchFamily="34" charset="0"/>
              </a:rPr>
              <a:t>Is this paragraph for a </a:t>
            </a:r>
            <a:r>
              <a:rPr lang="en-US" b="1" dirty="0">
                <a:latin typeface="Arial" panose="020B0604020202020204" pitchFamily="34" charset="0"/>
                <a:cs typeface="Arial" panose="020B0604020202020204" pitchFamily="34" charset="0"/>
              </a:rPr>
              <a:t>school project</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travel planning</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general interest</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Do you want to focus more on the </a:t>
            </a:r>
            <a:r>
              <a:rPr lang="en-US" b="1" dirty="0">
                <a:latin typeface="Arial" panose="020B0604020202020204" pitchFamily="34" charset="0"/>
                <a:cs typeface="Arial" panose="020B0604020202020204" pitchFamily="34" charset="0"/>
              </a:rPr>
              <a:t>wildlife</a:t>
            </a:r>
            <a:r>
              <a:rPr lang="en-US" dirty="0">
                <a:latin typeface="Arial" panose="020B0604020202020204" pitchFamily="34" charset="0"/>
                <a:cs typeface="Arial" panose="020B0604020202020204" pitchFamily="34" charset="0"/>
              </a:rPr>
              <a:t> or the </a:t>
            </a:r>
            <a:r>
              <a:rPr lang="en-US" b="1" dirty="0">
                <a:latin typeface="Arial" panose="020B0604020202020204" pitchFamily="34" charset="0"/>
                <a:cs typeface="Arial" panose="020B0604020202020204" pitchFamily="34" charset="0"/>
              </a:rPr>
              <a:t>environmental threats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What is the </a:t>
            </a:r>
            <a:r>
              <a:rPr lang="en-US" b="1" dirty="0">
                <a:latin typeface="Arial" panose="020B0604020202020204" pitchFamily="34" charset="0"/>
                <a:cs typeface="Arial" panose="020B0604020202020204" pitchFamily="34" charset="0"/>
              </a:rPr>
              <a:t>ideal word count</a:t>
            </a:r>
            <a:r>
              <a:rPr lang="en-US" dirty="0">
                <a:latin typeface="Arial" panose="020B0604020202020204" pitchFamily="34" charset="0"/>
                <a:cs typeface="Arial" panose="020B0604020202020204" pitchFamily="34" charset="0"/>
              </a:rPr>
              <a:t> you need?</a:t>
            </a:r>
          </a:p>
        </p:txBody>
      </p:sp>
    </p:spTree>
    <p:extLst>
      <p:ext uri="{BB962C8B-B14F-4D97-AF65-F5344CB8AC3E}">
        <p14:creationId xmlns:p14="http://schemas.microsoft.com/office/powerpoint/2010/main" val="2536970601"/>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A569FF-3B83-44B4-BBC4-2D3490DEE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159" y="551622"/>
            <a:ext cx="4513473" cy="26421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95711EC1-F7CB-47EF-B095-38A833CF8065}"/>
              </a:ext>
            </a:extLst>
          </p:cNvPr>
          <p:cNvSpPr txBox="1"/>
          <p:nvPr/>
        </p:nvSpPr>
        <p:spPr>
          <a:xfrm>
            <a:off x="5950226" y="203212"/>
            <a:ext cx="2915478" cy="646331"/>
          </a:xfrm>
          <a:prstGeom prst="rect">
            <a:avLst/>
          </a:prstGeom>
          <a:noFill/>
        </p:spPr>
        <p:txBody>
          <a:bodyPr wrap="square" rtlCol="0">
            <a:spAutoFit/>
          </a:bodyPr>
          <a:lstStyle/>
          <a:p>
            <a:r>
              <a:rPr lang="en-IN" dirty="0">
                <a:solidFill>
                  <a:srgbClr val="C00000"/>
                </a:solidFill>
                <a:latin typeface="Algerian" panose="04020705040A02060702" pitchFamily="82" charset="0"/>
              </a:rPr>
              <a:t>THE EVERGLADES WETLAND</a:t>
            </a:r>
          </a:p>
        </p:txBody>
      </p:sp>
      <p:sp>
        <p:nvSpPr>
          <p:cNvPr id="5" name="TextBox 4">
            <a:extLst>
              <a:ext uri="{FF2B5EF4-FFF2-40B4-BE49-F238E27FC236}">
                <a16:creationId xmlns:a16="http://schemas.microsoft.com/office/drawing/2014/main" id="{8919C244-03D5-4BDD-BF03-4050B49C185A}"/>
              </a:ext>
            </a:extLst>
          </p:cNvPr>
          <p:cNvSpPr txBox="1"/>
          <p:nvPr/>
        </p:nvSpPr>
        <p:spPr>
          <a:xfrm>
            <a:off x="5830956" y="849543"/>
            <a:ext cx="5446643"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Everglades is a massive, 1.5-million-acre subtropical wetland located in southern Florida. Often called the "River of Grass," this unique ecosystem consists of a shallow, slow-moving river that flows through diverse habitats like pinelands, mangrove forests, and freshwater marshes. It is a famous UNESCO World Heritage site celebrated for its incredible biodiversity. Visitors flock here to see iconic wildlife, including alligators, manatees, and rare wading birds. It is also the only place on Earth where alligators and crocodiles coexist in the wild.</a:t>
            </a:r>
          </a:p>
          <a:p>
            <a:r>
              <a:rPr lang="en-US" dirty="0">
                <a:latin typeface="Arial" panose="020B0604020202020204" pitchFamily="34" charset="0"/>
                <a:cs typeface="Arial" panose="020B0604020202020204" pitchFamily="34" charset="0"/>
              </a:rPr>
              <a:t>To help me tailor this description, could you share: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Your target audience (e.g., kids, tourists, students)?</a:t>
            </a:r>
          </a:p>
          <a:p>
            <a:r>
              <a:rPr lang="en-US" dirty="0">
                <a:latin typeface="Arial" panose="020B0604020202020204" pitchFamily="34" charset="0"/>
                <a:cs typeface="Arial" panose="020B0604020202020204" pitchFamily="34" charset="0"/>
              </a:rPr>
              <a:t>* The main focus you want (e.g., wildlife, travel tips, environmental issues)?</a:t>
            </a:r>
          </a:p>
          <a:p>
            <a:r>
              <a:rPr lang="en-US" dirty="0">
                <a:latin typeface="Arial" panose="020B0604020202020204" pitchFamily="34" charset="0"/>
                <a:cs typeface="Arial" panose="020B0604020202020204" pitchFamily="34" charset="0"/>
              </a:rPr>
              <a:t>* The exact word count you need?</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7835025"/>
      </p:ext>
    </p:extLst>
  </p:cSld>
  <p:clrMapOvr>
    <a:masterClrMapping/>
  </p:clrMapOvr>
  <mc:AlternateContent xmlns:mc="http://schemas.openxmlformats.org/markup-compatibility/2006">
    <mc:Choice xmlns:p14="http://schemas.microsoft.com/office/powerpoint/2010/main" Requires="p14">
      <p:transition p14:dur="10">
        <p:push dir="u"/>
      </p:transition>
    </mc:Choice>
    <mc:Fallback>
      <p:transition>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676</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Algerian</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8</cp:revision>
  <dcterms:created xsi:type="dcterms:W3CDTF">2026-05-31T06:14:23Z</dcterms:created>
  <dcterms:modified xsi:type="dcterms:W3CDTF">2026-05-31T07:14:43Z</dcterms:modified>
</cp:coreProperties>
</file>