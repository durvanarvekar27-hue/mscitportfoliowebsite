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Agrandir Bold" panose="020B0604020202020204" charset="0"/>
      <p:regular r:id="rId13"/>
    </p:embeddedFont>
    <p:embeddedFont>
      <p:font typeface="Algerian" panose="04020705040A02060702" pitchFamily="82" charset="0"/>
      <p:regular r:id="rId14"/>
    </p:embeddedFon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Poppins" panose="020B0604020202020204" charset="0"/>
      <p:regular r:id="rId19"/>
    </p:embeddedFont>
    <p:embeddedFont>
      <p:font typeface="Poppins Italics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6" d="100"/>
          <a:sy n="46" d="100"/>
        </p:scale>
        <p:origin x="756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 dir="r"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11.jpeg"/><Relationship Id="rId7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jpeg"/><Relationship Id="rId9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22.png"/><Relationship Id="rId3" Type="http://schemas.openxmlformats.org/officeDocument/2006/relationships/image" Target="../media/image16.jpeg"/><Relationship Id="rId7" Type="http://schemas.openxmlformats.org/officeDocument/2006/relationships/image" Target="../media/image20.svg"/><Relationship Id="rId12" Type="http://schemas.openxmlformats.org/officeDocument/2006/relationships/image" Target="../media/image2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image" Target="../media/image10.svg"/><Relationship Id="rId5" Type="http://schemas.openxmlformats.org/officeDocument/2006/relationships/image" Target="../media/image18.svg"/><Relationship Id="rId10" Type="http://schemas.openxmlformats.org/officeDocument/2006/relationships/image" Target="../media/image9.png"/><Relationship Id="rId4" Type="http://schemas.openxmlformats.org/officeDocument/2006/relationships/image" Target="../media/image17.png"/><Relationship Id="rId9" Type="http://schemas.openxmlformats.org/officeDocument/2006/relationships/image" Target="../media/image14.svg"/><Relationship Id="rId14" Type="http://schemas.openxmlformats.org/officeDocument/2006/relationships/image" Target="../media/image23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4.png"/><Relationship Id="rId7" Type="http://schemas.openxmlformats.org/officeDocument/2006/relationships/image" Target="../media/image20.svg"/><Relationship Id="rId12" Type="http://schemas.openxmlformats.org/officeDocument/2006/relationships/image" Target="../media/image2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image" Target="../media/image10.svg"/><Relationship Id="rId5" Type="http://schemas.openxmlformats.org/officeDocument/2006/relationships/image" Target="../media/image26.svg"/><Relationship Id="rId10" Type="http://schemas.openxmlformats.org/officeDocument/2006/relationships/image" Target="../media/image9.png"/><Relationship Id="rId4" Type="http://schemas.openxmlformats.org/officeDocument/2006/relationships/image" Target="../media/image25.png"/><Relationship Id="rId9" Type="http://schemas.openxmlformats.org/officeDocument/2006/relationships/image" Target="../media/image14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8.png"/><Relationship Id="rId7" Type="http://schemas.openxmlformats.org/officeDocument/2006/relationships/image" Target="../media/image30.png"/><Relationship Id="rId12" Type="http://schemas.openxmlformats.org/officeDocument/2006/relationships/image" Target="../media/image3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svg"/><Relationship Id="rId11" Type="http://schemas.openxmlformats.org/officeDocument/2006/relationships/image" Target="../media/image10.svg"/><Relationship Id="rId5" Type="http://schemas.openxmlformats.org/officeDocument/2006/relationships/image" Target="../media/image19.png"/><Relationship Id="rId10" Type="http://schemas.openxmlformats.org/officeDocument/2006/relationships/image" Target="../media/image9.png"/><Relationship Id="rId4" Type="http://schemas.openxmlformats.org/officeDocument/2006/relationships/image" Target="../media/image29.svg"/><Relationship Id="rId9" Type="http://schemas.openxmlformats.org/officeDocument/2006/relationships/image" Target="../media/image14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32.jpeg"/><Relationship Id="rId7" Type="http://schemas.openxmlformats.org/officeDocument/2006/relationships/image" Target="../media/image20.svg"/><Relationship Id="rId12" Type="http://schemas.openxmlformats.org/officeDocument/2006/relationships/image" Target="../media/image3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image" Target="../media/image10.svg"/><Relationship Id="rId5" Type="http://schemas.openxmlformats.org/officeDocument/2006/relationships/image" Target="../media/image34.svg"/><Relationship Id="rId10" Type="http://schemas.openxmlformats.org/officeDocument/2006/relationships/image" Target="../media/image9.png"/><Relationship Id="rId4" Type="http://schemas.openxmlformats.org/officeDocument/2006/relationships/image" Target="../media/image33.png"/><Relationship Id="rId9" Type="http://schemas.openxmlformats.org/officeDocument/2006/relationships/image" Target="../media/image14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36.jpeg"/><Relationship Id="rId7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svg"/><Relationship Id="rId11" Type="http://schemas.openxmlformats.org/officeDocument/2006/relationships/image" Target="../media/image40.png"/><Relationship Id="rId5" Type="http://schemas.openxmlformats.org/officeDocument/2006/relationships/image" Target="../media/image38.png"/><Relationship Id="rId10" Type="http://schemas.openxmlformats.org/officeDocument/2006/relationships/image" Target="../media/image10.svg"/><Relationship Id="rId4" Type="http://schemas.openxmlformats.org/officeDocument/2006/relationships/image" Target="../media/image37.jpeg"/><Relationship Id="rId9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1.png"/><Relationship Id="rId7" Type="http://schemas.openxmlformats.org/officeDocument/2006/relationships/image" Target="../media/image20.svg"/><Relationship Id="rId12" Type="http://schemas.openxmlformats.org/officeDocument/2006/relationships/image" Target="../media/image4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image" Target="../media/image10.svg"/><Relationship Id="rId5" Type="http://schemas.openxmlformats.org/officeDocument/2006/relationships/image" Target="../media/image26.svg"/><Relationship Id="rId10" Type="http://schemas.openxmlformats.org/officeDocument/2006/relationships/image" Target="../media/image9.png"/><Relationship Id="rId4" Type="http://schemas.openxmlformats.org/officeDocument/2006/relationships/image" Target="../media/image25.png"/><Relationship Id="rId9" Type="http://schemas.openxmlformats.org/officeDocument/2006/relationships/image" Target="../media/image14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13" Type="http://schemas.openxmlformats.org/officeDocument/2006/relationships/image" Target="../media/image47.png"/><Relationship Id="rId3" Type="http://schemas.openxmlformats.org/officeDocument/2006/relationships/image" Target="../media/image43.jpeg"/><Relationship Id="rId7" Type="http://schemas.openxmlformats.org/officeDocument/2006/relationships/image" Target="../media/image19.png"/><Relationship Id="rId12" Type="http://schemas.openxmlformats.org/officeDocument/2006/relationships/image" Target="../media/image10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svg"/><Relationship Id="rId11" Type="http://schemas.openxmlformats.org/officeDocument/2006/relationships/image" Target="../media/image9.png"/><Relationship Id="rId5" Type="http://schemas.openxmlformats.org/officeDocument/2006/relationships/image" Target="../media/image45.png"/><Relationship Id="rId10" Type="http://schemas.openxmlformats.org/officeDocument/2006/relationships/image" Target="../media/image14.svg"/><Relationship Id="rId4" Type="http://schemas.openxmlformats.org/officeDocument/2006/relationships/image" Target="../media/image44.png"/><Relationship Id="rId9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8.jpeg"/><Relationship Id="rId7" Type="http://schemas.openxmlformats.org/officeDocument/2006/relationships/image" Target="../media/image10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1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 flipH="1"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24384000" y="0"/>
                  </a:moveTo>
                  <a:lnTo>
                    <a:pt x="0" y="0"/>
                  </a:lnTo>
                  <a:lnTo>
                    <a:pt x="0" y="13716000"/>
                  </a:lnTo>
                  <a:lnTo>
                    <a:pt x="24384000" y="13716000"/>
                  </a:lnTo>
                  <a:lnTo>
                    <a:pt x="24384000" y="0"/>
                  </a:lnTo>
                  <a:close/>
                </a:path>
              </a:pathLst>
            </a:custGeom>
            <a:blipFill>
              <a:blip r:embed="rId2"/>
              <a:stretch>
                <a:fillRect l="-183" r="-183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5962307" y="-1182148"/>
            <a:ext cx="2663781" cy="2663781"/>
          </a:xfrm>
          <a:custGeom>
            <a:avLst/>
            <a:gdLst/>
            <a:ahLst/>
            <a:cxnLst/>
            <a:rect l="l" t="t" r="r" b="b"/>
            <a:pathLst>
              <a:path w="2663781" h="2663781">
                <a:moveTo>
                  <a:pt x="0" y="0"/>
                </a:moveTo>
                <a:lnTo>
                  <a:pt x="2663781" y="0"/>
                </a:lnTo>
                <a:lnTo>
                  <a:pt x="2663781" y="2663781"/>
                </a:lnTo>
                <a:lnTo>
                  <a:pt x="0" y="26637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8252679" y="6646564"/>
            <a:ext cx="3919633" cy="3919633"/>
          </a:xfrm>
          <a:custGeom>
            <a:avLst/>
            <a:gdLst/>
            <a:ahLst/>
            <a:cxnLst/>
            <a:rect l="l" t="t" r="r" b="b"/>
            <a:pathLst>
              <a:path w="3919633" h="3919633">
                <a:moveTo>
                  <a:pt x="0" y="0"/>
                </a:moveTo>
                <a:lnTo>
                  <a:pt x="3919633" y="0"/>
                </a:lnTo>
                <a:lnTo>
                  <a:pt x="3919633" y="3919633"/>
                </a:lnTo>
                <a:lnTo>
                  <a:pt x="0" y="39196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785222" y="6324629"/>
            <a:ext cx="1570444" cy="1570444"/>
          </a:xfrm>
          <a:custGeom>
            <a:avLst/>
            <a:gdLst/>
            <a:ahLst/>
            <a:cxnLst/>
            <a:rect l="l" t="t" r="r" b="b"/>
            <a:pathLst>
              <a:path w="1570444" h="1570444">
                <a:moveTo>
                  <a:pt x="0" y="0"/>
                </a:moveTo>
                <a:lnTo>
                  <a:pt x="1570444" y="0"/>
                </a:lnTo>
                <a:lnTo>
                  <a:pt x="1570444" y="1570443"/>
                </a:lnTo>
                <a:lnTo>
                  <a:pt x="0" y="15704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0240280" y="-546516"/>
            <a:ext cx="8047720" cy="11458318"/>
            <a:chOff x="0" y="0"/>
            <a:chExt cx="10730294" cy="1527775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730230" cy="15277593"/>
            </a:xfrm>
            <a:custGeom>
              <a:avLst/>
              <a:gdLst/>
              <a:ahLst/>
              <a:cxnLst/>
              <a:rect l="l" t="t" r="r" b="b"/>
              <a:pathLst>
                <a:path w="10730230" h="15277593">
                  <a:moveTo>
                    <a:pt x="258191" y="0"/>
                  </a:moveTo>
                  <a:lnTo>
                    <a:pt x="10472039" y="0"/>
                  </a:lnTo>
                  <a:cubicBezTo>
                    <a:pt x="10614660" y="0"/>
                    <a:pt x="10730230" y="115570"/>
                    <a:pt x="10730230" y="258191"/>
                  </a:cubicBezTo>
                  <a:lnTo>
                    <a:pt x="10730230" y="15019401"/>
                  </a:lnTo>
                  <a:cubicBezTo>
                    <a:pt x="10730230" y="15162023"/>
                    <a:pt x="10614660" y="15277593"/>
                    <a:pt x="10472039" y="15277593"/>
                  </a:cubicBezTo>
                  <a:lnTo>
                    <a:pt x="258191" y="15277593"/>
                  </a:lnTo>
                  <a:cubicBezTo>
                    <a:pt x="115570" y="15277593"/>
                    <a:pt x="0" y="15162023"/>
                    <a:pt x="0" y="15019401"/>
                  </a:cubicBezTo>
                  <a:lnTo>
                    <a:pt x="0" y="258191"/>
                  </a:lnTo>
                  <a:cubicBezTo>
                    <a:pt x="0" y="115570"/>
                    <a:pt x="115570" y="0"/>
                    <a:pt x="258191" y="0"/>
                  </a:cubicBezTo>
                  <a:close/>
                </a:path>
              </a:pathLst>
            </a:custGeom>
            <a:blipFill>
              <a:blip r:embed="rId5"/>
              <a:stretch>
                <a:fillRect l="-6972" r="-6972" b="-1"/>
              </a:stretch>
            </a:blipFill>
          </p:spPr>
        </p:sp>
      </p:grpSp>
      <p:sp>
        <p:nvSpPr>
          <p:cNvPr id="9" name="Freeform 9"/>
          <p:cNvSpPr/>
          <p:nvPr/>
        </p:nvSpPr>
        <p:spPr>
          <a:xfrm rot="1433340" flipH="1">
            <a:off x="-15555" y="1959331"/>
            <a:ext cx="2955131" cy="3330578"/>
          </a:xfrm>
          <a:custGeom>
            <a:avLst/>
            <a:gdLst/>
            <a:ahLst/>
            <a:cxnLst/>
            <a:rect l="l" t="t" r="r" b="b"/>
            <a:pathLst>
              <a:path w="2955131" h="3330578">
                <a:moveTo>
                  <a:pt x="2955132" y="0"/>
                </a:moveTo>
                <a:lnTo>
                  <a:pt x="0" y="0"/>
                </a:lnTo>
                <a:lnTo>
                  <a:pt x="0" y="3330578"/>
                </a:lnTo>
                <a:lnTo>
                  <a:pt x="2955132" y="3330578"/>
                </a:lnTo>
                <a:lnTo>
                  <a:pt x="295513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73" r="-73"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2221687" y="756668"/>
            <a:ext cx="4619063" cy="1109139"/>
          </a:xfrm>
          <a:custGeom>
            <a:avLst/>
            <a:gdLst/>
            <a:ahLst/>
            <a:cxnLst/>
            <a:rect l="l" t="t" r="r" b="b"/>
            <a:pathLst>
              <a:path w="4619063" h="1109139">
                <a:moveTo>
                  <a:pt x="0" y="0"/>
                </a:moveTo>
                <a:lnTo>
                  <a:pt x="4619064" y="0"/>
                </a:lnTo>
                <a:lnTo>
                  <a:pt x="4619064" y="1109139"/>
                </a:lnTo>
                <a:lnTo>
                  <a:pt x="0" y="110913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3" name="Freeform 13"/>
          <p:cNvSpPr/>
          <p:nvPr/>
        </p:nvSpPr>
        <p:spPr>
          <a:xfrm>
            <a:off x="1063447" y="8606380"/>
            <a:ext cx="1970094" cy="651920"/>
          </a:xfrm>
          <a:custGeom>
            <a:avLst/>
            <a:gdLst/>
            <a:ahLst/>
            <a:cxnLst/>
            <a:rect l="l" t="t" r="r" b="b"/>
            <a:pathLst>
              <a:path w="1970094" h="651920">
                <a:moveTo>
                  <a:pt x="0" y="0"/>
                </a:moveTo>
                <a:lnTo>
                  <a:pt x="1970094" y="0"/>
                </a:lnTo>
                <a:lnTo>
                  <a:pt x="1970094" y="651920"/>
                </a:lnTo>
                <a:lnTo>
                  <a:pt x="0" y="65192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t="-1095" b="-1097"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2863779" y="2629005"/>
            <a:ext cx="6262083" cy="24250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61"/>
              </a:lnSpc>
            </a:pPr>
            <a:r>
              <a:rPr lang="en-US" sz="6472" b="1">
                <a:solidFill>
                  <a:srgbClr val="5B2C36"/>
                </a:solidFill>
                <a:latin typeface="Agrandir Bold"/>
                <a:ea typeface="Agrandir Bold"/>
                <a:cs typeface="Agrandir Bold"/>
                <a:sym typeface="Agrandir Bold"/>
              </a:rPr>
              <a:t>Velvet</a:t>
            </a:r>
          </a:p>
          <a:p>
            <a:pPr algn="l">
              <a:lnSpc>
                <a:spcPts val="9061"/>
              </a:lnSpc>
            </a:pPr>
            <a:r>
              <a:rPr lang="en-US" sz="6472" b="1">
                <a:solidFill>
                  <a:srgbClr val="5B2C36"/>
                </a:solidFill>
                <a:latin typeface="Agrandir Bold"/>
                <a:ea typeface="Agrandir Bold"/>
                <a:cs typeface="Agrandir Bold"/>
                <a:sym typeface="Agrandir Bold"/>
              </a:rPr>
              <a:t>            petals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185025" y="5410810"/>
            <a:ext cx="6221740" cy="491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400" spc="48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Creating Scents That Inspire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258349" y="7163457"/>
            <a:ext cx="4545740" cy="491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400" i="1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www.chanel.com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28523" y="1026202"/>
            <a:ext cx="5532068" cy="812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4500" dirty="0">
                <a:solidFill>
                  <a:srgbClr val="5B2C36"/>
                </a:solidFill>
                <a:latin typeface="Poppins"/>
                <a:ea typeface="Poppins"/>
                <a:cs typeface="Poppins"/>
                <a:sym typeface="Poppins"/>
              </a:rPr>
              <a:t>Chanel</a:t>
            </a:r>
          </a:p>
        </p:txBody>
      </p:sp>
      <p:sp>
        <p:nvSpPr>
          <p:cNvPr id="18" name="Freeform 10">
            <a:extLst>
              <a:ext uri="{FF2B5EF4-FFF2-40B4-BE49-F238E27FC236}">
                <a16:creationId xmlns:a16="http://schemas.microsoft.com/office/drawing/2014/main" id="{92FECC88-EAAF-4166-9D45-1484AC7B6AAD}"/>
              </a:ext>
            </a:extLst>
          </p:cNvPr>
          <p:cNvSpPr/>
          <p:nvPr/>
        </p:nvSpPr>
        <p:spPr>
          <a:xfrm>
            <a:off x="1538901" y="5024032"/>
            <a:ext cx="7250331" cy="1109139"/>
          </a:xfrm>
          <a:custGeom>
            <a:avLst/>
            <a:gdLst/>
            <a:ahLst/>
            <a:cxnLst/>
            <a:rect l="l" t="t" r="r" b="b"/>
            <a:pathLst>
              <a:path w="4619063" h="1109139">
                <a:moveTo>
                  <a:pt x="0" y="0"/>
                </a:moveTo>
                <a:lnTo>
                  <a:pt x="4619064" y="0"/>
                </a:lnTo>
                <a:lnTo>
                  <a:pt x="4619064" y="1109139"/>
                </a:lnTo>
                <a:lnTo>
                  <a:pt x="0" y="110913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  <p:transition spd="slow"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1490" y="-962412"/>
            <a:ext cx="18742923" cy="11372208"/>
            <a:chOff x="0" y="0"/>
            <a:chExt cx="33140669" cy="20107994"/>
          </a:xfrm>
        </p:grpSpPr>
        <p:sp>
          <p:nvSpPr>
            <p:cNvPr id="3" name="Freeform 3"/>
            <p:cNvSpPr/>
            <p:nvPr/>
          </p:nvSpPr>
          <p:spPr>
            <a:xfrm flipV="1">
              <a:off x="0" y="0"/>
              <a:ext cx="33140669" cy="20107994"/>
            </a:xfrm>
            <a:custGeom>
              <a:avLst/>
              <a:gdLst/>
              <a:ahLst/>
              <a:cxnLst/>
              <a:rect l="l" t="t" r="r" b="b"/>
              <a:pathLst>
                <a:path w="33140669" h="20107994">
                  <a:moveTo>
                    <a:pt x="0" y="20107994"/>
                  </a:moveTo>
                  <a:lnTo>
                    <a:pt x="33140669" y="20107994"/>
                  </a:lnTo>
                  <a:lnTo>
                    <a:pt x="33140669" y="0"/>
                  </a:lnTo>
                  <a:lnTo>
                    <a:pt x="0" y="0"/>
                  </a:lnTo>
                  <a:lnTo>
                    <a:pt x="0" y="20107994"/>
                  </a:lnTo>
                  <a:close/>
                </a:path>
              </a:pathLst>
            </a:custGeom>
            <a:blipFill>
              <a:blip r:embed="rId2"/>
              <a:stretch>
                <a:fillRect l="-4131" r="-413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380096">
            <a:off x="2557428" y="5256104"/>
            <a:ext cx="6219625" cy="3670263"/>
            <a:chOff x="0" y="0"/>
            <a:chExt cx="8488883" cy="500937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488934" cy="5009388"/>
            </a:xfrm>
            <a:custGeom>
              <a:avLst/>
              <a:gdLst/>
              <a:ahLst/>
              <a:cxnLst/>
              <a:rect l="l" t="t" r="r" b="b"/>
              <a:pathLst>
                <a:path w="8488934" h="5009388">
                  <a:moveTo>
                    <a:pt x="554863" y="0"/>
                  </a:moveTo>
                  <a:lnTo>
                    <a:pt x="7933944" y="0"/>
                  </a:lnTo>
                  <a:cubicBezTo>
                    <a:pt x="8081137" y="0"/>
                    <a:pt x="8222234" y="58420"/>
                    <a:pt x="8326374" y="162560"/>
                  </a:cubicBezTo>
                  <a:cubicBezTo>
                    <a:pt x="8430513" y="266700"/>
                    <a:pt x="8488934" y="407797"/>
                    <a:pt x="8488934" y="554990"/>
                  </a:cubicBezTo>
                  <a:lnTo>
                    <a:pt x="8488934" y="4454525"/>
                  </a:lnTo>
                  <a:cubicBezTo>
                    <a:pt x="8488934" y="4760976"/>
                    <a:pt x="8240522" y="5009388"/>
                    <a:pt x="7934071" y="5009388"/>
                  </a:cubicBezTo>
                  <a:lnTo>
                    <a:pt x="554863" y="5009388"/>
                  </a:lnTo>
                  <a:cubicBezTo>
                    <a:pt x="248412" y="5009388"/>
                    <a:pt x="0" y="4760976"/>
                    <a:pt x="0" y="4454525"/>
                  </a:cubicBezTo>
                  <a:lnTo>
                    <a:pt x="0" y="554863"/>
                  </a:lnTo>
                  <a:cubicBezTo>
                    <a:pt x="0" y="248412"/>
                    <a:pt x="248412" y="0"/>
                    <a:pt x="554863" y="0"/>
                  </a:cubicBezTo>
                  <a:close/>
                </a:path>
              </a:pathLst>
            </a:custGeom>
            <a:blipFill>
              <a:blip r:embed="rId3"/>
              <a:stretch>
                <a:fillRect t="-797" b="-12329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9608868" y="1875825"/>
            <a:ext cx="6472142" cy="2778319"/>
            <a:chOff x="0" y="0"/>
            <a:chExt cx="8629523" cy="370442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629523" cy="3704463"/>
            </a:xfrm>
            <a:custGeom>
              <a:avLst/>
              <a:gdLst/>
              <a:ahLst/>
              <a:cxnLst/>
              <a:rect l="l" t="t" r="r" b="b"/>
              <a:pathLst>
                <a:path w="8629523" h="3704463">
                  <a:moveTo>
                    <a:pt x="545846" y="0"/>
                  </a:moveTo>
                  <a:lnTo>
                    <a:pt x="8083677" y="0"/>
                  </a:lnTo>
                  <a:cubicBezTo>
                    <a:pt x="8228457" y="0"/>
                    <a:pt x="8367268" y="57531"/>
                    <a:pt x="8469630" y="159893"/>
                  </a:cubicBezTo>
                  <a:cubicBezTo>
                    <a:pt x="8571992" y="262255"/>
                    <a:pt x="8629523" y="401066"/>
                    <a:pt x="8629523" y="545846"/>
                  </a:cubicBezTo>
                  <a:lnTo>
                    <a:pt x="8629523" y="3158617"/>
                  </a:lnTo>
                  <a:cubicBezTo>
                    <a:pt x="8629523" y="3460115"/>
                    <a:pt x="8385175" y="3704463"/>
                    <a:pt x="8083677" y="3704463"/>
                  </a:cubicBezTo>
                  <a:lnTo>
                    <a:pt x="545846" y="3704463"/>
                  </a:lnTo>
                  <a:cubicBezTo>
                    <a:pt x="244348" y="3704463"/>
                    <a:pt x="0" y="3459988"/>
                    <a:pt x="0" y="3158617"/>
                  </a:cubicBezTo>
                  <a:lnTo>
                    <a:pt x="0" y="545846"/>
                  </a:lnTo>
                  <a:cubicBezTo>
                    <a:pt x="0" y="244348"/>
                    <a:pt x="244348" y="0"/>
                    <a:pt x="545846" y="0"/>
                  </a:cubicBezTo>
                  <a:close/>
                </a:path>
              </a:pathLst>
            </a:custGeom>
            <a:blipFill>
              <a:blip r:embed="rId4"/>
              <a:stretch>
                <a:fillRect t="-27672" b="-27672"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>
            <a:off x="-111490" y="-390735"/>
            <a:ext cx="633489" cy="10800531"/>
          </a:xfrm>
          <a:custGeom>
            <a:avLst/>
            <a:gdLst/>
            <a:ahLst/>
            <a:cxnLst/>
            <a:rect l="l" t="t" r="r" b="b"/>
            <a:pathLst>
              <a:path w="633489" h="10800531">
                <a:moveTo>
                  <a:pt x="0" y="0"/>
                </a:moveTo>
                <a:lnTo>
                  <a:pt x="633489" y="0"/>
                </a:lnTo>
                <a:lnTo>
                  <a:pt x="633489" y="10800531"/>
                </a:lnTo>
                <a:lnTo>
                  <a:pt x="0" y="1080053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551900" y="2207076"/>
            <a:ext cx="5676852" cy="2001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1">
                <a:solidFill>
                  <a:srgbClr val="5B2C36"/>
                </a:solidFill>
                <a:latin typeface="Agrandir Bold"/>
                <a:ea typeface="Agrandir Bold"/>
                <a:cs typeface="Agrandir Bold"/>
                <a:sym typeface="Agrandir Bold"/>
              </a:rPr>
              <a:t>Company Overview</a:t>
            </a:r>
          </a:p>
        </p:txBody>
      </p:sp>
      <p:sp>
        <p:nvSpPr>
          <p:cNvPr id="10" name="Freeform 10"/>
          <p:cNvSpPr/>
          <p:nvPr/>
        </p:nvSpPr>
        <p:spPr>
          <a:xfrm>
            <a:off x="15289206" y="8606380"/>
            <a:ext cx="1970094" cy="651920"/>
          </a:xfrm>
          <a:custGeom>
            <a:avLst/>
            <a:gdLst/>
            <a:ahLst/>
            <a:cxnLst/>
            <a:rect l="l" t="t" r="r" b="b"/>
            <a:pathLst>
              <a:path w="1970094" h="651920">
                <a:moveTo>
                  <a:pt x="0" y="0"/>
                </a:moveTo>
                <a:lnTo>
                  <a:pt x="1970094" y="0"/>
                </a:lnTo>
                <a:lnTo>
                  <a:pt x="1970094" y="651920"/>
                </a:lnTo>
                <a:lnTo>
                  <a:pt x="0" y="65192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t="-1095" b="-1097"/>
            </a:stretch>
          </a:blipFill>
        </p:spPr>
      </p:sp>
      <p:grpSp>
        <p:nvGrpSpPr>
          <p:cNvPr id="11" name="Group 11"/>
          <p:cNvGrpSpPr/>
          <p:nvPr/>
        </p:nvGrpSpPr>
        <p:grpSpPr>
          <a:xfrm rot="-223500">
            <a:off x="214103" y="4217203"/>
            <a:ext cx="3171425" cy="6694303"/>
            <a:chOff x="0" y="0"/>
            <a:chExt cx="4228567" cy="892573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228592" cy="8925687"/>
            </a:xfrm>
            <a:custGeom>
              <a:avLst/>
              <a:gdLst/>
              <a:ahLst/>
              <a:cxnLst/>
              <a:rect l="l" t="t" r="r" b="b"/>
              <a:pathLst>
                <a:path w="4228592" h="8925687">
                  <a:moveTo>
                    <a:pt x="0" y="0"/>
                  </a:moveTo>
                  <a:lnTo>
                    <a:pt x="4228592" y="0"/>
                  </a:lnTo>
                  <a:lnTo>
                    <a:pt x="4228592" y="8925687"/>
                  </a:lnTo>
                  <a:lnTo>
                    <a:pt x="0" y="89256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8" r="-7"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9144000" y="5200336"/>
            <a:ext cx="8572310" cy="2885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8"/>
              </a:lnSpc>
            </a:pPr>
            <a:r>
              <a:rPr lang="en-US" sz="26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Velvet Petals is a modern perfume brand that creates soft, elegant, and long-lasting fragrances. Our products are designed to give confidence, freshness, and luxury in everyday life. We focus on quality ingredients, beautiful packaging, and unique floral scents that suit every personality.</a:t>
            </a:r>
          </a:p>
        </p:txBody>
      </p:sp>
    </p:spTree>
  </p:cSld>
  <p:clrMapOvr>
    <a:masterClrMapping/>
  </p:clrMapOvr>
  <p:transition spd="slow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1490" y="-133969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 flipV="1"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13716000"/>
                  </a:moveTo>
                  <a:lnTo>
                    <a:pt x="24384000" y="13716000"/>
                  </a:lnTo>
                  <a:lnTo>
                    <a:pt x="24384000" y="0"/>
                  </a:lnTo>
                  <a:lnTo>
                    <a:pt x="0" y="0"/>
                  </a:lnTo>
                  <a:lnTo>
                    <a:pt x="0" y="13716000"/>
                  </a:lnTo>
                  <a:close/>
                </a:path>
              </a:pathLst>
            </a:custGeom>
            <a:blipFill>
              <a:blip r:embed="rId2"/>
              <a:stretch>
                <a:fillRect l="-183" r="-183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1690823" y="0"/>
            <a:ext cx="6655098" cy="7256936"/>
            <a:chOff x="0" y="0"/>
            <a:chExt cx="8873465" cy="967591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873490" cy="9675876"/>
            </a:xfrm>
            <a:custGeom>
              <a:avLst/>
              <a:gdLst/>
              <a:ahLst/>
              <a:cxnLst/>
              <a:rect l="l" t="t" r="r" b="b"/>
              <a:pathLst>
                <a:path w="8873490" h="9675876">
                  <a:moveTo>
                    <a:pt x="286258" y="0"/>
                  </a:moveTo>
                  <a:lnTo>
                    <a:pt x="8587105" y="0"/>
                  </a:lnTo>
                  <a:cubicBezTo>
                    <a:pt x="8745220" y="0"/>
                    <a:pt x="8873490" y="128143"/>
                    <a:pt x="8873490" y="286258"/>
                  </a:cubicBezTo>
                  <a:lnTo>
                    <a:pt x="8873490" y="9389618"/>
                  </a:lnTo>
                  <a:cubicBezTo>
                    <a:pt x="8873490" y="9547733"/>
                    <a:pt x="8745347" y="9675876"/>
                    <a:pt x="8587232" y="9675876"/>
                  </a:cubicBezTo>
                  <a:lnTo>
                    <a:pt x="286258" y="9675876"/>
                  </a:lnTo>
                  <a:cubicBezTo>
                    <a:pt x="128143" y="9675876"/>
                    <a:pt x="0" y="9547733"/>
                    <a:pt x="0" y="9389618"/>
                  </a:cubicBezTo>
                  <a:lnTo>
                    <a:pt x="0" y="286258"/>
                  </a:lnTo>
                  <a:cubicBezTo>
                    <a:pt x="0" y="128143"/>
                    <a:pt x="128143" y="0"/>
                    <a:pt x="286258" y="0"/>
                  </a:cubicBezTo>
                  <a:close/>
                </a:path>
              </a:pathLst>
            </a:custGeom>
            <a:blipFill>
              <a:blip r:embed="rId3"/>
              <a:stretch>
                <a:fillRect t="-18823" b="-18823"/>
              </a:stretch>
            </a:blipFill>
          </p:spPr>
        </p:sp>
      </p:grpSp>
      <p:sp>
        <p:nvSpPr>
          <p:cNvPr id="6" name="Freeform 6"/>
          <p:cNvSpPr/>
          <p:nvPr/>
        </p:nvSpPr>
        <p:spPr>
          <a:xfrm>
            <a:off x="4531780" y="4239239"/>
            <a:ext cx="714990" cy="723367"/>
          </a:xfrm>
          <a:custGeom>
            <a:avLst/>
            <a:gdLst/>
            <a:ahLst/>
            <a:cxnLst/>
            <a:rect l="l" t="t" r="r" b="b"/>
            <a:pathLst>
              <a:path w="714990" h="723367">
                <a:moveTo>
                  <a:pt x="0" y="0"/>
                </a:moveTo>
                <a:lnTo>
                  <a:pt x="714990" y="0"/>
                </a:lnTo>
                <a:lnTo>
                  <a:pt x="714990" y="723367"/>
                </a:lnTo>
                <a:lnTo>
                  <a:pt x="0" y="7233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4723707" y="4435354"/>
            <a:ext cx="331137" cy="331137"/>
          </a:xfrm>
          <a:custGeom>
            <a:avLst/>
            <a:gdLst/>
            <a:ahLst/>
            <a:cxnLst/>
            <a:rect l="l" t="t" r="r" b="b"/>
            <a:pathLst>
              <a:path w="331137" h="331137">
                <a:moveTo>
                  <a:pt x="0" y="0"/>
                </a:moveTo>
                <a:lnTo>
                  <a:pt x="331136" y="0"/>
                </a:lnTo>
                <a:lnTo>
                  <a:pt x="331136" y="331137"/>
                </a:lnTo>
                <a:lnTo>
                  <a:pt x="0" y="3311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4531780" y="5787466"/>
            <a:ext cx="714990" cy="723367"/>
          </a:xfrm>
          <a:custGeom>
            <a:avLst/>
            <a:gdLst/>
            <a:ahLst/>
            <a:cxnLst/>
            <a:rect l="l" t="t" r="r" b="b"/>
            <a:pathLst>
              <a:path w="714990" h="723367">
                <a:moveTo>
                  <a:pt x="0" y="0"/>
                </a:moveTo>
                <a:lnTo>
                  <a:pt x="714990" y="0"/>
                </a:lnTo>
                <a:lnTo>
                  <a:pt x="714990" y="723367"/>
                </a:lnTo>
                <a:lnTo>
                  <a:pt x="0" y="7233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4723707" y="5998988"/>
            <a:ext cx="331137" cy="331137"/>
          </a:xfrm>
          <a:custGeom>
            <a:avLst/>
            <a:gdLst/>
            <a:ahLst/>
            <a:cxnLst/>
            <a:rect l="l" t="t" r="r" b="b"/>
            <a:pathLst>
              <a:path w="331137" h="331137">
                <a:moveTo>
                  <a:pt x="0" y="0"/>
                </a:moveTo>
                <a:lnTo>
                  <a:pt x="331136" y="0"/>
                </a:lnTo>
                <a:lnTo>
                  <a:pt x="331136" y="331137"/>
                </a:lnTo>
                <a:lnTo>
                  <a:pt x="0" y="3311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4558979" y="7061149"/>
            <a:ext cx="687791" cy="695849"/>
          </a:xfrm>
          <a:custGeom>
            <a:avLst/>
            <a:gdLst/>
            <a:ahLst/>
            <a:cxnLst/>
            <a:rect l="l" t="t" r="r" b="b"/>
            <a:pathLst>
              <a:path w="687791" h="695849">
                <a:moveTo>
                  <a:pt x="0" y="0"/>
                </a:moveTo>
                <a:lnTo>
                  <a:pt x="687791" y="0"/>
                </a:lnTo>
                <a:lnTo>
                  <a:pt x="687791" y="695849"/>
                </a:lnTo>
                <a:lnTo>
                  <a:pt x="0" y="6958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4723707" y="7231128"/>
            <a:ext cx="331137" cy="331137"/>
          </a:xfrm>
          <a:custGeom>
            <a:avLst/>
            <a:gdLst/>
            <a:ahLst/>
            <a:cxnLst/>
            <a:rect l="l" t="t" r="r" b="b"/>
            <a:pathLst>
              <a:path w="331137" h="331137">
                <a:moveTo>
                  <a:pt x="0" y="0"/>
                </a:moveTo>
                <a:lnTo>
                  <a:pt x="331136" y="0"/>
                </a:lnTo>
                <a:lnTo>
                  <a:pt x="331136" y="331136"/>
                </a:lnTo>
                <a:lnTo>
                  <a:pt x="0" y="3311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-111490" y="-390735"/>
            <a:ext cx="633489" cy="10800531"/>
          </a:xfrm>
          <a:custGeom>
            <a:avLst/>
            <a:gdLst/>
            <a:ahLst/>
            <a:cxnLst/>
            <a:rect l="l" t="t" r="r" b="b"/>
            <a:pathLst>
              <a:path w="633489" h="10800531">
                <a:moveTo>
                  <a:pt x="0" y="0"/>
                </a:moveTo>
                <a:lnTo>
                  <a:pt x="633489" y="0"/>
                </a:lnTo>
                <a:lnTo>
                  <a:pt x="633489" y="10800531"/>
                </a:lnTo>
                <a:lnTo>
                  <a:pt x="0" y="1080053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-83211">
            <a:off x="12040841" y="7583501"/>
            <a:ext cx="1761930" cy="583036"/>
          </a:xfrm>
          <a:custGeom>
            <a:avLst/>
            <a:gdLst/>
            <a:ahLst/>
            <a:cxnLst/>
            <a:rect l="l" t="t" r="r" b="b"/>
            <a:pathLst>
              <a:path w="1761930" h="583036">
                <a:moveTo>
                  <a:pt x="0" y="0"/>
                </a:moveTo>
                <a:lnTo>
                  <a:pt x="1761929" y="0"/>
                </a:lnTo>
                <a:lnTo>
                  <a:pt x="1761929" y="583036"/>
                </a:lnTo>
                <a:lnTo>
                  <a:pt x="0" y="58303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t="-1095" b="-1097"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14857318" y="5816422"/>
            <a:ext cx="7968520" cy="8673217"/>
            <a:chOff x="0" y="0"/>
            <a:chExt cx="10624693" cy="1156429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624693" cy="11564239"/>
            </a:xfrm>
            <a:custGeom>
              <a:avLst/>
              <a:gdLst/>
              <a:ahLst/>
              <a:cxnLst/>
              <a:rect l="l" t="t" r="r" b="b"/>
              <a:pathLst>
                <a:path w="10624693" h="11564239">
                  <a:moveTo>
                    <a:pt x="0" y="0"/>
                  </a:moveTo>
                  <a:lnTo>
                    <a:pt x="10624693" y="0"/>
                  </a:lnTo>
                  <a:lnTo>
                    <a:pt x="10624693" y="11564239"/>
                  </a:lnTo>
                  <a:lnTo>
                    <a:pt x="0" y="115642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-19" r="-19"/>
              </a:stretch>
            </a:blipFill>
          </p:spPr>
        </p:sp>
      </p:grpSp>
      <p:sp>
        <p:nvSpPr>
          <p:cNvPr id="16" name="Freeform 16"/>
          <p:cNvSpPr/>
          <p:nvPr/>
        </p:nvSpPr>
        <p:spPr>
          <a:xfrm rot="228780">
            <a:off x="1640843" y="1038501"/>
            <a:ext cx="1856746" cy="5490381"/>
          </a:xfrm>
          <a:custGeom>
            <a:avLst/>
            <a:gdLst/>
            <a:ahLst/>
            <a:cxnLst/>
            <a:rect l="l" t="t" r="r" b="b"/>
            <a:pathLst>
              <a:path w="1856746" h="5490381">
                <a:moveTo>
                  <a:pt x="0" y="0"/>
                </a:moveTo>
                <a:lnTo>
                  <a:pt x="1856747" y="0"/>
                </a:lnTo>
                <a:lnTo>
                  <a:pt x="1856747" y="5490382"/>
                </a:lnTo>
                <a:lnTo>
                  <a:pt x="0" y="549038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t="-206" b="-207"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5426403" y="4222252"/>
            <a:ext cx="4287517" cy="7872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Consumers face limited options for truly distinctive fragrances.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426403" y="5737579"/>
            <a:ext cx="4287517" cy="7872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Growing demand for sustainable and eco-conscious products.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246770" y="1297510"/>
            <a:ext cx="5085140" cy="2001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1">
                <a:solidFill>
                  <a:srgbClr val="5B2C36"/>
                </a:solidFill>
                <a:latin typeface="Agrandir Bold"/>
                <a:ea typeface="Agrandir Bold"/>
                <a:cs typeface="Agrandir Bold"/>
                <a:sym typeface="Agrandir Bold"/>
              </a:rPr>
              <a:t>The Problem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426459" y="6969719"/>
            <a:ext cx="3717541" cy="7872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Generic scents dominate mass-market offerings.</a:t>
            </a:r>
          </a:p>
        </p:txBody>
      </p:sp>
    </p:spTree>
  </p:cSld>
  <p:clrMapOvr>
    <a:masterClrMapping/>
  </p:clrMapOvr>
  <p:transition spd="slow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 flipV="1"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13716000"/>
                  </a:moveTo>
                  <a:lnTo>
                    <a:pt x="24384000" y="13716000"/>
                  </a:lnTo>
                  <a:lnTo>
                    <a:pt x="24384000" y="0"/>
                  </a:lnTo>
                  <a:lnTo>
                    <a:pt x="0" y="0"/>
                  </a:lnTo>
                  <a:lnTo>
                    <a:pt x="0" y="13716000"/>
                  </a:lnTo>
                  <a:close/>
                </a:path>
              </a:pathLst>
            </a:custGeom>
            <a:blipFill>
              <a:blip r:embed="rId2"/>
              <a:stretch>
                <a:fillRect l="-183" r="-183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0218001" y="0"/>
            <a:ext cx="7041299" cy="8377542"/>
            <a:chOff x="0" y="0"/>
            <a:chExt cx="9388399" cy="1117005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388475" cy="11170158"/>
            </a:xfrm>
            <a:custGeom>
              <a:avLst/>
              <a:gdLst/>
              <a:ahLst/>
              <a:cxnLst/>
              <a:rect l="l" t="t" r="r" b="b"/>
              <a:pathLst>
                <a:path w="9388475" h="11170158">
                  <a:moveTo>
                    <a:pt x="501777" y="0"/>
                  </a:moveTo>
                  <a:lnTo>
                    <a:pt x="8886698" y="0"/>
                  </a:lnTo>
                  <a:cubicBezTo>
                    <a:pt x="9019794" y="0"/>
                    <a:pt x="9147429" y="52832"/>
                    <a:pt x="9241536" y="146939"/>
                  </a:cubicBezTo>
                  <a:cubicBezTo>
                    <a:pt x="9335643" y="241046"/>
                    <a:pt x="9388475" y="368681"/>
                    <a:pt x="9388475" y="501777"/>
                  </a:cubicBezTo>
                  <a:lnTo>
                    <a:pt x="9388475" y="10668381"/>
                  </a:lnTo>
                  <a:cubicBezTo>
                    <a:pt x="9388475" y="10801477"/>
                    <a:pt x="9335643" y="10929113"/>
                    <a:pt x="9241536" y="11023219"/>
                  </a:cubicBezTo>
                  <a:cubicBezTo>
                    <a:pt x="9147429" y="11117326"/>
                    <a:pt x="9019794" y="11170158"/>
                    <a:pt x="8886698" y="11170158"/>
                  </a:cubicBezTo>
                  <a:lnTo>
                    <a:pt x="501777" y="11170158"/>
                  </a:lnTo>
                  <a:cubicBezTo>
                    <a:pt x="368681" y="11170158"/>
                    <a:pt x="241046" y="11117326"/>
                    <a:pt x="146939" y="11023219"/>
                  </a:cubicBezTo>
                  <a:cubicBezTo>
                    <a:pt x="52832" y="10929113"/>
                    <a:pt x="0" y="10801350"/>
                    <a:pt x="0" y="10668381"/>
                  </a:cubicBezTo>
                  <a:lnTo>
                    <a:pt x="0" y="501777"/>
                  </a:lnTo>
                  <a:cubicBezTo>
                    <a:pt x="0" y="368681"/>
                    <a:pt x="52832" y="241046"/>
                    <a:pt x="146939" y="146939"/>
                  </a:cubicBezTo>
                  <a:cubicBezTo>
                    <a:pt x="241046" y="52832"/>
                    <a:pt x="368681" y="0"/>
                    <a:pt x="501777" y="0"/>
                  </a:cubicBezTo>
                  <a:close/>
                </a:path>
              </a:pathLst>
            </a:custGeom>
            <a:blipFill>
              <a:blip r:embed="rId3"/>
              <a:stretch>
                <a:fillRect t="-2512" b="-2511"/>
              </a:stretch>
            </a:blipFill>
          </p:spPr>
        </p:sp>
      </p:grpSp>
      <p:sp>
        <p:nvSpPr>
          <p:cNvPr id="6" name="Freeform 6"/>
          <p:cNvSpPr/>
          <p:nvPr/>
        </p:nvSpPr>
        <p:spPr>
          <a:xfrm>
            <a:off x="2097415" y="5834710"/>
            <a:ext cx="644881" cy="644881"/>
          </a:xfrm>
          <a:custGeom>
            <a:avLst/>
            <a:gdLst/>
            <a:ahLst/>
            <a:cxnLst/>
            <a:rect l="l" t="t" r="r" b="b"/>
            <a:pathLst>
              <a:path w="644881" h="644881">
                <a:moveTo>
                  <a:pt x="0" y="0"/>
                </a:moveTo>
                <a:lnTo>
                  <a:pt x="644880" y="0"/>
                </a:lnTo>
                <a:lnTo>
                  <a:pt x="644880" y="644881"/>
                </a:lnTo>
                <a:lnTo>
                  <a:pt x="0" y="6448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264616" y="6001912"/>
            <a:ext cx="310477" cy="310477"/>
          </a:xfrm>
          <a:custGeom>
            <a:avLst/>
            <a:gdLst/>
            <a:ahLst/>
            <a:cxnLst/>
            <a:rect l="l" t="t" r="r" b="b"/>
            <a:pathLst>
              <a:path w="310477" h="310477">
                <a:moveTo>
                  <a:pt x="0" y="0"/>
                </a:moveTo>
                <a:lnTo>
                  <a:pt x="310477" y="0"/>
                </a:lnTo>
                <a:lnTo>
                  <a:pt x="310477" y="310477"/>
                </a:lnTo>
                <a:lnTo>
                  <a:pt x="0" y="3104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111490" y="-390735"/>
            <a:ext cx="633489" cy="10800531"/>
          </a:xfrm>
          <a:custGeom>
            <a:avLst/>
            <a:gdLst/>
            <a:ahLst/>
            <a:cxnLst/>
            <a:rect l="l" t="t" r="r" b="b"/>
            <a:pathLst>
              <a:path w="633489" h="10800531">
                <a:moveTo>
                  <a:pt x="0" y="0"/>
                </a:moveTo>
                <a:lnTo>
                  <a:pt x="633489" y="0"/>
                </a:lnTo>
                <a:lnTo>
                  <a:pt x="633489" y="10800531"/>
                </a:lnTo>
                <a:lnTo>
                  <a:pt x="0" y="1080053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6299968" y="4484189"/>
            <a:ext cx="1970094" cy="651920"/>
          </a:xfrm>
          <a:custGeom>
            <a:avLst/>
            <a:gdLst/>
            <a:ahLst/>
            <a:cxnLst/>
            <a:rect l="l" t="t" r="r" b="b"/>
            <a:pathLst>
              <a:path w="1970094" h="651920">
                <a:moveTo>
                  <a:pt x="0" y="0"/>
                </a:moveTo>
                <a:lnTo>
                  <a:pt x="1970094" y="0"/>
                </a:lnTo>
                <a:lnTo>
                  <a:pt x="1970094" y="651920"/>
                </a:lnTo>
                <a:lnTo>
                  <a:pt x="0" y="65192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t="-1095" b="-1097"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14985873" y="2792335"/>
            <a:ext cx="3302127" cy="8229600"/>
            <a:chOff x="0" y="0"/>
            <a:chExt cx="4402836" cy="1097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402836" cy="10972800"/>
            </a:xfrm>
            <a:custGeom>
              <a:avLst/>
              <a:gdLst/>
              <a:ahLst/>
              <a:cxnLst/>
              <a:rect l="l" t="t" r="r" b="b"/>
              <a:pathLst>
                <a:path w="4402836" h="10972800">
                  <a:moveTo>
                    <a:pt x="0" y="0"/>
                  </a:moveTo>
                  <a:lnTo>
                    <a:pt x="4402836" y="0"/>
                  </a:lnTo>
                  <a:lnTo>
                    <a:pt x="4402836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2097415" y="6555619"/>
            <a:ext cx="6869440" cy="1934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7"/>
              </a:lnSpc>
            </a:pPr>
            <a:r>
              <a:rPr lang="en-US" sz="212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We envision a world where perfumes are more than just fragrances — </a:t>
            </a:r>
          </a:p>
          <a:p>
            <a:pPr algn="l">
              <a:lnSpc>
                <a:spcPts val="2977"/>
              </a:lnSpc>
            </a:pPr>
            <a:r>
              <a:rPr lang="en-US" sz="212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To become a trusted perfume brand that inspires confidence, elegance, and freshness through unique and long-lasting fragrances for everyone.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097415" y="1763001"/>
            <a:ext cx="4101370" cy="2001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1">
                <a:solidFill>
                  <a:srgbClr val="5B2C36"/>
                </a:solidFill>
                <a:latin typeface="Agrandir Bold"/>
                <a:ea typeface="Agrandir Bold"/>
                <a:cs typeface="Agrandir Bold"/>
                <a:sym typeface="Agrandir Bold"/>
              </a:rPr>
              <a:t>Our Vision</a:t>
            </a:r>
          </a:p>
        </p:txBody>
      </p:sp>
    </p:spTree>
  </p:cSld>
  <p:clrMapOvr>
    <a:masterClrMapping/>
  </p:clrMapOvr>
  <p:transition spd="slow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 flipV="1"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13716000"/>
                  </a:moveTo>
                  <a:lnTo>
                    <a:pt x="24384000" y="13716000"/>
                  </a:lnTo>
                  <a:lnTo>
                    <a:pt x="24384000" y="0"/>
                  </a:lnTo>
                  <a:lnTo>
                    <a:pt x="0" y="0"/>
                  </a:lnTo>
                  <a:lnTo>
                    <a:pt x="0" y="13716000"/>
                  </a:lnTo>
                  <a:close/>
                </a:path>
              </a:pathLst>
            </a:custGeom>
            <a:blipFill>
              <a:blip r:embed="rId2"/>
              <a:stretch>
                <a:fillRect l="-183" r="-183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5480218" y="5713095"/>
            <a:ext cx="995229" cy="1006897"/>
          </a:xfrm>
          <a:custGeom>
            <a:avLst/>
            <a:gdLst/>
            <a:ahLst/>
            <a:cxnLst/>
            <a:rect l="l" t="t" r="r" b="b"/>
            <a:pathLst>
              <a:path w="995229" h="1006897">
                <a:moveTo>
                  <a:pt x="0" y="0"/>
                </a:moveTo>
                <a:lnTo>
                  <a:pt x="995229" y="0"/>
                </a:lnTo>
                <a:lnTo>
                  <a:pt x="995229" y="1006897"/>
                </a:lnTo>
                <a:lnTo>
                  <a:pt x="0" y="10068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738260" y="5982805"/>
            <a:ext cx="479146" cy="479146"/>
          </a:xfrm>
          <a:custGeom>
            <a:avLst/>
            <a:gdLst/>
            <a:ahLst/>
            <a:cxnLst/>
            <a:rect l="l" t="t" r="r" b="b"/>
            <a:pathLst>
              <a:path w="479146" h="479146">
                <a:moveTo>
                  <a:pt x="0" y="0"/>
                </a:moveTo>
                <a:lnTo>
                  <a:pt x="479146" y="0"/>
                </a:lnTo>
                <a:lnTo>
                  <a:pt x="479146" y="479145"/>
                </a:lnTo>
                <a:lnTo>
                  <a:pt x="0" y="4791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41590" y="5713095"/>
            <a:ext cx="995229" cy="1006897"/>
          </a:xfrm>
          <a:custGeom>
            <a:avLst/>
            <a:gdLst/>
            <a:ahLst/>
            <a:cxnLst/>
            <a:rect l="l" t="t" r="r" b="b"/>
            <a:pathLst>
              <a:path w="995229" h="1006897">
                <a:moveTo>
                  <a:pt x="0" y="0"/>
                </a:moveTo>
                <a:lnTo>
                  <a:pt x="995229" y="0"/>
                </a:lnTo>
                <a:lnTo>
                  <a:pt x="995229" y="1006897"/>
                </a:lnTo>
                <a:lnTo>
                  <a:pt x="0" y="10068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99631" y="5982805"/>
            <a:ext cx="479146" cy="479146"/>
          </a:xfrm>
          <a:custGeom>
            <a:avLst/>
            <a:gdLst/>
            <a:ahLst/>
            <a:cxnLst/>
            <a:rect l="l" t="t" r="r" b="b"/>
            <a:pathLst>
              <a:path w="479146" h="479146">
                <a:moveTo>
                  <a:pt x="0" y="0"/>
                </a:moveTo>
                <a:lnTo>
                  <a:pt x="479146" y="0"/>
                </a:lnTo>
                <a:lnTo>
                  <a:pt x="479146" y="479145"/>
                </a:lnTo>
                <a:lnTo>
                  <a:pt x="0" y="4791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3471284" y="5705399"/>
            <a:ext cx="995229" cy="1006897"/>
          </a:xfrm>
          <a:custGeom>
            <a:avLst/>
            <a:gdLst/>
            <a:ahLst/>
            <a:cxnLst/>
            <a:rect l="l" t="t" r="r" b="b"/>
            <a:pathLst>
              <a:path w="995229" h="1006897">
                <a:moveTo>
                  <a:pt x="0" y="0"/>
                </a:moveTo>
                <a:lnTo>
                  <a:pt x="995229" y="0"/>
                </a:lnTo>
                <a:lnTo>
                  <a:pt x="995229" y="1006897"/>
                </a:lnTo>
                <a:lnTo>
                  <a:pt x="0" y="10068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3729325" y="5975109"/>
            <a:ext cx="479146" cy="479146"/>
          </a:xfrm>
          <a:custGeom>
            <a:avLst/>
            <a:gdLst/>
            <a:ahLst/>
            <a:cxnLst/>
            <a:rect l="l" t="t" r="r" b="b"/>
            <a:pathLst>
              <a:path w="479146" h="479146">
                <a:moveTo>
                  <a:pt x="0" y="0"/>
                </a:moveTo>
                <a:lnTo>
                  <a:pt x="479146" y="0"/>
                </a:lnTo>
                <a:lnTo>
                  <a:pt x="479146" y="479145"/>
                </a:lnTo>
                <a:lnTo>
                  <a:pt x="0" y="4791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9486328" y="5705399"/>
            <a:ext cx="995229" cy="1006897"/>
          </a:xfrm>
          <a:custGeom>
            <a:avLst/>
            <a:gdLst/>
            <a:ahLst/>
            <a:cxnLst/>
            <a:rect l="l" t="t" r="r" b="b"/>
            <a:pathLst>
              <a:path w="995229" h="1006897">
                <a:moveTo>
                  <a:pt x="0" y="0"/>
                </a:moveTo>
                <a:lnTo>
                  <a:pt x="995230" y="0"/>
                </a:lnTo>
                <a:lnTo>
                  <a:pt x="995230" y="1006897"/>
                </a:lnTo>
                <a:lnTo>
                  <a:pt x="0" y="10068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9744370" y="5975109"/>
            <a:ext cx="479146" cy="479146"/>
          </a:xfrm>
          <a:custGeom>
            <a:avLst/>
            <a:gdLst/>
            <a:ahLst/>
            <a:cxnLst/>
            <a:rect l="l" t="t" r="r" b="b"/>
            <a:pathLst>
              <a:path w="479146" h="479146">
                <a:moveTo>
                  <a:pt x="0" y="0"/>
                </a:moveTo>
                <a:lnTo>
                  <a:pt x="479146" y="0"/>
                </a:lnTo>
                <a:lnTo>
                  <a:pt x="479146" y="479145"/>
                </a:lnTo>
                <a:lnTo>
                  <a:pt x="0" y="4791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9144000" y="-162468"/>
            <a:ext cx="7806442" cy="5171999"/>
            <a:chOff x="0" y="0"/>
            <a:chExt cx="10408590" cy="689599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408590" cy="6896012"/>
            </a:xfrm>
            <a:custGeom>
              <a:avLst/>
              <a:gdLst/>
              <a:ahLst/>
              <a:cxnLst/>
              <a:rect l="l" t="t" r="r" b="b"/>
              <a:pathLst>
                <a:path w="10408590" h="6896012">
                  <a:moveTo>
                    <a:pt x="507477" y="0"/>
                  </a:moveTo>
                  <a:lnTo>
                    <a:pt x="9901113" y="0"/>
                  </a:lnTo>
                  <a:cubicBezTo>
                    <a:pt x="10035758" y="0"/>
                    <a:pt x="10164839" y="49376"/>
                    <a:pt x="10259913" y="137271"/>
                  </a:cubicBezTo>
                  <a:cubicBezTo>
                    <a:pt x="10354986" y="225167"/>
                    <a:pt x="10408590" y="344345"/>
                    <a:pt x="10408590" y="468543"/>
                  </a:cubicBezTo>
                  <a:lnTo>
                    <a:pt x="10408590" y="6427467"/>
                  </a:lnTo>
                  <a:cubicBezTo>
                    <a:pt x="10408590" y="6551781"/>
                    <a:pt x="10355111" y="6670960"/>
                    <a:pt x="10259913" y="6758739"/>
                  </a:cubicBezTo>
                  <a:cubicBezTo>
                    <a:pt x="10164713" y="6846518"/>
                    <a:pt x="10035632" y="6896012"/>
                    <a:pt x="9901113" y="6896012"/>
                  </a:cubicBezTo>
                  <a:lnTo>
                    <a:pt x="507477" y="6896012"/>
                  </a:lnTo>
                  <a:cubicBezTo>
                    <a:pt x="227189" y="6896012"/>
                    <a:pt x="0" y="6686252"/>
                    <a:pt x="0" y="6427467"/>
                  </a:cubicBezTo>
                  <a:lnTo>
                    <a:pt x="0" y="468543"/>
                  </a:lnTo>
                  <a:cubicBezTo>
                    <a:pt x="0" y="344345"/>
                    <a:pt x="53479" y="225050"/>
                    <a:pt x="148678" y="137271"/>
                  </a:cubicBezTo>
                  <a:cubicBezTo>
                    <a:pt x="243877" y="49492"/>
                    <a:pt x="372959" y="0"/>
                    <a:pt x="507477" y="0"/>
                  </a:cubicBezTo>
                  <a:close/>
                </a:path>
              </a:pathLst>
            </a:custGeom>
            <a:blipFill>
              <a:blip r:embed="rId7"/>
              <a:stretch>
                <a:fillRect t="-280" b="-280"/>
              </a:stretch>
            </a:blipFill>
          </p:spPr>
        </p:sp>
      </p:grpSp>
      <p:sp>
        <p:nvSpPr>
          <p:cNvPr id="14" name="Freeform 14"/>
          <p:cNvSpPr/>
          <p:nvPr/>
        </p:nvSpPr>
        <p:spPr>
          <a:xfrm>
            <a:off x="-111490" y="-390735"/>
            <a:ext cx="633489" cy="10800531"/>
          </a:xfrm>
          <a:custGeom>
            <a:avLst/>
            <a:gdLst/>
            <a:ahLst/>
            <a:cxnLst/>
            <a:rect l="l" t="t" r="r" b="b"/>
            <a:pathLst>
              <a:path w="633489" h="10800531">
                <a:moveTo>
                  <a:pt x="0" y="0"/>
                </a:moveTo>
                <a:lnTo>
                  <a:pt x="633489" y="0"/>
                </a:lnTo>
                <a:lnTo>
                  <a:pt x="633489" y="10800531"/>
                </a:lnTo>
                <a:lnTo>
                  <a:pt x="0" y="1080053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5886269" y="1028700"/>
            <a:ext cx="1970094" cy="651920"/>
          </a:xfrm>
          <a:custGeom>
            <a:avLst/>
            <a:gdLst/>
            <a:ahLst/>
            <a:cxnLst/>
            <a:rect l="l" t="t" r="r" b="b"/>
            <a:pathLst>
              <a:path w="1970094" h="651920">
                <a:moveTo>
                  <a:pt x="0" y="0"/>
                </a:moveTo>
                <a:lnTo>
                  <a:pt x="1970094" y="0"/>
                </a:lnTo>
                <a:lnTo>
                  <a:pt x="1970094" y="651920"/>
                </a:lnTo>
                <a:lnTo>
                  <a:pt x="0" y="65192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t="-1095" b="-1097"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15095163" y="2552967"/>
            <a:ext cx="3857816" cy="8274129"/>
            <a:chOff x="0" y="0"/>
            <a:chExt cx="5143754" cy="1103217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143754" cy="11032109"/>
            </a:xfrm>
            <a:custGeom>
              <a:avLst/>
              <a:gdLst/>
              <a:ahLst/>
              <a:cxnLst/>
              <a:rect l="l" t="t" r="r" b="b"/>
              <a:pathLst>
                <a:path w="5143754" h="11032109">
                  <a:moveTo>
                    <a:pt x="0" y="0"/>
                  </a:moveTo>
                  <a:lnTo>
                    <a:pt x="5143754" y="0"/>
                  </a:lnTo>
                  <a:lnTo>
                    <a:pt x="5143754" y="11032109"/>
                  </a:lnTo>
                  <a:lnTo>
                    <a:pt x="0" y="110321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-86" r="-86"/>
              </a:stretch>
            </a:blipFill>
          </p:spPr>
        </p:sp>
      </p:grpSp>
      <p:sp>
        <p:nvSpPr>
          <p:cNvPr id="18" name="TextBox 18"/>
          <p:cNvSpPr txBox="1"/>
          <p:nvPr/>
        </p:nvSpPr>
        <p:spPr>
          <a:xfrm>
            <a:off x="1441590" y="6928752"/>
            <a:ext cx="3409979" cy="1139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Exclusive Perfume Collections with unique, lasting notes.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480218" y="6947802"/>
            <a:ext cx="3377460" cy="11130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Custom Fragrance Development for clients seeking tailored scents.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486557" y="6921055"/>
            <a:ext cx="3355848" cy="1139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Sustainable Sourcing using ethically harvested ingredients.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471284" y="6921055"/>
            <a:ext cx="3375127" cy="1139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Premium Quality Control ensuring top-tier production.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875130" y="2762145"/>
            <a:ext cx="5379596" cy="2001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1">
                <a:solidFill>
                  <a:srgbClr val="5B2C36"/>
                </a:solidFill>
                <a:latin typeface="Agrandir Bold"/>
                <a:ea typeface="Agrandir Bold"/>
                <a:cs typeface="Agrandir Bold"/>
                <a:sym typeface="Agrandir Bold"/>
              </a:rPr>
              <a:t>Core Offerings</a:t>
            </a:r>
          </a:p>
        </p:txBody>
      </p:sp>
    </p:spTree>
  </p:cSld>
  <p:clrMapOvr>
    <a:masterClrMapping/>
  </p:clrMapOvr>
  <p:transition spd="slow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 flipV="1"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13716000"/>
                  </a:moveTo>
                  <a:lnTo>
                    <a:pt x="24384000" y="13716000"/>
                  </a:lnTo>
                  <a:lnTo>
                    <a:pt x="24384000" y="0"/>
                  </a:lnTo>
                  <a:lnTo>
                    <a:pt x="0" y="0"/>
                  </a:lnTo>
                  <a:lnTo>
                    <a:pt x="0" y="13716000"/>
                  </a:lnTo>
                  <a:close/>
                </a:path>
              </a:pathLst>
            </a:custGeom>
            <a:blipFill>
              <a:blip r:embed="rId2"/>
              <a:stretch>
                <a:fillRect l="-183" r="-183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9248146" y="1263558"/>
            <a:ext cx="7041299" cy="7759884"/>
            <a:chOff x="0" y="0"/>
            <a:chExt cx="9388399" cy="1034651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388475" cy="10346563"/>
            </a:xfrm>
            <a:custGeom>
              <a:avLst/>
              <a:gdLst/>
              <a:ahLst/>
              <a:cxnLst/>
              <a:rect l="l" t="t" r="r" b="b"/>
              <a:pathLst>
                <a:path w="9388475" h="10346563">
                  <a:moveTo>
                    <a:pt x="501777" y="0"/>
                  </a:moveTo>
                  <a:lnTo>
                    <a:pt x="8886698" y="0"/>
                  </a:lnTo>
                  <a:cubicBezTo>
                    <a:pt x="9019794" y="0"/>
                    <a:pt x="9147429" y="52832"/>
                    <a:pt x="9241536" y="146939"/>
                  </a:cubicBezTo>
                  <a:cubicBezTo>
                    <a:pt x="9335643" y="241046"/>
                    <a:pt x="9388475" y="368681"/>
                    <a:pt x="9388475" y="501777"/>
                  </a:cubicBezTo>
                  <a:lnTo>
                    <a:pt x="9388475" y="9844786"/>
                  </a:lnTo>
                  <a:cubicBezTo>
                    <a:pt x="9388475" y="9977882"/>
                    <a:pt x="9335643" y="10105517"/>
                    <a:pt x="9241536" y="10199624"/>
                  </a:cubicBezTo>
                  <a:cubicBezTo>
                    <a:pt x="9147429" y="10293731"/>
                    <a:pt x="9019794" y="10346563"/>
                    <a:pt x="8886698" y="10346563"/>
                  </a:cubicBezTo>
                  <a:lnTo>
                    <a:pt x="501777" y="10346563"/>
                  </a:lnTo>
                  <a:cubicBezTo>
                    <a:pt x="368681" y="10346563"/>
                    <a:pt x="241046" y="10293731"/>
                    <a:pt x="146939" y="10199624"/>
                  </a:cubicBezTo>
                  <a:cubicBezTo>
                    <a:pt x="52832" y="10105517"/>
                    <a:pt x="0" y="9977882"/>
                    <a:pt x="0" y="9844786"/>
                  </a:cubicBezTo>
                  <a:lnTo>
                    <a:pt x="0" y="501777"/>
                  </a:lnTo>
                  <a:cubicBezTo>
                    <a:pt x="0" y="368681"/>
                    <a:pt x="52832" y="241046"/>
                    <a:pt x="146939" y="146939"/>
                  </a:cubicBezTo>
                  <a:cubicBezTo>
                    <a:pt x="241046" y="52832"/>
                    <a:pt x="368681" y="0"/>
                    <a:pt x="501777" y="0"/>
                  </a:cubicBezTo>
                  <a:close/>
                </a:path>
              </a:pathLst>
            </a:custGeom>
            <a:blipFill>
              <a:blip r:embed="rId3"/>
              <a:stretch>
                <a:fillRect l="-32625" r="-32624"/>
              </a:stretch>
            </a:blipFill>
          </p:spPr>
        </p:sp>
      </p:grpSp>
      <p:sp>
        <p:nvSpPr>
          <p:cNvPr id="6" name="Freeform 6"/>
          <p:cNvSpPr/>
          <p:nvPr/>
        </p:nvSpPr>
        <p:spPr>
          <a:xfrm>
            <a:off x="1998555" y="2273770"/>
            <a:ext cx="1176890" cy="1190682"/>
          </a:xfrm>
          <a:custGeom>
            <a:avLst/>
            <a:gdLst/>
            <a:ahLst/>
            <a:cxnLst/>
            <a:rect l="l" t="t" r="r" b="b"/>
            <a:pathLst>
              <a:path w="1176890" h="1190682">
                <a:moveTo>
                  <a:pt x="0" y="0"/>
                </a:moveTo>
                <a:lnTo>
                  <a:pt x="1176890" y="0"/>
                </a:lnTo>
                <a:lnTo>
                  <a:pt x="1176890" y="1190682"/>
                </a:lnTo>
                <a:lnTo>
                  <a:pt x="0" y="11906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303697" y="2592705"/>
            <a:ext cx="566604" cy="566604"/>
          </a:xfrm>
          <a:custGeom>
            <a:avLst/>
            <a:gdLst/>
            <a:ahLst/>
            <a:cxnLst/>
            <a:rect l="l" t="t" r="r" b="b"/>
            <a:pathLst>
              <a:path w="566604" h="566604">
                <a:moveTo>
                  <a:pt x="0" y="0"/>
                </a:moveTo>
                <a:lnTo>
                  <a:pt x="566605" y="0"/>
                </a:lnTo>
                <a:lnTo>
                  <a:pt x="566605" y="566604"/>
                </a:lnTo>
                <a:lnTo>
                  <a:pt x="0" y="5666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111490" y="-390735"/>
            <a:ext cx="633489" cy="10800531"/>
          </a:xfrm>
          <a:custGeom>
            <a:avLst/>
            <a:gdLst/>
            <a:ahLst/>
            <a:cxnLst/>
            <a:rect l="l" t="t" r="r" b="b"/>
            <a:pathLst>
              <a:path w="633489" h="10800531">
                <a:moveTo>
                  <a:pt x="0" y="0"/>
                </a:moveTo>
                <a:lnTo>
                  <a:pt x="633489" y="0"/>
                </a:lnTo>
                <a:lnTo>
                  <a:pt x="633489" y="10800531"/>
                </a:lnTo>
                <a:lnTo>
                  <a:pt x="0" y="1080053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6388618" y="8606380"/>
            <a:ext cx="1970094" cy="651920"/>
          </a:xfrm>
          <a:custGeom>
            <a:avLst/>
            <a:gdLst/>
            <a:ahLst/>
            <a:cxnLst/>
            <a:rect l="l" t="t" r="r" b="b"/>
            <a:pathLst>
              <a:path w="1970094" h="651920">
                <a:moveTo>
                  <a:pt x="0" y="0"/>
                </a:moveTo>
                <a:lnTo>
                  <a:pt x="1970093" y="0"/>
                </a:lnTo>
                <a:lnTo>
                  <a:pt x="1970093" y="651920"/>
                </a:lnTo>
                <a:lnTo>
                  <a:pt x="0" y="65192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t="-1095" b="-1097"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13753700" y="2180196"/>
            <a:ext cx="5071491" cy="8229600"/>
            <a:chOff x="0" y="0"/>
            <a:chExt cx="6761988" cy="10972800"/>
          </a:xfrm>
        </p:grpSpPr>
        <p:sp>
          <p:nvSpPr>
            <p:cNvPr id="11" name="Freeform 11"/>
            <p:cNvSpPr/>
            <p:nvPr/>
          </p:nvSpPr>
          <p:spPr>
            <a:xfrm flipH="1">
              <a:off x="0" y="0"/>
              <a:ext cx="6761988" cy="10972800"/>
            </a:xfrm>
            <a:custGeom>
              <a:avLst/>
              <a:gdLst/>
              <a:ahLst/>
              <a:cxnLst/>
              <a:rect l="l" t="t" r="r" b="b"/>
              <a:pathLst>
                <a:path w="6761988" h="10972800">
                  <a:moveTo>
                    <a:pt x="6761988" y="0"/>
                  </a:moveTo>
                  <a:lnTo>
                    <a:pt x="0" y="0"/>
                  </a:lnTo>
                  <a:lnTo>
                    <a:pt x="0" y="10972800"/>
                  </a:lnTo>
                  <a:lnTo>
                    <a:pt x="6761988" y="10972800"/>
                  </a:lnTo>
                  <a:lnTo>
                    <a:pt x="6761988" y="0"/>
                  </a:lnTo>
                  <a:close/>
                </a:path>
              </a:pathLst>
            </a:custGeom>
            <a:blipFill>
              <a:blip r:embed="rId12"/>
              <a:stretch>
                <a:fillRect l="-49" r="-49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1998555" y="6088923"/>
            <a:ext cx="6580375" cy="2001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1">
                <a:solidFill>
                  <a:srgbClr val="5B2C36"/>
                </a:solidFill>
                <a:latin typeface="Agrandir Bold"/>
                <a:ea typeface="Agrandir Bold"/>
                <a:cs typeface="Agrandir Bold"/>
                <a:sym typeface="Agrandir Bold"/>
              </a:rPr>
              <a:t>Market Potential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458213" y="2063201"/>
            <a:ext cx="4774054" cy="3254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endParaRPr/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Growing demand for luxury and floral perfumes.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Young customers prefer stylish fragrance brands.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Online shopping increases perfume sales worldwide.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Affordable premium perfumes attract more buyers.</a:t>
            </a:r>
          </a:p>
        </p:txBody>
      </p:sp>
    </p:spTree>
  </p:cSld>
  <p:clrMapOvr>
    <a:masterClrMapping/>
  </p:clrMapOvr>
  <p:transition spd="slow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 flipV="1"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13716000"/>
                  </a:moveTo>
                  <a:lnTo>
                    <a:pt x="24384000" y="13716000"/>
                  </a:lnTo>
                  <a:lnTo>
                    <a:pt x="24384000" y="0"/>
                  </a:lnTo>
                  <a:lnTo>
                    <a:pt x="0" y="0"/>
                  </a:lnTo>
                  <a:lnTo>
                    <a:pt x="0" y="13716000"/>
                  </a:lnTo>
                  <a:close/>
                </a:path>
              </a:pathLst>
            </a:custGeom>
            <a:blipFill>
              <a:blip r:embed="rId2"/>
              <a:stretch>
                <a:fillRect l="-183" r="-183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713328" y="1516066"/>
            <a:ext cx="6717992" cy="5014446"/>
            <a:chOff x="0" y="0"/>
            <a:chExt cx="8957323" cy="668592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957310" cy="6686042"/>
            </a:xfrm>
            <a:custGeom>
              <a:avLst/>
              <a:gdLst/>
              <a:ahLst/>
              <a:cxnLst/>
              <a:rect l="l" t="t" r="r" b="b"/>
              <a:pathLst>
                <a:path w="8957310" h="6686042">
                  <a:moveTo>
                    <a:pt x="297561" y="0"/>
                  </a:moveTo>
                  <a:lnTo>
                    <a:pt x="8659749" y="0"/>
                  </a:lnTo>
                  <a:cubicBezTo>
                    <a:pt x="8738616" y="0"/>
                    <a:pt x="8814308" y="31369"/>
                    <a:pt x="8870188" y="87122"/>
                  </a:cubicBezTo>
                  <a:cubicBezTo>
                    <a:pt x="8926068" y="142875"/>
                    <a:pt x="8957310" y="218567"/>
                    <a:pt x="8957310" y="297561"/>
                  </a:cubicBezTo>
                  <a:lnTo>
                    <a:pt x="8957310" y="6388481"/>
                  </a:lnTo>
                  <a:cubicBezTo>
                    <a:pt x="8957310" y="6552819"/>
                    <a:pt x="8824087" y="6686042"/>
                    <a:pt x="8659749" y="6686042"/>
                  </a:cubicBezTo>
                  <a:lnTo>
                    <a:pt x="297561" y="6686042"/>
                  </a:lnTo>
                  <a:cubicBezTo>
                    <a:pt x="133223" y="6685915"/>
                    <a:pt x="0" y="6552692"/>
                    <a:pt x="0" y="6388354"/>
                  </a:cubicBezTo>
                  <a:lnTo>
                    <a:pt x="0" y="297561"/>
                  </a:lnTo>
                  <a:cubicBezTo>
                    <a:pt x="0" y="133223"/>
                    <a:pt x="133223" y="0"/>
                    <a:pt x="297561" y="0"/>
                  </a:cubicBezTo>
                  <a:close/>
                </a:path>
              </a:pathLst>
            </a:custGeom>
            <a:blipFill>
              <a:blip r:embed="rId3"/>
              <a:stretch>
                <a:fillRect l="-5997" r="-5997" b="1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3182036" y="3910527"/>
            <a:ext cx="6687693" cy="5209889"/>
            <a:chOff x="0" y="0"/>
            <a:chExt cx="8916924" cy="694651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916925" cy="6946392"/>
            </a:xfrm>
            <a:custGeom>
              <a:avLst/>
              <a:gdLst/>
              <a:ahLst/>
              <a:cxnLst/>
              <a:rect l="l" t="t" r="r" b="b"/>
              <a:pathLst>
                <a:path w="8916925" h="6946392">
                  <a:moveTo>
                    <a:pt x="517906" y="0"/>
                  </a:moveTo>
                  <a:lnTo>
                    <a:pt x="8399018" y="0"/>
                  </a:lnTo>
                  <a:cubicBezTo>
                    <a:pt x="8536432" y="0"/>
                    <a:pt x="8668131" y="56388"/>
                    <a:pt x="8765287" y="156845"/>
                  </a:cubicBezTo>
                  <a:cubicBezTo>
                    <a:pt x="8862441" y="257302"/>
                    <a:pt x="8916925" y="393573"/>
                    <a:pt x="8916925" y="535559"/>
                  </a:cubicBezTo>
                  <a:lnTo>
                    <a:pt x="8916925" y="6410833"/>
                  </a:lnTo>
                  <a:cubicBezTo>
                    <a:pt x="8916925" y="6552946"/>
                    <a:pt x="8862314" y="6689090"/>
                    <a:pt x="8765287" y="6789547"/>
                  </a:cubicBezTo>
                  <a:cubicBezTo>
                    <a:pt x="8668258" y="6890004"/>
                    <a:pt x="8536432" y="6946392"/>
                    <a:pt x="8399018" y="6946392"/>
                  </a:cubicBezTo>
                  <a:lnTo>
                    <a:pt x="517906" y="6946392"/>
                  </a:lnTo>
                  <a:cubicBezTo>
                    <a:pt x="231902" y="6946519"/>
                    <a:pt x="0" y="6706743"/>
                    <a:pt x="0" y="6410833"/>
                  </a:cubicBezTo>
                  <a:lnTo>
                    <a:pt x="0" y="535686"/>
                  </a:lnTo>
                  <a:cubicBezTo>
                    <a:pt x="0" y="239776"/>
                    <a:pt x="231902" y="0"/>
                    <a:pt x="517906" y="0"/>
                  </a:cubicBezTo>
                  <a:close/>
                </a:path>
              </a:pathLst>
            </a:custGeom>
            <a:blipFill>
              <a:blip r:embed="rId4"/>
              <a:stretch>
                <a:fillRect l="-8427" r="-8427" b="-1"/>
              </a:stretch>
            </a:blipFill>
            <a:ln w="142875" cap="sq">
              <a:solidFill>
                <a:srgbClr val="E6DFD7"/>
              </a:solidFill>
              <a:prstDash val="solid"/>
              <a:miter/>
            </a:ln>
          </p:spPr>
        </p:sp>
      </p:grpSp>
      <p:sp>
        <p:nvSpPr>
          <p:cNvPr id="8" name="Freeform 8"/>
          <p:cNvSpPr/>
          <p:nvPr/>
        </p:nvSpPr>
        <p:spPr>
          <a:xfrm>
            <a:off x="10099691" y="5043573"/>
            <a:ext cx="563042" cy="563042"/>
          </a:xfrm>
          <a:custGeom>
            <a:avLst/>
            <a:gdLst/>
            <a:ahLst/>
            <a:cxnLst/>
            <a:rect l="l" t="t" r="r" b="b"/>
            <a:pathLst>
              <a:path w="563042" h="563042">
                <a:moveTo>
                  <a:pt x="0" y="0"/>
                </a:moveTo>
                <a:lnTo>
                  <a:pt x="563042" y="0"/>
                </a:lnTo>
                <a:lnTo>
                  <a:pt x="563042" y="563042"/>
                </a:lnTo>
                <a:lnTo>
                  <a:pt x="0" y="56304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0099691" y="6263326"/>
            <a:ext cx="563042" cy="563042"/>
          </a:xfrm>
          <a:custGeom>
            <a:avLst/>
            <a:gdLst/>
            <a:ahLst/>
            <a:cxnLst/>
            <a:rect l="l" t="t" r="r" b="b"/>
            <a:pathLst>
              <a:path w="563042" h="563042">
                <a:moveTo>
                  <a:pt x="0" y="0"/>
                </a:moveTo>
                <a:lnTo>
                  <a:pt x="563042" y="0"/>
                </a:lnTo>
                <a:lnTo>
                  <a:pt x="563042" y="563041"/>
                </a:lnTo>
                <a:lnTo>
                  <a:pt x="0" y="5630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0099691" y="7560002"/>
            <a:ext cx="563042" cy="563042"/>
          </a:xfrm>
          <a:custGeom>
            <a:avLst/>
            <a:gdLst/>
            <a:ahLst/>
            <a:cxnLst/>
            <a:rect l="l" t="t" r="r" b="b"/>
            <a:pathLst>
              <a:path w="563042" h="563042">
                <a:moveTo>
                  <a:pt x="0" y="0"/>
                </a:moveTo>
                <a:lnTo>
                  <a:pt x="563042" y="0"/>
                </a:lnTo>
                <a:lnTo>
                  <a:pt x="563042" y="563042"/>
                </a:lnTo>
                <a:lnTo>
                  <a:pt x="0" y="56304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-111490" y="-390735"/>
            <a:ext cx="633489" cy="10800531"/>
          </a:xfrm>
          <a:custGeom>
            <a:avLst/>
            <a:gdLst/>
            <a:ahLst/>
            <a:cxnLst/>
            <a:rect l="l" t="t" r="r" b="b"/>
            <a:pathLst>
              <a:path w="633489" h="10800531">
                <a:moveTo>
                  <a:pt x="0" y="0"/>
                </a:moveTo>
                <a:lnTo>
                  <a:pt x="633489" y="0"/>
                </a:lnTo>
                <a:lnTo>
                  <a:pt x="633489" y="10800531"/>
                </a:lnTo>
                <a:lnTo>
                  <a:pt x="0" y="1080053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5289206" y="8606380"/>
            <a:ext cx="1970094" cy="651920"/>
          </a:xfrm>
          <a:custGeom>
            <a:avLst/>
            <a:gdLst/>
            <a:ahLst/>
            <a:cxnLst/>
            <a:rect l="l" t="t" r="r" b="b"/>
            <a:pathLst>
              <a:path w="1970094" h="651920">
                <a:moveTo>
                  <a:pt x="0" y="0"/>
                </a:moveTo>
                <a:lnTo>
                  <a:pt x="1970094" y="0"/>
                </a:lnTo>
                <a:lnTo>
                  <a:pt x="1970094" y="651920"/>
                </a:lnTo>
                <a:lnTo>
                  <a:pt x="0" y="65192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t="-1095" b="-1097"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15673902" y="-1231840"/>
            <a:ext cx="8599465" cy="8229600"/>
            <a:chOff x="0" y="0"/>
            <a:chExt cx="11465954" cy="1097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1465941" cy="10972800"/>
            </a:xfrm>
            <a:custGeom>
              <a:avLst/>
              <a:gdLst/>
              <a:ahLst/>
              <a:cxnLst/>
              <a:rect l="l" t="t" r="r" b="b"/>
              <a:pathLst>
                <a:path w="11465941" h="10972800">
                  <a:moveTo>
                    <a:pt x="0" y="0"/>
                  </a:moveTo>
                  <a:lnTo>
                    <a:pt x="11465941" y="0"/>
                  </a:lnTo>
                  <a:lnTo>
                    <a:pt x="11465941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</p:sp>
      </p:grpSp>
      <p:sp>
        <p:nvSpPr>
          <p:cNvPr id="15" name="TextBox 15"/>
          <p:cNvSpPr txBox="1"/>
          <p:nvPr/>
        </p:nvSpPr>
        <p:spPr>
          <a:xfrm>
            <a:off x="10099691" y="2039836"/>
            <a:ext cx="6474990" cy="2001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1">
                <a:solidFill>
                  <a:srgbClr val="5B2C36"/>
                </a:solidFill>
                <a:latin typeface="Agrandir Bold"/>
                <a:ea typeface="Agrandir Bold"/>
                <a:cs typeface="Agrandir Bold"/>
                <a:sym typeface="Agrandir Bold"/>
              </a:rPr>
              <a:t>Business Strategy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893590" y="4829156"/>
            <a:ext cx="4110657" cy="7872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Strategic online campaigns to reach wider audiences.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893590" y="6048918"/>
            <a:ext cx="4551712" cy="7872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Collaborations with luxury retailers and lifestyle brands.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893590" y="7345585"/>
            <a:ext cx="4551712" cy="7872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Bespoke fragrance creation for niche markets.</a:t>
            </a:r>
          </a:p>
        </p:txBody>
      </p:sp>
    </p:spTree>
  </p:cSld>
  <p:clrMapOvr>
    <a:masterClrMapping/>
  </p:clrMapOvr>
  <p:transition spd="slow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 flipV="1"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13716000"/>
                  </a:moveTo>
                  <a:lnTo>
                    <a:pt x="24384000" y="13716000"/>
                  </a:lnTo>
                  <a:lnTo>
                    <a:pt x="24384000" y="0"/>
                  </a:lnTo>
                  <a:lnTo>
                    <a:pt x="0" y="0"/>
                  </a:lnTo>
                  <a:lnTo>
                    <a:pt x="0" y="13716000"/>
                  </a:lnTo>
                  <a:close/>
                </a:path>
              </a:pathLst>
            </a:custGeom>
            <a:blipFill>
              <a:blip r:embed="rId2"/>
              <a:stretch>
                <a:fillRect l="-183" r="-183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7854100" cy="11351077"/>
            <a:chOff x="0" y="0"/>
            <a:chExt cx="10472134" cy="1513476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472210" cy="15134796"/>
            </a:xfrm>
            <a:custGeom>
              <a:avLst/>
              <a:gdLst/>
              <a:ahLst/>
              <a:cxnLst/>
              <a:rect l="l" t="t" r="r" b="b"/>
              <a:pathLst>
                <a:path w="10472210" h="15134796">
                  <a:moveTo>
                    <a:pt x="559699" y="0"/>
                  </a:moveTo>
                  <a:lnTo>
                    <a:pt x="9912520" y="0"/>
                  </a:lnTo>
                  <a:cubicBezTo>
                    <a:pt x="10060980" y="0"/>
                    <a:pt x="10203349" y="82800"/>
                    <a:pt x="10308318" y="230286"/>
                  </a:cubicBezTo>
                  <a:cubicBezTo>
                    <a:pt x="10413288" y="377773"/>
                    <a:pt x="10472210" y="577806"/>
                    <a:pt x="10472210" y="786397"/>
                  </a:cubicBezTo>
                  <a:lnTo>
                    <a:pt x="10472210" y="14348413"/>
                  </a:lnTo>
                  <a:cubicBezTo>
                    <a:pt x="10472210" y="14557003"/>
                    <a:pt x="10413288" y="14757037"/>
                    <a:pt x="10308318" y="14904523"/>
                  </a:cubicBezTo>
                  <a:cubicBezTo>
                    <a:pt x="10203349" y="15052010"/>
                    <a:pt x="10060980" y="15134796"/>
                    <a:pt x="9912520" y="15134796"/>
                  </a:cubicBezTo>
                  <a:lnTo>
                    <a:pt x="559699" y="15134796"/>
                  </a:lnTo>
                  <a:cubicBezTo>
                    <a:pt x="411239" y="15134796"/>
                    <a:pt x="268871" y="15052010"/>
                    <a:pt x="163901" y="14904523"/>
                  </a:cubicBezTo>
                  <a:cubicBezTo>
                    <a:pt x="58931" y="14757037"/>
                    <a:pt x="0" y="14557003"/>
                    <a:pt x="0" y="14348413"/>
                  </a:cubicBezTo>
                  <a:lnTo>
                    <a:pt x="0" y="786397"/>
                  </a:lnTo>
                  <a:cubicBezTo>
                    <a:pt x="0" y="577806"/>
                    <a:pt x="58931" y="377773"/>
                    <a:pt x="163901" y="230286"/>
                  </a:cubicBezTo>
                  <a:cubicBezTo>
                    <a:pt x="268871" y="82800"/>
                    <a:pt x="411239" y="0"/>
                    <a:pt x="559699" y="0"/>
                  </a:cubicBezTo>
                  <a:close/>
                </a:path>
              </a:pathLst>
            </a:custGeom>
            <a:blipFill>
              <a:blip r:embed="rId3"/>
              <a:stretch>
                <a:fillRect l="-7809" r="-7809"/>
              </a:stretch>
            </a:blipFill>
          </p:spPr>
        </p:sp>
      </p:grpSp>
      <p:sp>
        <p:nvSpPr>
          <p:cNvPr id="6" name="Freeform 6"/>
          <p:cNvSpPr/>
          <p:nvPr/>
        </p:nvSpPr>
        <p:spPr>
          <a:xfrm>
            <a:off x="9825047" y="5849922"/>
            <a:ext cx="644881" cy="644881"/>
          </a:xfrm>
          <a:custGeom>
            <a:avLst/>
            <a:gdLst/>
            <a:ahLst/>
            <a:cxnLst/>
            <a:rect l="l" t="t" r="r" b="b"/>
            <a:pathLst>
              <a:path w="644881" h="644881">
                <a:moveTo>
                  <a:pt x="0" y="0"/>
                </a:moveTo>
                <a:lnTo>
                  <a:pt x="644881" y="0"/>
                </a:lnTo>
                <a:lnTo>
                  <a:pt x="644881" y="644880"/>
                </a:lnTo>
                <a:lnTo>
                  <a:pt x="0" y="6448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992249" y="6017123"/>
            <a:ext cx="310477" cy="310477"/>
          </a:xfrm>
          <a:custGeom>
            <a:avLst/>
            <a:gdLst/>
            <a:ahLst/>
            <a:cxnLst/>
            <a:rect l="l" t="t" r="r" b="b"/>
            <a:pathLst>
              <a:path w="310477" h="310477">
                <a:moveTo>
                  <a:pt x="0" y="0"/>
                </a:moveTo>
                <a:lnTo>
                  <a:pt x="310477" y="0"/>
                </a:lnTo>
                <a:lnTo>
                  <a:pt x="310477" y="310477"/>
                </a:lnTo>
                <a:lnTo>
                  <a:pt x="0" y="3104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111490" y="-390735"/>
            <a:ext cx="633489" cy="10800531"/>
          </a:xfrm>
          <a:custGeom>
            <a:avLst/>
            <a:gdLst/>
            <a:ahLst/>
            <a:cxnLst/>
            <a:rect l="l" t="t" r="r" b="b"/>
            <a:pathLst>
              <a:path w="633489" h="10800531">
                <a:moveTo>
                  <a:pt x="0" y="0"/>
                </a:moveTo>
                <a:lnTo>
                  <a:pt x="633489" y="0"/>
                </a:lnTo>
                <a:lnTo>
                  <a:pt x="633489" y="10800531"/>
                </a:lnTo>
                <a:lnTo>
                  <a:pt x="0" y="1080053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4265059" y="8929105"/>
            <a:ext cx="1989649" cy="658390"/>
          </a:xfrm>
          <a:custGeom>
            <a:avLst/>
            <a:gdLst/>
            <a:ahLst/>
            <a:cxnLst/>
            <a:rect l="l" t="t" r="r" b="b"/>
            <a:pathLst>
              <a:path w="1989649" h="658390">
                <a:moveTo>
                  <a:pt x="0" y="0"/>
                </a:moveTo>
                <a:lnTo>
                  <a:pt x="1989649" y="0"/>
                </a:lnTo>
                <a:lnTo>
                  <a:pt x="1989649" y="658390"/>
                </a:lnTo>
                <a:lnTo>
                  <a:pt x="0" y="65839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t="-1095" b="-1097"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13039877" y="1630951"/>
            <a:ext cx="6766703" cy="9082821"/>
            <a:chOff x="0" y="0"/>
            <a:chExt cx="9022270" cy="1211042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022207" cy="12110466"/>
            </a:xfrm>
            <a:custGeom>
              <a:avLst/>
              <a:gdLst/>
              <a:ahLst/>
              <a:cxnLst/>
              <a:rect l="l" t="t" r="r" b="b"/>
              <a:pathLst>
                <a:path w="9022207" h="12110466">
                  <a:moveTo>
                    <a:pt x="0" y="0"/>
                  </a:moveTo>
                  <a:lnTo>
                    <a:pt x="9022207" y="0"/>
                  </a:lnTo>
                  <a:lnTo>
                    <a:pt x="9022207" y="12110466"/>
                  </a:lnTo>
                  <a:lnTo>
                    <a:pt x="0" y="121104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-44" r="-44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9825047" y="6580527"/>
            <a:ext cx="6429661" cy="1844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Our strength lies in combining innovative scent design with ethical production practices. Ingoude Company bridges the gap between creativity and sustainability, setting new standards for authenticity and environmental responsibility.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825047" y="1747799"/>
            <a:ext cx="6337040" cy="2001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1">
                <a:solidFill>
                  <a:srgbClr val="5B2C36"/>
                </a:solidFill>
                <a:latin typeface="Agrandir Bold"/>
                <a:ea typeface="Agrandir Bold"/>
                <a:cs typeface="Agrandir Bold"/>
                <a:sym typeface="Agrandir Bold"/>
              </a:rPr>
              <a:t>Competitive Advantage</a:t>
            </a:r>
          </a:p>
        </p:txBody>
      </p:sp>
    </p:spTree>
  </p:cSld>
  <p:clrMapOvr>
    <a:masterClrMapping/>
  </p:clrMapOvr>
  <p:transition spd="slow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 flipV="1"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13716000"/>
                  </a:moveTo>
                  <a:lnTo>
                    <a:pt x="24384000" y="13716000"/>
                  </a:lnTo>
                  <a:lnTo>
                    <a:pt x="24384000" y="0"/>
                  </a:lnTo>
                  <a:lnTo>
                    <a:pt x="0" y="0"/>
                  </a:lnTo>
                  <a:lnTo>
                    <a:pt x="0" y="13716000"/>
                  </a:lnTo>
                  <a:close/>
                </a:path>
              </a:pathLst>
            </a:custGeom>
            <a:blipFill>
              <a:blip r:embed="rId2"/>
              <a:stretch>
                <a:fillRect l="-183" r="-183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342101" y="4801610"/>
            <a:ext cx="5338143" cy="3315310"/>
            <a:chOff x="0" y="0"/>
            <a:chExt cx="7117524" cy="442041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117588" cy="4420489"/>
            </a:xfrm>
            <a:custGeom>
              <a:avLst/>
              <a:gdLst/>
              <a:ahLst/>
              <a:cxnLst/>
              <a:rect l="l" t="t" r="r" b="b"/>
              <a:pathLst>
                <a:path w="7117588" h="4420489">
                  <a:moveTo>
                    <a:pt x="775843" y="0"/>
                  </a:moveTo>
                  <a:lnTo>
                    <a:pt x="6341745" y="0"/>
                  </a:lnTo>
                  <a:cubicBezTo>
                    <a:pt x="6547485" y="0"/>
                    <a:pt x="6744843" y="81788"/>
                    <a:pt x="6890385" y="227203"/>
                  </a:cubicBezTo>
                  <a:cubicBezTo>
                    <a:pt x="7035927" y="372618"/>
                    <a:pt x="7117588" y="569976"/>
                    <a:pt x="7117588" y="775843"/>
                  </a:cubicBezTo>
                  <a:lnTo>
                    <a:pt x="7117588" y="3644646"/>
                  </a:lnTo>
                  <a:cubicBezTo>
                    <a:pt x="7117588" y="3850386"/>
                    <a:pt x="7035800" y="4047744"/>
                    <a:pt x="6890385" y="4193286"/>
                  </a:cubicBezTo>
                  <a:cubicBezTo>
                    <a:pt x="6744970" y="4338828"/>
                    <a:pt x="6547612" y="4420489"/>
                    <a:pt x="6341745" y="4420489"/>
                  </a:cubicBezTo>
                  <a:lnTo>
                    <a:pt x="775843" y="4420489"/>
                  </a:lnTo>
                  <a:cubicBezTo>
                    <a:pt x="570103" y="4420489"/>
                    <a:pt x="372745" y="4338701"/>
                    <a:pt x="227203" y="4193286"/>
                  </a:cubicBezTo>
                  <a:cubicBezTo>
                    <a:pt x="81661" y="4047871"/>
                    <a:pt x="0" y="3850386"/>
                    <a:pt x="0" y="3644646"/>
                  </a:cubicBezTo>
                  <a:lnTo>
                    <a:pt x="0" y="775843"/>
                  </a:lnTo>
                  <a:cubicBezTo>
                    <a:pt x="0" y="570103"/>
                    <a:pt x="81788" y="372745"/>
                    <a:pt x="227203" y="227203"/>
                  </a:cubicBezTo>
                  <a:cubicBezTo>
                    <a:pt x="372618" y="81661"/>
                    <a:pt x="570103" y="0"/>
                    <a:pt x="775843" y="0"/>
                  </a:cubicBezTo>
                  <a:close/>
                </a:path>
              </a:pathLst>
            </a:custGeom>
            <a:blipFill>
              <a:blip r:embed="rId3"/>
              <a:stretch>
                <a:fillRect t="-3723" b="-3721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8752322" y="-239659"/>
            <a:ext cx="8212388" cy="4469768"/>
            <a:chOff x="0" y="0"/>
            <a:chExt cx="10949851" cy="595969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949940" cy="5959729"/>
            </a:xfrm>
            <a:custGeom>
              <a:avLst/>
              <a:gdLst/>
              <a:ahLst/>
              <a:cxnLst/>
              <a:rect l="l" t="t" r="r" b="b"/>
              <a:pathLst>
                <a:path w="10949940" h="5959729">
                  <a:moveTo>
                    <a:pt x="504317" y="0"/>
                  </a:moveTo>
                  <a:lnTo>
                    <a:pt x="10445623" y="0"/>
                  </a:lnTo>
                  <a:cubicBezTo>
                    <a:pt x="10579354" y="0"/>
                    <a:pt x="10707624" y="53086"/>
                    <a:pt x="10802239" y="147701"/>
                  </a:cubicBezTo>
                  <a:cubicBezTo>
                    <a:pt x="10896854" y="242316"/>
                    <a:pt x="10949940" y="370586"/>
                    <a:pt x="10949940" y="504317"/>
                  </a:cubicBezTo>
                  <a:lnTo>
                    <a:pt x="10949940" y="5455412"/>
                  </a:lnTo>
                  <a:cubicBezTo>
                    <a:pt x="10949940" y="5589143"/>
                    <a:pt x="10896854" y="5717413"/>
                    <a:pt x="10802239" y="5812028"/>
                  </a:cubicBezTo>
                  <a:cubicBezTo>
                    <a:pt x="10707624" y="5906643"/>
                    <a:pt x="10579354" y="5959729"/>
                    <a:pt x="10445623" y="5959729"/>
                  </a:cubicBezTo>
                  <a:lnTo>
                    <a:pt x="504317" y="5959729"/>
                  </a:lnTo>
                  <a:cubicBezTo>
                    <a:pt x="370586" y="5959729"/>
                    <a:pt x="242316" y="5906643"/>
                    <a:pt x="147701" y="5812028"/>
                  </a:cubicBezTo>
                  <a:cubicBezTo>
                    <a:pt x="53086" y="5717413"/>
                    <a:pt x="0" y="5589143"/>
                    <a:pt x="0" y="5455412"/>
                  </a:cubicBezTo>
                  <a:lnTo>
                    <a:pt x="0" y="504317"/>
                  </a:lnTo>
                  <a:cubicBezTo>
                    <a:pt x="0" y="370586"/>
                    <a:pt x="53086" y="242316"/>
                    <a:pt x="147701" y="147701"/>
                  </a:cubicBezTo>
                  <a:cubicBezTo>
                    <a:pt x="242316" y="53086"/>
                    <a:pt x="370586" y="0"/>
                    <a:pt x="504317" y="0"/>
                  </a:cubicBezTo>
                  <a:close/>
                </a:path>
              </a:pathLst>
            </a:custGeom>
            <a:blipFill>
              <a:blip r:embed="rId4"/>
              <a:stretch>
                <a:fillRect t="-134" b="-134"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>
            <a:off x="7488212" y="5189391"/>
            <a:ext cx="821284" cy="830904"/>
          </a:xfrm>
          <a:custGeom>
            <a:avLst/>
            <a:gdLst/>
            <a:ahLst/>
            <a:cxnLst/>
            <a:rect l="l" t="t" r="r" b="b"/>
            <a:pathLst>
              <a:path w="821284" h="830904">
                <a:moveTo>
                  <a:pt x="0" y="0"/>
                </a:moveTo>
                <a:lnTo>
                  <a:pt x="821284" y="0"/>
                </a:lnTo>
                <a:lnTo>
                  <a:pt x="821284" y="830904"/>
                </a:lnTo>
                <a:lnTo>
                  <a:pt x="0" y="83090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7701153" y="5411953"/>
            <a:ext cx="395402" cy="395402"/>
          </a:xfrm>
          <a:custGeom>
            <a:avLst/>
            <a:gdLst/>
            <a:ahLst/>
            <a:cxnLst/>
            <a:rect l="l" t="t" r="r" b="b"/>
            <a:pathLst>
              <a:path w="395402" h="395402">
                <a:moveTo>
                  <a:pt x="0" y="0"/>
                </a:moveTo>
                <a:lnTo>
                  <a:pt x="395402" y="0"/>
                </a:lnTo>
                <a:lnTo>
                  <a:pt x="395402" y="395401"/>
                </a:lnTo>
                <a:lnTo>
                  <a:pt x="0" y="39540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2645580" y="5189391"/>
            <a:ext cx="821284" cy="830904"/>
          </a:xfrm>
          <a:custGeom>
            <a:avLst/>
            <a:gdLst/>
            <a:ahLst/>
            <a:cxnLst/>
            <a:rect l="l" t="t" r="r" b="b"/>
            <a:pathLst>
              <a:path w="821284" h="830904">
                <a:moveTo>
                  <a:pt x="0" y="0"/>
                </a:moveTo>
                <a:lnTo>
                  <a:pt x="821284" y="0"/>
                </a:lnTo>
                <a:lnTo>
                  <a:pt x="821284" y="830904"/>
                </a:lnTo>
                <a:lnTo>
                  <a:pt x="0" y="83090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2858521" y="5411953"/>
            <a:ext cx="395402" cy="395402"/>
          </a:xfrm>
          <a:custGeom>
            <a:avLst/>
            <a:gdLst/>
            <a:ahLst/>
            <a:cxnLst/>
            <a:rect l="l" t="t" r="r" b="b"/>
            <a:pathLst>
              <a:path w="395402" h="395402">
                <a:moveTo>
                  <a:pt x="0" y="0"/>
                </a:moveTo>
                <a:lnTo>
                  <a:pt x="395402" y="0"/>
                </a:lnTo>
                <a:lnTo>
                  <a:pt x="395402" y="395401"/>
                </a:lnTo>
                <a:lnTo>
                  <a:pt x="0" y="39540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7488212" y="6888775"/>
            <a:ext cx="821284" cy="830904"/>
          </a:xfrm>
          <a:custGeom>
            <a:avLst/>
            <a:gdLst/>
            <a:ahLst/>
            <a:cxnLst/>
            <a:rect l="l" t="t" r="r" b="b"/>
            <a:pathLst>
              <a:path w="821284" h="830904">
                <a:moveTo>
                  <a:pt x="0" y="0"/>
                </a:moveTo>
                <a:lnTo>
                  <a:pt x="821284" y="0"/>
                </a:lnTo>
                <a:lnTo>
                  <a:pt x="821284" y="830904"/>
                </a:lnTo>
                <a:lnTo>
                  <a:pt x="0" y="83090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7701153" y="7111346"/>
            <a:ext cx="395402" cy="395402"/>
          </a:xfrm>
          <a:custGeom>
            <a:avLst/>
            <a:gdLst/>
            <a:ahLst/>
            <a:cxnLst/>
            <a:rect l="l" t="t" r="r" b="b"/>
            <a:pathLst>
              <a:path w="395402" h="395402">
                <a:moveTo>
                  <a:pt x="0" y="0"/>
                </a:moveTo>
                <a:lnTo>
                  <a:pt x="395402" y="0"/>
                </a:lnTo>
                <a:lnTo>
                  <a:pt x="395402" y="395402"/>
                </a:lnTo>
                <a:lnTo>
                  <a:pt x="0" y="39540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2645580" y="6888775"/>
            <a:ext cx="821284" cy="830904"/>
          </a:xfrm>
          <a:custGeom>
            <a:avLst/>
            <a:gdLst/>
            <a:ahLst/>
            <a:cxnLst/>
            <a:rect l="l" t="t" r="r" b="b"/>
            <a:pathLst>
              <a:path w="821284" h="830904">
                <a:moveTo>
                  <a:pt x="0" y="0"/>
                </a:moveTo>
                <a:lnTo>
                  <a:pt x="821284" y="0"/>
                </a:lnTo>
                <a:lnTo>
                  <a:pt x="821284" y="830904"/>
                </a:lnTo>
                <a:lnTo>
                  <a:pt x="0" y="83090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2858521" y="7111346"/>
            <a:ext cx="395402" cy="395402"/>
          </a:xfrm>
          <a:custGeom>
            <a:avLst/>
            <a:gdLst/>
            <a:ahLst/>
            <a:cxnLst/>
            <a:rect l="l" t="t" r="r" b="b"/>
            <a:pathLst>
              <a:path w="395402" h="395402">
                <a:moveTo>
                  <a:pt x="0" y="0"/>
                </a:moveTo>
                <a:lnTo>
                  <a:pt x="395402" y="0"/>
                </a:lnTo>
                <a:lnTo>
                  <a:pt x="395402" y="395402"/>
                </a:lnTo>
                <a:lnTo>
                  <a:pt x="0" y="39540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-111490" y="-390735"/>
            <a:ext cx="633489" cy="10800531"/>
          </a:xfrm>
          <a:custGeom>
            <a:avLst/>
            <a:gdLst/>
            <a:ahLst/>
            <a:cxnLst/>
            <a:rect l="l" t="t" r="r" b="b"/>
            <a:pathLst>
              <a:path w="633489" h="10800531">
                <a:moveTo>
                  <a:pt x="0" y="0"/>
                </a:moveTo>
                <a:lnTo>
                  <a:pt x="633489" y="0"/>
                </a:lnTo>
                <a:lnTo>
                  <a:pt x="633489" y="10800531"/>
                </a:lnTo>
                <a:lnTo>
                  <a:pt x="0" y="1080053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028700" y="1028700"/>
            <a:ext cx="1970094" cy="651920"/>
          </a:xfrm>
          <a:custGeom>
            <a:avLst/>
            <a:gdLst/>
            <a:ahLst/>
            <a:cxnLst/>
            <a:rect l="l" t="t" r="r" b="b"/>
            <a:pathLst>
              <a:path w="1970094" h="651920">
                <a:moveTo>
                  <a:pt x="0" y="0"/>
                </a:moveTo>
                <a:lnTo>
                  <a:pt x="1970094" y="0"/>
                </a:lnTo>
                <a:lnTo>
                  <a:pt x="1970094" y="651920"/>
                </a:lnTo>
                <a:lnTo>
                  <a:pt x="0" y="65192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t="-1095" b="-1097"/>
            </a:stretch>
          </a:blipFill>
        </p:spPr>
      </p:sp>
      <p:grpSp>
        <p:nvGrpSpPr>
          <p:cNvPr id="18" name="Group 18"/>
          <p:cNvGrpSpPr/>
          <p:nvPr/>
        </p:nvGrpSpPr>
        <p:grpSpPr>
          <a:xfrm>
            <a:off x="11914489" y="7812100"/>
            <a:ext cx="7458151" cy="5836006"/>
            <a:chOff x="0" y="0"/>
            <a:chExt cx="9944202" cy="778134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944227" cy="7781290"/>
            </a:xfrm>
            <a:custGeom>
              <a:avLst/>
              <a:gdLst/>
              <a:ahLst/>
              <a:cxnLst/>
              <a:rect l="l" t="t" r="r" b="b"/>
              <a:pathLst>
                <a:path w="9944227" h="7781290">
                  <a:moveTo>
                    <a:pt x="0" y="0"/>
                  </a:moveTo>
                  <a:lnTo>
                    <a:pt x="9944227" y="0"/>
                  </a:lnTo>
                  <a:lnTo>
                    <a:pt x="9944227" y="7781290"/>
                  </a:lnTo>
                  <a:lnTo>
                    <a:pt x="0" y="77812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-9" r="-8"/>
              </a:stretch>
            </a:blipFill>
          </p:spPr>
        </p:sp>
      </p:grpSp>
      <p:sp>
        <p:nvSpPr>
          <p:cNvPr id="20" name="TextBox 20"/>
          <p:cNvSpPr txBox="1"/>
          <p:nvPr/>
        </p:nvSpPr>
        <p:spPr>
          <a:xfrm>
            <a:off x="2965494" y="2125713"/>
            <a:ext cx="4103599" cy="2001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1">
                <a:solidFill>
                  <a:srgbClr val="5B2C36"/>
                </a:solidFill>
                <a:latin typeface="Agrandir Bold"/>
                <a:ea typeface="Agrandir Bold"/>
                <a:cs typeface="Agrandir Bold"/>
                <a:sym typeface="Agrandir Bold"/>
              </a:rPr>
              <a:t>Growth Plans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529409" y="4973069"/>
            <a:ext cx="3385080" cy="1139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Launch personalized fragrance kits for global markets.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529409" y="6672453"/>
            <a:ext cx="3020073" cy="1139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Invest in advanced scent technology and R&amp;D.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686777" y="6672453"/>
            <a:ext cx="3259131" cy="1139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Build immersive consumer experiences through digital platforms.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686777" y="4973069"/>
            <a:ext cx="2837564" cy="1139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Expand into premium lifestyle collaborations.</a:t>
            </a:r>
          </a:p>
        </p:txBody>
      </p:sp>
    </p:spTree>
  </p:cSld>
  <p:clrMapOvr>
    <a:masterClrMapping/>
  </p:clrMapOvr>
  <p:transition spd="slow"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 flipV="1"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13716000"/>
                  </a:moveTo>
                  <a:lnTo>
                    <a:pt x="24384000" y="13716000"/>
                  </a:lnTo>
                  <a:lnTo>
                    <a:pt x="24384000" y="0"/>
                  </a:lnTo>
                  <a:lnTo>
                    <a:pt x="0" y="0"/>
                  </a:lnTo>
                  <a:lnTo>
                    <a:pt x="0" y="13716000"/>
                  </a:lnTo>
                  <a:close/>
                </a:path>
              </a:pathLst>
            </a:custGeom>
            <a:blipFill>
              <a:blip r:embed="rId2"/>
              <a:stretch>
                <a:fillRect l="-183" r="-183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9546793" y="1252366"/>
            <a:ext cx="7321601" cy="7514330"/>
            <a:chOff x="0" y="0"/>
            <a:chExt cx="9762134" cy="1001910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762109" cy="10019157"/>
            </a:xfrm>
            <a:custGeom>
              <a:avLst/>
              <a:gdLst/>
              <a:ahLst/>
              <a:cxnLst/>
              <a:rect l="l" t="t" r="r" b="b"/>
              <a:pathLst>
                <a:path w="9762109" h="10019157">
                  <a:moveTo>
                    <a:pt x="482473" y="0"/>
                  </a:moveTo>
                  <a:lnTo>
                    <a:pt x="9279636" y="0"/>
                  </a:lnTo>
                  <a:cubicBezTo>
                    <a:pt x="9546082" y="0"/>
                    <a:pt x="9762109" y="216027"/>
                    <a:pt x="9762109" y="482473"/>
                  </a:cubicBezTo>
                  <a:lnTo>
                    <a:pt x="9762109" y="9536557"/>
                  </a:lnTo>
                  <a:cubicBezTo>
                    <a:pt x="9762109" y="9664573"/>
                    <a:pt x="9711309" y="9787255"/>
                    <a:pt x="9620758" y="9877806"/>
                  </a:cubicBezTo>
                  <a:cubicBezTo>
                    <a:pt x="9530207" y="9968357"/>
                    <a:pt x="9407525" y="10019157"/>
                    <a:pt x="9279509" y="10019157"/>
                  </a:cubicBezTo>
                  <a:lnTo>
                    <a:pt x="482473" y="10019157"/>
                  </a:lnTo>
                  <a:cubicBezTo>
                    <a:pt x="354457" y="10019157"/>
                    <a:pt x="231775" y="9968357"/>
                    <a:pt x="141224" y="9877806"/>
                  </a:cubicBezTo>
                  <a:cubicBezTo>
                    <a:pt x="50673" y="9787255"/>
                    <a:pt x="0" y="9664573"/>
                    <a:pt x="0" y="9536557"/>
                  </a:cubicBezTo>
                  <a:lnTo>
                    <a:pt x="0" y="482473"/>
                  </a:lnTo>
                  <a:cubicBezTo>
                    <a:pt x="0" y="216027"/>
                    <a:pt x="216027" y="0"/>
                    <a:pt x="482473" y="0"/>
                  </a:cubicBezTo>
                  <a:close/>
                </a:path>
              </a:pathLst>
            </a:custGeom>
            <a:blipFill>
              <a:blip r:embed="rId3"/>
              <a:stretch>
                <a:fillRect t="-31085" b="-31084"/>
              </a:stretch>
            </a:blipFill>
          </p:spPr>
        </p:sp>
      </p:grpSp>
      <p:sp>
        <p:nvSpPr>
          <p:cNvPr id="6" name="Freeform 6"/>
          <p:cNvSpPr/>
          <p:nvPr/>
        </p:nvSpPr>
        <p:spPr>
          <a:xfrm>
            <a:off x="-111490" y="-390735"/>
            <a:ext cx="633489" cy="10800531"/>
          </a:xfrm>
          <a:custGeom>
            <a:avLst/>
            <a:gdLst/>
            <a:ahLst/>
            <a:cxnLst/>
            <a:rect l="l" t="t" r="r" b="b"/>
            <a:pathLst>
              <a:path w="633489" h="10800531">
                <a:moveTo>
                  <a:pt x="0" y="0"/>
                </a:moveTo>
                <a:lnTo>
                  <a:pt x="633489" y="0"/>
                </a:lnTo>
                <a:lnTo>
                  <a:pt x="633489" y="10800531"/>
                </a:lnTo>
                <a:lnTo>
                  <a:pt x="0" y="108005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7173906" y="1743970"/>
            <a:ext cx="1970094" cy="651920"/>
          </a:xfrm>
          <a:custGeom>
            <a:avLst/>
            <a:gdLst/>
            <a:ahLst/>
            <a:cxnLst/>
            <a:rect l="l" t="t" r="r" b="b"/>
            <a:pathLst>
              <a:path w="1970094" h="651920">
                <a:moveTo>
                  <a:pt x="0" y="0"/>
                </a:moveTo>
                <a:lnTo>
                  <a:pt x="1970094" y="0"/>
                </a:lnTo>
                <a:lnTo>
                  <a:pt x="1970094" y="651920"/>
                </a:lnTo>
                <a:lnTo>
                  <a:pt x="0" y="65192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t="-1095" b="-1097"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5116279" y="2443824"/>
            <a:ext cx="2839212" cy="8229600"/>
            <a:chOff x="0" y="0"/>
            <a:chExt cx="3785616" cy="1097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785616" cy="10972800"/>
            </a:xfrm>
            <a:custGeom>
              <a:avLst/>
              <a:gdLst/>
              <a:ahLst/>
              <a:cxnLst/>
              <a:rect l="l" t="t" r="r" b="b"/>
              <a:pathLst>
                <a:path w="3785616" h="10972800">
                  <a:moveTo>
                    <a:pt x="0" y="0"/>
                  </a:moveTo>
                  <a:lnTo>
                    <a:pt x="3785616" y="0"/>
                  </a:lnTo>
                  <a:lnTo>
                    <a:pt x="3785616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13" r="-113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2127171" y="5426735"/>
            <a:ext cx="6362290" cy="2197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endParaRPr/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Velvet Petals aims to bring elegance, freshness, and confidence through unique perfumes. With quality products, stylish packaging, and customer satisfaction, our brand is growing towards a successful future.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127171" y="2901582"/>
            <a:ext cx="6725860" cy="2001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1">
                <a:solidFill>
                  <a:srgbClr val="5B2C36"/>
                </a:solidFill>
                <a:latin typeface="Agrandir Bold"/>
                <a:ea typeface="Agrandir Bold"/>
                <a:cs typeface="Agrandir Bold"/>
                <a:sym typeface="Agrandir Bold"/>
              </a:rPr>
              <a:t>Final Statement</a:t>
            </a:r>
          </a:p>
        </p:txBody>
      </p:sp>
    </p:spTree>
  </p:cSld>
  <p:clrMapOvr>
    <a:masterClrMapping/>
  </p:clrMapOvr>
  <p:transition spd="slow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21999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 flipV="1"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13716000"/>
                  </a:moveTo>
                  <a:lnTo>
                    <a:pt x="24384000" y="13716000"/>
                  </a:lnTo>
                  <a:lnTo>
                    <a:pt x="24384000" y="0"/>
                  </a:lnTo>
                  <a:lnTo>
                    <a:pt x="0" y="0"/>
                  </a:lnTo>
                  <a:lnTo>
                    <a:pt x="0" y="13716000"/>
                  </a:lnTo>
                  <a:close/>
                </a:path>
              </a:pathLst>
            </a:custGeom>
            <a:blipFill>
              <a:blip r:embed="rId2"/>
              <a:stretch>
                <a:fillRect l="-183" r="-183"/>
              </a:stretch>
            </a:blipFill>
          </p:spPr>
        </p:sp>
      </p:grpSp>
      <p:sp>
        <p:nvSpPr>
          <p:cNvPr id="6" name="Freeform 6"/>
          <p:cNvSpPr/>
          <p:nvPr/>
        </p:nvSpPr>
        <p:spPr>
          <a:xfrm>
            <a:off x="-111490" y="-390735"/>
            <a:ext cx="633489" cy="10800531"/>
          </a:xfrm>
          <a:custGeom>
            <a:avLst/>
            <a:gdLst/>
            <a:ahLst/>
            <a:cxnLst/>
            <a:rect l="l" t="t" r="r" b="b"/>
            <a:pathLst>
              <a:path w="633489" h="10800531">
                <a:moveTo>
                  <a:pt x="0" y="0"/>
                </a:moveTo>
                <a:lnTo>
                  <a:pt x="633489" y="0"/>
                </a:lnTo>
                <a:lnTo>
                  <a:pt x="633489" y="10800531"/>
                </a:lnTo>
                <a:lnTo>
                  <a:pt x="0" y="108005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8491462" y="8801100"/>
            <a:ext cx="1970094" cy="651920"/>
          </a:xfrm>
          <a:custGeom>
            <a:avLst/>
            <a:gdLst/>
            <a:ahLst/>
            <a:cxnLst/>
            <a:rect l="l" t="t" r="r" b="b"/>
            <a:pathLst>
              <a:path w="1970094" h="651920">
                <a:moveTo>
                  <a:pt x="0" y="0"/>
                </a:moveTo>
                <a:lnTo>
                  <a:pt x="1970094" y="0"/>
                </a:lnTo>
                <a:lnTo>
                  <a:pt x="1970094" y="651920"/>
                </a:lnTo>
                <a:lnTo>
                  <a:pt x="0" y="6519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1095" b="-1097"/>
            </a:stretch>
          </a:blipFill>
        </p:spPr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F1A463-C20A-4E86-8F25-8AAE2C6794DA}"/>
              </a:ext>
            </a:extLst>
          </p:cNvPr>
          <p:cNvSpPr txBox="1"/>
          <p:nvPr/>
        </p:nvSpPr>
        <p:spPr>
          <a:xfrm>
            <a:off x="5181600" y="3164800"/>
            <a:ext cx="10972800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500" spc="6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THANK </a:t>
            </a:r>
          </a:p>
          <a:p>
            <a:r>
              <a:rPr lang="en-IN" sz="11500" spc="6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              YOU</a:t>
            </a:r>
          </a:p>
        </p:txBody>
      </p:sp>
    </p:spTree>
    <p:extLst>
      <p:ext uri="{BB962C8B-B14F-4D97-AF65-F5344CB8AC3E}">
        <p14:creationId xmlns:p14="http://schemas.microsoft.com/office/powerpoint/2010/main" val="3865142654"/>
      </p:ext>
    </p:extLst>
  </p:cSld>
  <p:clrMapOvr>
    <a:masterClrMapping/>
  </p:clrMapOvr>
  <p:transition spd="slow">
    <p:wipe dir="r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329</Words>
  <Application>Microsoft Office PowerPoint</Application>
  <PresentationFormat>Custom</PresentationFormat>
  <Paragraphs>41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Poppins</vt:lpstr>
      <vt:lpstr>Calibri</vt:lpstr>
      <vt:lpstr>Arial</vt:lpstr>
      <vt:lpstr>Agrandir Bold</vt:lpstr>
      <vt:lpstr>Algerian</vt:lpstr>
      <vt:lpstr>Poppins Italics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Chanel new perfume PowerPoint</dc:title>
  <dc:creator>LENOVO</dc:creator>
  <cp:lastModifiedBy>LENOVO</cp:lastModifiedBy>
  <cp:revision>4</cp:revision>
  <dcterms:created xsi:type="dcterms:W3CDTF">2006-08-16T00:00:00Z</dcterms:created>
  <dcterms:modified xsi:type="dcterms:W3CDTF">2026-05-28T10:22:38Z</dcterms:modified>
  <dc:identifier>DAHKpWTDibM</dc:identifier>
</cp:coreProperties>
</file>