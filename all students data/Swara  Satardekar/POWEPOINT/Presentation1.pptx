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874E6-E905-4187-A095-31453592D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BFBEB-D86B-4C09-9AED-86CE68811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3D80D-6CEF-4456-9F3A-299DF511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7B70E-4369-48B1-8094-23FDAE0A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6BF88-817C-456A-8B4B-AA03E0C3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11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76B8-1AAF-4861-A898-FA0EEF52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10DD9-A257-4223-9DCD-ED3FD5D6E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DF2D-128E-4DB6-9636-53168B33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C9C94-D1E6-4B2D-90D2-6F8404A2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3EDD7-4AB8-4088-B771-A04E35A7C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54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E69F-52E7-41B2-A10B-71C79BCB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013F0-9D8B-4558-8D12-4798258F1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86BE2-A9B4-4F62-99BD-DFFA9F0D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C4D93-C9DF-4A88-BBD3-D9FE8181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73849-C4E8-462E-8BF6-6B86FC47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17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C519B-BC23-4E1C-8595-B29F666B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94D7-90BD-44BC-9520-4A851F99C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9FDB6-7605-4E92-9DBC-AF7BC03DA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B25B3-1CC9-4466-A878-2939652B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1B050-5C08-4D9F-845C-AA3348CA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AB6C0-E7AC-4387-AC3E-0AA45D4A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781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2B0B-CA29-4CA9-BDD6-E09C0508D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0FE59-3372-4BC7-9EF2-91298E54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714AA-C6F5-4FEE-BA8D-F0B259A90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89032-DDFA-4EF5-A606-4CCC688DE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5CB0F-20F1-41E5-A49C-498B865DA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746755-0494-45BE-AABE-ACF8DCAD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DD38E1-9483-4DE3-8AC0-7526BCEB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D2472-9AC6-469D-A8BA-0F8985EF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87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55AC-92C8-4A0A-AE0C-9387899A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570AE0-B3FC-42AE-8024-3E76B9E0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61ABC-08E7-4A54-A627-60686FC6E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F6A43-6E47-4BE5-8646-74798AF8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04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4262B0-8E1A-4EBF-9803-66572B34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3466B-70B4-4C8F-8ADC-4FA3024E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BEBEA-3329-44F7-8823-B28FA1DA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60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D927-4363-4A34-9C1C-EB649E4A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FDB22-7013-4BBC-B343-D14416ED1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3FEF9-A5F0-4CE3-B67C-71D57E2C6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17B99-6123-49FB-81EB-59236124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30E08-64F1-4D40-B0A2-8DA54CFA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A5079-0595-47C1-86E6-B404E0F9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86C4A-3FE3-4CB0-B90A-DDA8010F7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8A8B28-4689-4A29-97C5-D17E1E66D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DC700-411A-40C3-BB22-8C5CEDAF9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3E8F7-B207-463E-82A6-639215C2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F7B88-2C4A-4028-A059-3A971407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A8BD1-EEFD-4333-93AD-F42C8AEBE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77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5F4-7CB8-4A20-A328-29B340926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0414F-FF28-40A5-BB35-63C7A8084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037BF-3139-4E2D-A769-B20186B47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D592E-F731-40B1-BDAB-949BC0D1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1E17-A162-44E8-823C-BE6CC161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453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4EB8B-96B9-4F21-9850-526B3A252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71064-D4AE-4082-8855-A92F8570F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9F654-A8D9-4D86-B7EF-9D4C2E80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48063-C69A-4968-9BE2-39080A9E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42B89-3414-4373-A18B-5CAAB3F3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04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CAC89-4677-4E5F-8E4F-2B4444B95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CDB33-9DF4-4CEC-AA76-D2EF5505C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D8725-4FF9-4A06-B9F4-D21C95089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1A4BA-4D1B-4F6D-BFA4-792554C1ACE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A4656-437E-4C8C-AADE-5962FA694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E3D4E-3B45-405A-9578-02A6B5F7D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B4715-10CC-4DDD-B244-FA8A579D7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567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8C8428-8707-4EDF-918F-297C1AF5D3F9}"/>
              </a:ext>
            </a:extLst>
          </p:cNvPr>
          <p:cNvSpPr txBox="1"/>
          <p:nvPr/>
        </p:nvSpPr>
        <p:spPr>
          <a:xfrm>
            <a:off x="1000125" y="428625"/>
            <a:ext cx="10344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Bahnschrift Condensed" panose="020B0502040204020203" pitchFamily="34" charset="0"/>
              </a:rPr>
              <a:t>SESSION # 01 MS- CIT ( </a:t>
            </a:r>
            <a:r>
              <a:rPr lang="en-I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Condensed" panose="020B0502040204020203" pitchFamily="34" charset="0"/>
              </a:rPr>
              <a:t>Basic Computer And Smartphone Skills 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2D8A3-F874-4AF7-9EF8-C4A7F64791CD}"/>
              </a:ext>
            </a:extLst>
          </p:cNvPr>
          <p:cNvSpPr txBox="1"/>
          <p:nvPr/>
        </p:nvSpPr>
        <p:spPr>
          <a:xfrm>
            <a:off x="0" y="1457325"/>
            <a:ext cx="12192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Bahnschrift SemiBold" panose="020B0502040204020203" pitchFamily="34" charset="0"/>
              </a:rPr>
              <a:t> MS –CIT  Introduction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Bahnschrift SemiBold" panose="020B0502040204020203" pitchFamily="34" charset="0"/>
              </a:rPr>
              <a:t>Introduction to session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Bahnschrift SemiBold" panose="020B0502040204020203" pitchFamily="34" charset="0"/>
              </a:rPr>
              <a:t>Basic computer and smartphone skills ( how smartphones are changing our lives? 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Bahnschrift SemiBold" panose="020B0502040204020203" pitchFamily="34" charset="0"/>
              </a:rPr>
              <a:t>Introduction to ai tools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Bahnschrift SemiBold" panose="020B0502040204020203" pitchFamily="34" charset="0"/>
              </a:rPr>
              <a:t>Understanding MKCL’ s AI hexagon map part 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Bahnschrift SemiBold" panose="020B0502040204020203" pitchFamily="34" charset="0"/>
              </a:rPr>
              <a:t> know your computer [ sides of computer, why is it called laptop, how to handle laptop, 1</a:t>
            </a:r>
            <a:r>
              <a:rPr lang="en-IN" sz="2400" baseline="30000" dirty="0">
                <a:latin typeface="Bahnschrift SemiBold" panose="020B0502040204020203" pitchFamily="34" charset="0"/>
              </a:rPr>
              <a:t>st</a:t>
            </a:r>
            <a:r>
              <a:rPr lang="en-IN" sz="2400" dirty="0">
                <a:latin typeface="Bahnschrift SemiBold" panose="020B0502040204020203" pitchFamily="34" charset="0"/>
              </a:rPr>
              <a:t> display after opening lead of computer ]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 err="1">
                <a:latin typeface="Bahnschrift SemiBold" panose="020B0502040204020203" pitchFamily="34" charset="0"/>
              </a:rPr>
              <a:t>Chatgpt</a:t>
            </a:r>
            <a:r>
              <a:rPr lang="en-IN" sz="2400" dirty="0">
                <a:latin typeface="Bahnschrift SemiBold" panose="020B0502040204020203" pitchFamily="34" charset="0"/>
              </a:rPr>
              <a:t> { an ai chatbot developed by openai.com that answers questions, writes content ,solves problems and helps in learning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Bahnschrift SemiBold" panose="020B0502040204020203" pitchFamily="34" charset="0"/>
              </a:rPr>
              <a:t>Google lens { an ai powered tool by </a:t>
            </a:r>
            <a:r>
              <a:rPr lang="en-IN" sz="2400" dirty="0" err="1">
                <a:latin typeface="Bahnschrift SemiBold" panose="020B0502040204020203" pitchFamily="34" charset="0"/>
              </a:rPr>
              <a:t>lens.google</a:t>
            </a:r>
            <a:r>
              <a:rPr lang="en-IN" sz="2400" dirty="0">
                <a:latin typeface="Bahnschrift SemiBold" panose="020B0502040204020203" pitchFamily="34" charset="0"/>
              </a:rPr>
              <a:t> that identifies </a:t>
            </a:r>
            <a:r>
              <a:rPr lang="en-IN" sz="2400" dirty="0" err="1">
                <a:latin typeface="Bahnschrift SemiBold" panose="020B0502040204020203" pitchFamily="34" charset="0"/>
              </a:rPr>
              <a:t>objects,texts,plants</a:t>
            </a:r>
            <a:r>
              <a:rPr lang="en-IN" sz="2400" dirty="0">
                <a:latin typeface="Bahnschrift SemiBold" panose="020B0502040204020203" pitchFamily="34" charset="0"/>
              </a:rPr>
              <a:t>, places using your camera or images. It helps user to get instant information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Bahnschrift SemiBold" panose="020B0502040204020203" pitchFamily="34" charset="0"/>
              </a:rPr>
              <a:t>Microsoft window introduction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05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106F5C-8288-45C3-AA95-A62D39C5C605}"/>
              </a:ext>
            </a:extLst>
          </p:cNvPr>
          <p:cNvSpPr txBox="1"/>
          <p:nvPr/>
        </p:nvSpPr>
        <p:spPr>
          <a:xfrm>
            <a:off x="328613" y="371475"/>
            <a:ext cx="11758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Bahnschrift SemiBold" panose="020B0502040204020203" pitchFamily="34" charset="0"/>
              </a:rPr>
              <a:t>Session # 2 MS-CIT ( Basic Computer And Smartphone Skills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2B5E9B-621F-4A5E-A3CF-D473812C1F63}"/>
              </a:ext>
            </a:extLst>
          </p:cNvPr>
          <p:cNvSpPr txBox="1"/>
          <p:nvPr/>
        </p:nvSpPr>
        <p:spPr>
          <a:xfrm>
            <a:off x="0" y="1141986"/>
            <a:ext cx="11758611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3200" dirty="0">
                <a:latin typeface="Arial Black" panose="020B0A04020102020204" pitchFamily="34" charset="0"/>
              </a:rPr>
              <a:t>Introduction to the session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3200" dirty="0">
                <a:latin typeface="Arial Black" panose="020B0A04020102020204" pitchFamily="34" charset="0"/>
              </a:rPr>
              <a:t>Basic computer and smart phone skills </a:t>
            </a:r>
            <a:r>
              <a:rPr lang="en-IN" sz="3200" dirty="0">
                <a:latin typeface="Bahnschrift SemiCondensed" panose="020B0502040204020203" pitchFamily="34" charset="0"/>
              </a:rPr>
              <a:t>{ using touch </a:t>
            </a:r>
            <a:r>
              <a:rPr lang="en-IN" sz="2400" dirty="0">
                <a:latin typeface="Bahnschrift SemiCondensed" panose="020B0502040204020203" pitchFamily="34" charset="0"/>
              </a:rPr>
              <a:t>screen efficiently, configuring your smartphone, setting up and managing contacts, good internet plans for </a:t>
            </a:r>
            <a:r>
              <a:rPr lang="en-IN" sz="2400" dirty="0" err="1">
                <a:latin typeface="Bahnschrift SemiCondensed" panose="020B0502040204020203" pitchFamily="34" charset="0"/>
              </a:rPr>
              <a:t>smartphones,buying</a:t>
            </a:r>
            <a:r>
              <a:rPr lang="en-IN" sz="2400" dirty="0">
                <a:latin typeface="Bahnschrift SemiCondensed" panose="020B0502040204020203" pitchFamily="34" charset="0"/>
              </a:rPr>
              <a:t>  good internet plans for smartphone, activating internet connection for smartphone, enabling data connection and </a:t>
            </a:r>
            <a:r>
              <a:rPr lang="en-IN" sz="2400" dirty="0" err="1">
                <a:latin typeface="Bahnschrift SemiCondensed" panose="020B0502040204020203" pitchFamily="34" charset="0"/>
              </a:rPr>
              <a:t>hostspot</a:t>
            </a:r>
            <a:r>
              <a:rPr lang="en-IN" sz="2400" dirty="0">
                <a:latin typeface="Bahnschrift SemiCondensed" panose="020B0502040204020203" pitchFamily="34" charset="0"/>
              </a:rPr>
              <a:t> , enabling data connection and activating , using </a:t>
            </a:r>
            <a:r>
              <a:rPr lang="en-IN" sz="2400" dirty="0" err="1">
                <a:latin typeface="Bahnschrift SemiCondensed" panose="020B0502040204020203" pitchFamily="34" charset="0"/>
              </a:rPr>
              <a:t>wifi</a:t>
            </a:r>
            <a:r>
              <a:rPr lang="en-IN" sz="2400" dirty="0">
                <a:latin typeface="Bahnschrift SemiCondensed" panose="020B0502040204020203" pitchFamily="34" charset="0"/>
              </a:rPr>
              <a:t>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Bahnschrift SemiCondensed" panose="020B0502040204020203" pitchFamily="34" charset="0"/>
              </a:rPr>
              <a:t>Basic computer and smartphone skills { starting and logging in computer , computer accessories</a:t>
            </a:r>
          </a:p>
          <a:p>
            <a:r>
              <a:rPr lang="en-US" sz="2400" dirty="0"/>
              <a:t>he skills are practical and useful for:</a:t>
            </a:r>
          </a:p>
          <a:p>
            <a:r>
              <a:rPr lang="en-US" sz="2400" dirty="0"/>
              <a:t>Internet access </a:t>
            </a:r>
          </a:p>
          <a:p>
            <a:r>
              <a:rPr lang="en-US" sz="2400" dirty="0"/>
              <a:t>Communication </a:t>
            </a:r>
          </a:p>
          <a:p>
            <a:r>
              <a:rPr lang="en-US" sz="2400" dirty="0"/>
              <a:t>Online learning </a:t>
            </a:r>
          </a:p>
          <a:p>
            <a:r>
              <a:rPr lang="en-US" sz="2400" dirty="0"/>
              <a:t>Digital services </a:t>
            </a:r>
          </a:p>
          <a:p>
            <a:r>
              <a:rPr lang="en-US" sz="2400" dirty="0"/>
              <a:t>The content is suitable for first-time smartphone users and beginners.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400" dirty="0">
              <a:latin typeface="Bahnschrift SemiCondensed" panose="020B0502040204020203" pitchFamily="34" charset="0"/>
            </a:endParaRPr>
          </a:p>
          <a:p>
            <a:endParaRPr lang="en-IN" sz="3200" dirty="0">
              <a:latin typeface="Bahnschrift Semi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32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331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74D6A0-9D40-4B5D-85AA-64C055B1E662}"/>
              </a:ext>
            </a:extLst>
          </p:cNvPr>
          <p:cNvSpPr txBox="1"/>
          <p:nvPr/>
        </p:nvSpPr>
        <p:spPr>
          <a:xfrm>
            <a:off x="514350" y="400050"/>
            <a:ext cx="116776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Bahnschrift SemiCondensed" panose="020B0502040204020203" pitchFamily="34" charset="0"/>
              </a:rPr>
              <a:t>This section introduces learners to: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Computer hardware basics 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System usage 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Navigation and interaction with devices 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It appears designed for foundational digital literacy training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AI Tools Mentioned in the Learning Panel</a:t>
            </a:r>
          </a:p>
          <a:p>
            <a:r>
              <a:rPr lang="en-US" dirty="0"/>
              <a:t>The content viewer shows modules such as:</a:t>
            </a:r>
          </a:p>
          <a:p>
            <a:r>
              <a:rPr lang="en-US" dirty="0"/>
              <a:t>Partnering with AI: Gemini </a:t>
            </a:r>
          </a:p>
          <a:p>
            <a:r>
              <a:rPr lang="en-US" dirty="0"/>
              <a:t>Partnering with AI: </a:t>
            </a:r>
            <a:r>
              <a:rPr lang="en-US" dirty="0" err="1"/>
              <a:t>Hedra</a:t>
            </a:r>
            <a:r>
              <a:rPr lang="en-US" dirty="0"/>
              <a:t> </a:t>
            </a:r>
          </a:p>
          <a:p>
            <a:r>
              <a:rPr lang="en-US" dirty="0"/>
              <a:t>Partnering with AI: Google Flow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Bahnschrift SemiBold" panose="020B0502040204020203" pitchFamily="34" charset="0"/>
              </a:rPr>
              <a:t>The course is integrating modern AI awareness alongside computer basics.</a:t>
            </a:r>
            <a:br>
              <a:rPr lang="en-US" dirty="0">
                <a:latin typeface="Bahnschrift SemiBold" panose="020B0502040204020203" pitchFamily="34" charset="0"/>
              </a:rPr>
            </a:br>
            <a:r>
              <a:rPr lang="en-US" dirty="0"/>
              <a:t>This helps learners:</a:t>
            </a:r>
          </a:p>
          <a:p>
            <a:r>
              <a:rPr lang="en-US" dirty="0"/>
              <a:t>Understand AI-assisted tools </a:t>
            </a:r>
          </a:p>
          <a:p>
            <a:r>
              <a:rPr lang="en-US" dirty="0"/>
              <a:t>Improve productivity </a:t>
            </a:r>
          </a:p>
          <a:p>
            <a:r>
              <a:rPr lang="en-US" dirty="0"/>
              <a:t>Explore new digital technologies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Bahnschrift SemiCondensed" panose="020B0502040204020203" pitchFamily="34" charset="0"/>
            </a:endParaRPr>
          </a:p>
          <a:p>
            <a:endParaRPr lang="en-US" dirty="0">
              <a:latin typeface="Bahnschrift Semi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240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20BF21-A3A0-4A9D-AD3E-8FEE1B5C82F0}"/>
              </a:ext>
            </a:extLst>
          </p:cNvPr>
          <p:cNvSpPr txBox="1"/>
          <p:nvPr/>
        </p:nvSpPr>
        <p:spPr>
          <a:xfrm>
            <a:off x="295275" y="247650"/>
            <a:ext cx="11601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 session #3</a:t>
            </a:r>
            <a:r>
              <a:rPr lang="en-IN" sz="4000" dirty="0">
                <a:latin typeface="Bahnschrift Condensed" panose="020B0502040204020203" pitchFamily="34" charset="0"/>
              </a:rPr>
              <a:t> MS- CIT ( </a:t>
            </a:r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Condensed" panose="020B0502040204020203" pitchFamily="34" charset="0"/>
              </a:rPr>
              <a:t>Basic Computer And Smartphone Skills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Condensed" panose="020B0502040204020203" pitchFamily="34" charset="0"/>
              </a:rPr>
              <a:t>)</a:t>
            </a:r>
            <a:r>
              <a:rPr lang="en-IN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C5F722-2634-49D2-9EB8-80AEACA0732A}"/>
              </a:ext>
            </a:extLst>
          </p:cNvPr>
          <p:cNvSpPr txBox="1"/>
          <p:nvPr/>
        </p:nvSpPr>
        <p:spPr>
          <a:xfrm>
            <a:off x="571500" y="1200150"/>
            <a:ext cx="11049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 A .Basic Computer and Smartphone Skills</a:t>
            </a:r>
          </a:p>
          <a:p>
            <a:r>
              <a:rPr lang="en-US" dirty="0"/>
              <a:t>Subtopics include:</a:t>
            </a:r>
          </a:p>
          <a:p>
            <a:r>
              <a:rPr lang="en-US" dirty="0"/>
              <a:t>Managing and organizing apps </a:t>
            </a:r>
          </a:p>
          <a:p>
            <a:r>
              <a:rPr lang="en-US" dirty="0"/>
              <a:t>Backing up and restoring data </a:t>
            </a:r>
          </a:p>
          <a:p>
            <a:r>
              <a:rPr lang="en-US" dirty="0"/>
              <a:t>Transferring contacts </a:t>
            </a:r>
          </a:p>
          <a:p>
            <a:r>
              <a:rPr lang="en-US" dirty="0"/>
              <a:t>Emergency Number (ICE) setup </a:t>
            </a:r>
          </a:p>
          <a:p>
            <a:r>
              <a:rPr lang="en-US" dirty="0"/>
              <a:t>SMS organizer apps </a:t>
            </a:r>
          </a:p>
          <a:p>
            <a:r>
              <a:rPr lang="en-US" dirty="0"/>
              <a:t>Voice commands and virtual assistants</a:t>
            </a:r>
          </a:p>
          <a:p>
            <a:r>
              <a:rPr lang="en-US" b="1" dirty="0"/>
              <a:t>B. Partnering with AI</a:t>
            </a:r>
          </a:p>
          <a:p>
            <a:r>
              <a:rPr lang="en-US" dirty="0"/>
              <a:t>AI-related topics:</a:t>
            </a:r>
          </a:p>
          <a:p>
            <a:r>
              <a:rPr lang="en-US" dirty="0"/>
              <a:t>Runway ML </a:t>
            </a:r>
          </a:p>
          <a:p>
            <a:r>
              <a:rPr lang="en-US" dirty="0"/>
              <a:t>Gemini for Workspace</a:t>
            </a:r>
          </a:p>
          <a:p>
            <a:r>
              <a:rPr lang="en-US" b="1" dirty="0" err="1"/>
              <a:t>C.Smart</a:t>
            </a:r>
            <a:r>
              <a:rPr lang="en-US" b="1" dirty="0"/>
              <a:t> Typing Skills</a:t>
            </a:r>
          </a:p>
          <a:p>
            <a:r>
              <a:rPr lang="en-US" b="1" dirty="0"/>
              <a:t>D. MS Office Skills (Windows)</a:t>
            </a:r>
          </a:p>
          <a:p>
            <a:r>
              <a:rPr lang="en-US" b="1" dirty="0"/>
              <a:t>E. Knowledge Check / Tests</a:t>
            </a:r>
          </a:p>
          <a:p>
            <a:r>
              <a:rPr lang="en-US" b="1" dirty="0"/>
              <a:t>F. Homework / Session Completion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90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3B9A41-5477-46C8-BDF4-0EFB710EFF23}"/>
              </a:ext>
            </a:extLst>
          </p:cNvPr>
          <p:cNvSpPr txBox="1"/>
          <p:nvPr/>
        </p:nvSpPr>
        <p:spPr>
          <a:xfrm>
            <a:off x="742122" y="437321"/>
            <a:ext cx="114498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Bahnschrift Light SemiCondensed" panose="020B0502040204020203" pitchFamily="34" charset="0"/>
              </a:rPr>
              <a:t>session #4 MS- CIT ( </a:t>
            </a:r>
            <a:r>
              <a:rPr lang="en-IN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rPr>
              <a:t>Basic Computer And Smartphone Skills )</a:t>
            </a:r>
            <a:endParaRPr lang="en-IN" sz="4400" dirty="0">
              <a:latin typeface="Bahnschrift Light Semi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2A6E4D-7FFD-4319-95B0-1DED530B6F17}"/>
              </a:ext>
            </a:extLst>
          </p:cNvPr>
          <p:cNvSpPr txBox="1"/>
          <p:nvPr/>
        </p:nvSpPr>
        <p:spPr>
          <a:xfrm>
            <a:off x="0" y="2133600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" panose="020B0502040204020203" pitchFamily="34" charset="0"/>
              </a:rPr>
              <a:t>Learned how to create and operate a </a:t>
            </a:r>
            <a:r>
              <a:rPr lang="en-IN" dirty="0" err="1">
                <a:latin typeface="Bahnschrift SemiBold" panose="020B0502040204020203" pitchFamily="34" charset="0"/>
              </a:rPr>
              <a:t>gmail</a:t>
            </a:r>
            <a:r>
              <a:rPr lang="en-IN" dirty="0">
                <a:latin typeface="Bahnschrift SemiBold" panose="020B0502040204020203" pitchFamily="34" charset="0"/>
              </a:rPr>
              <a:t> </a:t>
            </a:r>
            <a:r>
              <a:rPr lang="en-IN" dirty="0" err="1">
                <a:latin typeface="Bahnschrift SemiBold" panose="020B0502040204020203" pitchFamily="34" charset="0"/>
              </a:rPr>
              <a:t>acc</a:t>
            </a:r>
            <a:endParaRPr lang="en-IN" dirty="0">
              <a:latin typeface="Bahnschrift SemiBold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" panose="020B0502040204020203" pitchFamily="34" charset="0"/>
              </a:rPr>
              <a:t>Understood email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" panose="020B0502040204020203" pitchFamily="34" charset="0"/>
              </a:rPr>
              <a:t>Learned voice typing for composing emails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" panose="020B0502040204020203" pitchFamily="34" charset="0"/>
              </a:rPr>
              <a:t>Studied plain text and 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" panose="020B0502040204020203" pitchFamily="34" charset="0"/>
              </a:rPr>
              <a:t>Learnt to add automatic email signature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" panose="020B0502040204020203" pitchFamily="34" charset="0"/>
              </a:rPr>
              <a:t>Learnt how to schedule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" panose="020B0502040204020203" pitchFamily="34" charset="0"/>
              </a:rPr>
              <a:t>Partnering with </a:t>
            </a:r>
            <a:r>
              <a:rPr lang="en-IN" dirty="0" err="1">
                <a:latin typeface="Bahnschrift SemiBold" panose="020B0502040204020203" pitchFamily="34" charset="0"/>
              </a:rPr>
              <a:t>suno</a:t>
            </a:r>
            <a:r>
              <a:rPr lang="en-IN" dirty="0">
                <a:latin typeface="Bahnschrift SemiBold" panose="020B0502040204020203" pitchFamily="34" charset="0"/>
              </a:rPr>
              <a:t> AI  ( AI tool used to create songs and music using text prompts)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Bahnschrift SemiBold" panose="020B0502040204020203" pitchFamily="34" charset="0"/>
              </a:rPr>
              <a:t>Partenering</a:t>
            </a:r>
            <a:r>
              <a:rPr lang="en-IN" dirty="0">
                <a:latin typeface="Bahnschrift SemiBold" panose="020B0502040204020203" pitchFamily="34" charset="0"/>
              </a:rPr>
              <a:t> with AI  merlin ( an AI  assistant used for writing , searching, summarize and productivity tasks)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Bahnschrift SemiBold" panose="020B0502040204020203" pitchFamily="34" charset="0"/>
              </a:rPr>
              <a:t>Parterning</a:t>
            </a:r>
            <a:r>
              <a:rPr lang="en-IN" dirty="0">
                <a:latin typeface="Bahnschrift SemiBold" panose="020B0502040204020203" pitchFamily="34" charset="0"/>
              </a:rPr>
              <a:t> with Leonardo AI ( AI image generation tool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" panose="020B0502040204020203" pitchFamily="34" charset="0"/>
              </a:rPr>
              <a:t> MS  office skills ( window 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59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B48102-3865-4A95-BF7B-204A31393A96}"/>
              </a:ext>
            </a:extLst>
          </p:cNvPr>
          <p:cNvSpPr txBox="1"/>
          <p:nvPr/>
        </p:nvSpPr>
        <p:spPr>
          <a:xfrm>
            <a:off x="410817" y="278296"/>
            <a:ext cx="11211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Bahnschrift" panose="020B0502040204020203" pitchFamily="34" charset="0"/>
              </a:rPr>
              <a:t>session #5 MS- CIT ( </a:t>
            </a:r>
            <a:r>
              <a:rPr lang="en-I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Basic Computer And Smartphone Skills )</a:t>
            </a:r>
            <a:endParaRPr lang="en-IN" sz="3600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D2E6F-B06C-41D8-BCC4-960CB5283A8B}"/>
              </a:ext>
            </a:extLst>
          </p:cNvPr>
          <p:cNvSpPr txBox="1"/>
          <p:nvPr/>
        </p:nvSpPr>
        <p:spPr>
          <a:xfrm>
            <a:off x="132522" y="1775791"/>
            <a:ext cx="119269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Learne</a:t>
            </a:r>
            <a:r>
              <a:rPr lang="en-IN" dirty="0"/>
              <a:t> how to send professional emails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Understood feature to mention specific </a:t>
            </a:r>
            <a:r>
              <a:rPr lang="en-IN" dirty="0" err="1"/>
              <a:t>receipents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Partrnering</a:t>
            </a:r>
            <a:r>
              <a:rPr lang="en-IN" dirty="0"/>
              <a:t> with NAPKIN AI ( ai tool that </a:t>
            </a:r>
            <a:r>
              <a:rPr lang="en-IN" dirty="0" err="1"/>
              <a:t>convertstext</a:t>
            </a:r>
            <a:r>
              <a:rPr lang="en-IN" dirty="0"/>
              <a:t> into attractive infographics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E12A85-6740-464D-BFB5-74FDB432C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628892"/>
              </p:ext>
            </p:extLst>
          </p:nvPr>
        </p:nvGraphicFramePr>
        <p:xfrm>
          <a:off x="410817" y="2842302"/>
          <a:ext cx="10929730" cy="2831528"/>
        </p:xfrm>
        <a:graphic>
          <a:graphicData uri="http://schemas.openxmlformats.org/drawingml/2006/table">
            <a:tbl>
              <a:tblPr/>
              <a:tblGrid>
                <a:gridCol w="5464865">
                  <a:extLst>
                    <a:ext uri="{9D8B030D-6E8A-4147-A177-3AD203B41FA5}">
                      <a16:colId xmlns:a16="http://schemas.microsoft.com/office/drawing/2014/main" val="2582316508"/>
                    </a:ext>
                  </a:extLst>
                </a:gridCol>
                <a:gridCol w="5464865">
                  <a:extLst>
                    <a:ext uri="{9D8B030D-6E8A-4147-A177-3AD203B41FA5}">
                      <a16:colId xmlns:a16="http://schemas.microsoft.com/office/drawing/2014/main" val="2671411584"/>
                    </a:ext>
                  </a:extLst>
                </a:gridCol>
              </a:tblGrid>
              <a:tr h="1415764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Kapwing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A collaborative, web-based video editing suite used for adding subtitles, cutting clips, and generating AI video content.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945216"/>
                  </a:ext>
                </a:extLst>
              </a:tr>
              <a:tr h="1415764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Pictory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Automatically converts long-form text content (like blogs or scripts) into highly engaging, short-form videos with AI voices and stock footage.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202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46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89ABF1-CE79-40C5-9414-E3A5C78BD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2478"/>
            <a:ext cx="1196340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3. Core Productivity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Focuses on ergonomic hand placement, touch typing techniques (typing without looking at the keyboard), and regular practice to build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Words Per Minute (WPM)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speed and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MS Office Skills (Windows)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Foundational training on navigating the Microsoft Office suite (Word, Excel, and PowerPoint) within a Windows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areas include creating documents, formatting text, managing data spreadsheets, and designing basic slideshow presentations.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632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5B4B97-F328-4CAA-996D-0F1EC6AA1B6D}"/>
              </a:ext>
            </a:extLst>
          </p:cNvPr>
          <p:cNvSpPr txBox="1"/>
          <p:nvPr/>
        </p:nvSpPr>
        <p:spPr>
          <a:xfrm>
            <a:off x="914400" y="344557"/>
            <a:ext cx="1127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Bahnschrift" panose="020B0502040204020203" pitchFamily="34" charset="0"/>
              </a:rPr>
              <a:t>session #6 MS- CIT ( </a:t>
            </a:r>
            <a:r>
              <a:rPr lang="en-I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Basic Computer And Smartphone Skills )</a:t>
            </a:r>
            <a:endParaRPr lang="en-IN" sz="3600" dirty="0">
              <a:latin typeface="Bahnschrift" panose="020B0502040204020203" pitchFamily="34" charset="0"/>
            </a:endParaRPr>
          </a:p>
          <a:p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741B3-1073-4B6D-BBC5-C1CDE657425E}"/>
              </a:ext>
            </a:extLst>
          </p:cNvPr>
          <p:cNvSpPr txBox="1"/>
          <p:nvPr/>
        </p:nvSpPr>
        <p:spPr>
          <a:xfrm>
            <a:off x="225287" y="1736035"/>
            <a:ext cx="11582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Module Overview: Digital Skills for Daily Life</a:t>
            </a:r>
          </a:p>
          <a:p>
            <a:r>
              <a:rPr lang="en-US" dirty="0"/>
              <a:t>This module covers modern mobile applications, online utility navigation, video conferencing tools, AI productivity enhancements, and digital health tools.</a:t>
            </a:r>
          </a:p>
          <a:p>
            <a:r>
              <a:rPr lang="en-US" b="1" dirty="0"/>
              <a:t>1. Everyday Mobile &amp; Navigation Apps</a:t>
            </a:r>
          </a:p>
          <a:p>
            <a:r>
              <a:rPr lang="en-US" b="1" dirty="0"/>
              <a:t>Communication &amp; Chat Platforms:</a:t>
            </a:r>
            <a:endParaRPr lang="en-US" dirty="0"/>
          </a:p>
          <a:p>
            <a:pPr lvl="1"/>
            <a:r>
              <a:rPr lang="en-US" b="1" dirty="0"/>
              <a:t>WhatsApp:</a:t>
            </a:r>
            <a:r>
              <a:rPr lang="en-US" dirty="0"/>
              <a:t> Setting up accounts, configuration, and secure messaging.</a:t>
            </a:r>
          </a:p>
          <a:p>
            <a:pPr lvl="1"/>
            <a:r>
              <a:rPr lang="en-US" b="1" dirty="0"/>
              <a:t>Telegram:</a:t>
            </a:r>
            <a:r>
              <a:rPr lang="en-US" dirty="0"/>
              <a:t> Creating and setting up an alternate cloud-based messaging account.</a:t>
            </a:r>
          </a:p>
          <a:p>
            <a:r>
              <a:rPr lang="en-US" b="1" dirty="0"/>
              <a:t>Ride-Hailing &amp; Booking Transport:</a:t>
            </a:r>
            <a:endParaRPr lang="en-US" dirty="0"/>
          </a:p>
          <a:p>
            <a:pPr lvl="1"/>
            <a:r>
              <a:rPr lang="en-US" b="1" dirty="0" err="1"/>
              <a:t>Rapio</a:t>
            </a:r>
            <a:r>
              <a:rPr lang="en-US" b="1" dirty="0"/>
              <a:t>:</a:t>
            </a:r>
            <a:r>
              <a:rPr lang="en-US" dirty="0"/>
              <a:t> Navigating the interface to book quick two-wheeler bike rides.</a:t>
            </a:r>
          </a:p>
          <a:p>
            <a:pPr lvl="1"/>
            <a:r>
              <a:rPr lang="en-US" b="1" dirty="0"/>
              <a:t>Ola Cabs:</a:t>
            </a:r>
            <a:r>
              <a:rPr lang="en-US" dirty="0"/>
              <a:t> Booking point-to-point car rides, tracking drivers, and picking ride categories online.</a:t>
            </a:r>
          </a:p>
          <a:p>
            <a:r>
              <a:rPr lang="en-US" b="1" dirty="0"/>
              <a:t>Travel Planning:</a:t>
            </a:r>
            <a:endParaRPr lang="en-US" dirty="0"/>
          </a:p>
          <a:p>
            <a:pPr lvl="1"/>
            <a:r>
              <a:rPr lang="en-US" b="1" dirty="0"/>
              <a:t>MakeMyTrip:</a:t>
            </a:r>
            <a:r>
              <a:rPr lang="en-US" dirty="0"/>
              <a:t> Organizing full trip itineraries, searching flights, hotels, and holiday packages online.</a:t>
            </a:r>
          </a:p>
          <a:p>
            <a:r>
              <a:rPr lang="en-US" b="1" dirty="0"/>
              <a:t>Online Shopping &amp; Verification:</a:t>
            </a:r>
            <a:endParaRPr lang="en-US" dirty="0"/>
          </a:p>
          <a:p>
            <a:pPr lvl="1"/>
            <a:r>
              <a:rPr lang="en-US" b="1" dirty="0"/>
              <a:t>Flipkart:</a:t>
            </a:r>
            <a:r>
              <a:rPr lang="en-US" dirty="0"/>
              <a:t> Searching products, managing carts, placing secure orders, and digital retail navigation.</a:t>
            </a:r>
          </a:p>
          <a:p>
            <a:pPr lvl="1"/>
            <a:r>
              <a:rPr lang="en-US" b="1" dirty="0" err="1"/>
              <a:t>Truecaller</a:t>
            </a:r>
            <a:r>
              <a:rPr lang="en-US" b="1" dirty="0"/>
              <a:t>:</a:t>
            </a:r>
            <a:r>
              <a:rPr lang="en-US" dirty="0"/>
              <a:t> Identifying unknown numbers, filtering incoming spam calls, and blocking telemarketers.</a:t>
            </a:r>
          </a:p>
          <a:p>
            <a:r>
              <a:rPr lang="en-US" b="1" dirty="0"/>
              <a:t>2. Advanced Media Search &amp; Management</a:t>
            </a:r>
          </a:p>
          <a:p>
            <a:r>
              <a:rPr lang="en-US" b="1" dirty="0"/>
              <a:t>Smart Searching for Online Learning</a:t>
            </a:r>
          </a:p>
          <a:p>
            <a:r>
              <a:rPr lang="en-US" dirty="0"/>
              <a:t>Using filters on video search engines to isolate educational content, sorted by length, date published, and quality.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292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24A283-C65F-4A4A-9332-786CC1F5844B}"/>
              </a:ext>
            </a:extLst>
          </p:cNvPr>
          <p:cNvSpPr/>
          <p:nvPr/>
        </p:nvSpPr>
        <p:spPr>
          <a:xfrm>
            <a:off x="3160643" y="0"/>
            <a:ext cx="6433931" cy="6745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Photo Scan by Google Photos</a:t>
            </a:r>
          </a:p>
          <a:p>
            <a:r>
              <a:rPr lang="en-US" sz="1400" dirty="0"/>
              <a:t>Digitizing physical printed photographs using your smartphone's camera. It removes glare, automatically crops edges, and straightens perspective distortion.</a:t>
            </a:r>
          </a:p>
          <a:p>
            <a:r>
              <a:rPr lang="en-US" sz="1400" b="1" dirty="0"/>
              <a:t>3. Video Collaboration Platforms</a:t>
            </a:r>
          </a:p>
          <a:p>
            <a:r>
              <a:rPr lang="en-US" sz="1400" b="1" dirty="0"/>
              <a:t>Google Meet (AI Features)</a:t>
            </a:r>
          </a:p>
          <a:p>
            <a:r>
              <a:rPr lang="en-US" sz="1400" b="1" dirty="0"/>
              <a:t>Setting up a Google Meet:</a:t>
            </a:r>
            <a:r>
              <a:rPr lang="en-US" sz="1400" dirty="0"/>
              <a:t> Creating quick invite links and scheduling virtual syncs via Google Calendar.</a:t>
            </a:r>
          </a:p>
          <a:p>
            <a:r>
              <a:rPr lang="en-US" sz="1400" b="1" dirty="0"/>
              <a:t>AI Background Generation:</a:t>
            </a:r>
            <a:r>
              <a:rPr lang="en-US" sz="1400" dirty="0"/>
              <a:t> Utilizing Google Gemini inside Meet to generate unique, prompt-driven synthetic backgrounds.</a:t>
            </a:r>
          </a:p>
          <a:p>
            <a:r>
              <a:rPr lang="en-US" sz="1400" b="1" dirty="0"/>
              <a:t>Translated Captions:</a:t>
            </a:r>
            <a:r>
              <a:rPr lang="en-US" sz="1400" dirty="0"/>
              <a:t> Real-time AI translation of spoken words into chosen subtitle languages during live international calls.</a:t>
            </a:r>
          </a:p>
          <a:p>
            <a:r>
              <a:rPr lang="en-US" sz="1400" b="1" dirty="0"/>
              <a:t>"Take notes for me" Feature:</a:t>
            </a:r>
            <a:r>
              <a:rPr lang="en-US" sz="1400" dirty="0"/>
              <a:t> An AI feature powered by Gemini that automatically transcribes discussions, creates summaries, and logs action items during a call.</a:t>
            </a:r>
          </a:p>
          <a:p>
            <a:r>
              <a:rPr lang="en-US" sz="1400" b="1" dirty="0"/>
              <a:t>Zoom Meetings</a:t>
            </a:r>
          </a:p>
          <a:p>
            <a:r>
              <a:rPr lang="en-US" sz="1400" b="1" dirty="0"/>
              <a:t>Virtual Background Feature:</a:t>
            </a:r>
            <a:r>
              <a:rPr lang="en-US" sz="1400" dirty="0"/>
              <a:t> Enabling standard image blur or custom graphic overlays behind a user to shield personal environments during web conferences.</a:t>
            </a:r>
          </a:p>
          <a:p>
            <a:r>
              <a:rPr lang="en-US" sz="1400" b="1" dirty="0"/>
              <a:t>4. Partnering with AI Tools</a:t>
            </a:r>
          </a:p>
          <a:p>
            <a:r>
              <a:rPr lang="en-US" sz="1400" b="1" dirty="0"/>
              <a:t>Google Vids:</a:t>
            </a:r>
            <a:r>
              <a:rPr lang="en-US" sz="1400" dirty="0"/>
              <a:t> An AI-powered workspace app used to generate storylines, draft script concepts, and auto-assemble short foundational videos.</a:t>
            </a:r>
          </a:p>
          <a:p>
            <a:r>
              <a:rPr lang="en-US" sz="1400" b="1" dirty="0"/>
              <a:t>Gemini in Google Drive:</a:t>
            </a:r>
            <a:r>
              <a:rPr lang="en-US" sz="1400" dirty="0"/>
              <a:t> Implementing natural language prompts directly within cloud storage folders to summarize PDFs, extract document data, and organize file paths.</a:t>
            </a:r>
          </a:p>
          <a:p>
            <a:r>
              <a:rPr lang="en-US" sz="1400" b="1" dirty="0"/>
              <a:t>Google Translate:</a:t>
            </a:r>
            <a:r>
              <a:rPr lang="en-US" sz="1400" dirty="0"/>
              <a:t> Using live camera translation, voice translation, and offline packages to communicate across varying languages.</a:t>
            </a:r>
          </a:p>
          <a:p>
            <a:r>
              <a:rPr lang="en-US" sz="1400" b="1" dirty="0"/>
              <a:t>Kindle:</a:t>
            </a:r>
            <a:r>
              <a:rPr lang="en-US" sz="1400" dirty="0"/>
              <a:t> Downloading, organizing, and reading eBooks across multiple digital devices.</a:t>
            </a:r>
          </a:p>
          <a:p>
            <a:r>
              <a:rPr lang="en-US" sz="1400" b="1" dirty="0"/>
              <a:t>Google Assistant:</a:t>
            </a:r>
            <a:r>
              <a:rPr lang="en-US" sz="1400" dirty="0"/>
              <a:t> Configuring voice-activated commands to execute hands-free tasks on a mobile device (setting alarms, checking weather, scheduling alerts).</a:t>
            </a:r>
          </a:p>
          <a:p>
            <a:r>
              <a:rPr lang="en-US" sz="1400" b="1" dirty="0"/>
              <a:t>WhatsApp Meta AI:</a:t>
            </a:r>
            <a:r>
              <a:rPr lang="en-US" sz="1400" dirty="0"/>
              <a:t> Using the integrated chat conversational assistant inside WhatsApp to solve problems, generate images, or translate text.</a:t>
            </a:r>
          </a:p>
          <a:p>
            <a:r>
              <a:rPr lang="en-US" sz="1400" b="1" dirty="0"/>
              <a:t>Google Fit:</a:t>
            </a:r>
            <a:r>
              <a:rPr lang="en-US" sz="1400" dirty="0"/>
              <a:t> Tracking daily physical steps, monitoring activity metrics, and logging heart health habits over extended timelines.</a:t>
            </a:r>
          </a:p>
        </p:txBody>
      </p:sp>
    </p:spTree>
    <p:extLst>
      <p:ext uri="{BB962C8B-B14F-4D97-AF65-F5344CB8AC3E}">
        <p14:creationId xmlns:p14="http://schemas.microsoft.com/office/powerpoint/2010/main" val="267856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4DD3A3-DA30-4ED8-8F05-03711899E288}"/>
              </a:ext>
            </a:extLst>
          </p:cNvPr>
          <p:cNvSpPr/>
          <p:nvPr/>
        </p:nvSpPr>
        <p:spPr>
          <a:xfrm>
            <a:off x="3074504" y="1510748"/>
            <a:ext cx="585746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21st Century Office Skills (MS Word Basics)</a:t>
            </a:r>
          </a:p>
          <a:p>
            <a:r>
              <a:rPr lang="en-US" dirty="0"/>
              <a:t>This section covers the foundational user interface elements and essential navigation tabs within Microsoft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Introduction &amp; User Interface:</a:t>
            </a:r>
            <a:r>
              <a:rPr lang="en-US" dirty="0"/>
              <a:t> Familiarization with the workspace layout, including the ribbon, document canvas, status bar, and zoom controls.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File Tab:</a:t>
            </a:r>
            <a:r>
              <a:rPr lang="en-US" dirty="0"/>
              <a:t> * Manages the "backstage view" of a document.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Key functions include: Creating a new document (</a:t>
            </a:r>
            <a:r>
              <a:rPr lang="en-US" b="1" dirty="0"/>
              <a:t>New</a:t>
            </a:r>
            <a:r>
              <a:rPr lang="en-US" dirty="0"/>
              <a:t>), opening existing files (</a:t>
            </a:r>
            <a:r>
              <a:rPr lang="en-US" b="1" dirty="0"/>
              <a:t>Open</a:t>
            </a:r>
            <a:r>
              <a:rPr lang="en-US" dirty="0"/>
              <a:t>), saving progress (</a:t>
            </a:r>
            <a:r>
              <a:rPr lang="en-US" b="1" dirty="0"/>
              <a:t>Save / Save As</a:t>
            </a:r>
            <a:r>
              <a:rPr lang="en-US" dirty="0"/>
              <a:t>), printing, and exporting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Home Tab:</a:t>
            </a:r>
            <a:r>
              <a:rPr lang="en-US" dirty="0"/>
              <a:t> * The primary hub for everyday text formatting.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Includes tools for changing fonts, text size, colors, text alignment (left, center, right, justified), bullet points, and clipboard actions (copy, cut, paste).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Knowledge Checks:</a:t>
            </a:r>
            <a:r>
              <a:rPr lang="en-US" dirty="0"/>
              <a:t> Every major interface module is paired with a </a:t>
            </a:r>
            <a:r>
              <a:rPr lang="en-US" b="1" dirty="0"/>
              <a:t>"Test Your Knowledge"</a:t>
            </a:r>
            <a:r>
              <a:rPr lang="en-US" dirty="0"/>
              <a:t> micro-assessment to reinforce retention before moving forward.</a:t>
            </a:r>
          </a:p>
          <a:p>
            <a:r>
              <a:rPr lang="en-US" b="1" dirty="0"/>
              <a:t> 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ED092-6134-412B-BD07-0CA1ED371AFB}"/>
              </a:ext>
            </a:extLst>
          </p:cNvPr>
          <p:cNvSpPr txBox="1"/>
          <p:nvPr/>
        </p:nvSpPr>
        <p:spPr>
          <a:xfrm>
            <a:off x="808383" y="503583"/>
            <a:ext cx="110125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ahnschrift" panose="020B0502040204020203" pitchFamily="34" charset="0"/>
              </a:rPr>
              <a:t>session #7 MS- CIT ( </a:t>
            </a:r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Basic Computer And Smartphone Skills )</a:t>
            </a:r>
            <a:endParaRPr lang="en-IN" sz="3200" dirty="0">
              <a:latin typeface="Bahnschrift" panose="020B0502040204020203" pitchFamily="34" charset="0"/>
            </a:endParaRP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55464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64BD5-0472-4423-B111-91F36D3A1A26}"/>
              </a:ext>
            </a:extLst>
          </p:cNvPr>
          <p:cNvSpPr/>
          <p:nvPr/>
        </p:nvSpPr>
        <p:spPr>
          <a:xfrm>
            <a:off x="2955235" y="2600165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ED5A55-6C88-4FD7-B55D-CE0DA29723DE}"/>
              </a:ext>
            </a:extLst>
          </p:cNvPr>
          <p:cNvSpPr/>
          <p:nvPr/>
        </p:nvSpPr>
        <p:spPr>
          <a:xfrm>
            <a:off x="1615384" y="799940"/>
            <a:ext cx="921164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2. Partnering with AI Tools</a:t>
            </a:r>
          </a:p>
          <a:p>
            <a:r>
              <a:rPr lang="en-US" sz="3200" dirty="0"/>
              <a:t>A modern addition to office skills focusing on how to collaborate effectively with artificial intelligence tools to improve writing and productivity.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err="1"/>
              <a:t>QuillBot</a:t>
            </a:r>
            <a:r>
              <a:rPr lang="en-US" sz="3200" b="1" dirty="0"/>
              <a:t>:</a:t>
            </a:r>
            <a:r>
              <a:rPr lang="en-US" sz="3200" dirty="0"/>
              <a:t> Typically used within writing workflows for paraphrasing, summarizing, checking grammar, and improving sentence structure or tone in documents.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err="1"/>
              <a:t>Deepseek</a:t>
            </a:r>
            <a:r>
              <a:rPr lang="en-US" sz="3200" b="1" dirty="0"/>
              <a:t>:</a:t>
            </a:r>
            <a:r>
              <a:rPr lang="en-US" sz="3200" dirty="0"/>
              <a:t> Utilized for data analysis, generating text, brainstorming ideas, or structuring content drafts efficiently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54753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6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1434</Words>
  <Application>Microsoft Office PowerPoint</Application>
  <PresentationFormat>Widescreen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Arial Black</vt:lpstr>
      <vt:lpstr>Bahnschrift</vt:lpstr>
      <vt:lpstr>Bahnschrift Condensed</vt:lpstr>
      <vt:lpstr>Bahnschrift Light SemiCondensed</vt:lpstr>
      <vt:lpstr>Bahnschrift SemiBold</vt:lpstr>
      <vt:lpstr>Bahnschrift SemiCondensed</vt:lpstr>
      <vt:lpstr>Calibri</vt:lpstr>
      <vt:lpstr>Calibri Light</vt:lpstr>
      <vt:lpstr>Google Sans</vt:lpstr>
      <vt:lpstr>Google Sans Text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11</cp:revision>
  <dcterms:created xsi:type="dcterms:W3CDTF">2026-05-21T05:22:23Z</dcterms:created>
  <dcterms:modified xsi:type="dcterms:W3CDTF">2026-05-22T06:40:08Z</dcterms:modified>
</cp:coreProperties>
</file>