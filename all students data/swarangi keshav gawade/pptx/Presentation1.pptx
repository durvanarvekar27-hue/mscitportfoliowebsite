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ADC1E5"/>
    <a:srgbClr val="54AEC0"/>
    <a:srgbClr val="23686F"/>
    <a:srgbClr val="CC9900"/>
    <a:srgbClr val="FFFF66"/>
    <a:srgbClr val="66A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4AD2-758A-4294-852D-DE8D50832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E4A55-3911-4A9B-B91F-AEE9D6EB8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EC5E9-3BB2-473D-96A5-6908ABC8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C486-3DFB-4F72-A84F-25809512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818CB-17CF-49C1-8B4A-BE9A8CF0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8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5976-EA4E-4822-9C14-937CD0F1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6C31A-7233-4918-9862-2392A97A1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BF914-7C6C-4764-BEE1-C599A96E5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2D112-0AB3-4FD1-A7D3-4D8D0EDA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5C35E-46FE-4EBB-8867-D3280039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43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0CB4-C6C9-417C-9303-1C5BC836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232C1-C572-4164-9AFB-F8F0C161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40EB6-7FFF-4681-93D3-8CC8195F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41365-03A2-42AE-B7FB-C2D3FA63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D3D96-7C12-41A4-8F42-8ED80184D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8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DCBA-62EA-42E0-83F1-87C6C44F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CE9ED-4D3D-48E7-B874-4493032D5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5D9A5-5218-435F-A171-9333A03BC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AB9D7-85D9-4EB9-BB63-6E68E2FA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851E7-1945-4D76-B626-1590BE3A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2E313-7C75-432E-BEC8-42DE1FFF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92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C1F7-4F70-433D-A8C6-772B7E5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43D83-DAE8-402B-9D47-84E15F8FD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B3C29-5323-4483-A5E7-891501B6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4DA4F-97F2-4011-95F2-C2893EF74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23BC5-FF46-40C9-8D8E-812AE73A4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B29DA-5F24-45F1-B373-F27BED74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178CA2-15EB-4694-98E5-ECDDF524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633EE-7E48-4F56-90F6-A11AD96B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0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D3F3-9EAF-4925-8979-A22EBFFB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E2017-34F7-4F9F-ACA8-FC0648D1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7B16A-9ACE-4226-93CD-594670E3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A09AA-7D88-4CE6-86C0-2EDF5329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3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06363-1DEE-4314-BF97-D823D58D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A190D-C549-4F3E-9549-2BFD9E80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DBD03-8AC4-48D9-B1F1-319CF486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4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436B-6E0B-43A0-BE5D-8F866464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668E-1B71-41D3-8340-61AD36B2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79F39-2B6F-4EE2-90D4-EE3F8010B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3107E-97E9-405D-A8DA-1B50E88C5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CF1D8-450C-4150-9C74-989CBCA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8A2DD-7BA5-43F2-A6D8-61020685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73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2607-EB6D-4C6B-B0CA-0998AB78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D0203-AF02-489B-BC05-B2004EAC7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BBCCF-5738-4FF6-B45D-881AC5C6A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B3B3C-8231-43A4-A0B7-1362C456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61916-BDCE-410F-AA0E-E8D157CE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4B42C-A3F8-45CF-B42F-2C12943D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796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943D-9149-4B9C-9356-9CF6A9C6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CA1DE-B2DB-489F-A348-2BE02143D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78A1E-0713-4AD0-B278-F7DB042AE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EEF7-D997-41A6-97AE-BD34F27E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D642F-BE7F-4882-B500-F3EE1EF9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20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EBE6D7-2BE2-4C59-AD78-17F6C8FF5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B4348-3C45-48AA-BE4C-436A34DEA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3FB2-0A23-4770-8F17-9E1D4A01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9B17D-5B7A-4834-98B1-B01D1901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E96CD-E4F8-4277-9B9E-C694C5CD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5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0F800-FD0D-4661-BBFC-A377F763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C3AE6-5EB2-4AE6-A4D8-B7AA7997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0C2EF-8CE1-456D-8C18-FFF9EAE65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FBBF1-C2C1-470D-868E-CB60DF5584BD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78C5C-0D83-4FD3-961A-FAA43DC3E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D88A0-1760-4E15-8BB2-617F525C1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6FFD4-FAAD-4564-B968-1B5E9D657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55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a few lines&#10;&#10;AI-generated content may be incorrect.">
            <a:extLst>
              <a:ext uri="{FF2B5EF4-FFF2-40B4-BE49-F238E27FC236}">
                <a16:creationId xmlns:a16="http://schemas.microsoft.com/office/drawing/2014/main" id="{A2245278-EF14-1F07-F3B8-0E19FF8AD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F0A40-BE68-36E3-A30F-865DEBE5601C}"/>
              </a:ext>
            </a:extLst>
          </p:cNvPr>
          <p:cNvSpPr txBox="1"/>
          <p:nvPr/>
        </p:nvSpPr>
        <p:spPr>
          <a:xfrm>
            <a:off x="4954137" y="2767279"/>
            <a:ext cx="5022376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Bahnschrift SemiBold" panose="020B0502040204020203" pitchFamily="34" charset="0"/>
                <a:cs typeface="Aharoni" panose="02010803020104030203" pitchFamily="2" charset="-79"/>
              </a:rPr>
              <a:t>WELCOME</a:t>
            </a:r>
            <a:endParaRPr lang="en-IN" sz="8000" dirty="0"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9935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a white surface&#10;&#10;AI-generated content may be incorrect.">
            <a:extLst>
              <a:ext uri="{FF2B5EF4-FFF2-40B4-BE49-F238E27FC236}">
                <a16:creationId xmlns:a16="http://schemas.microsoft.com/office/drawing/2014/main" id="{054AABB9-F078-834B-075A-D32F19DB1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75" y="0"/>
            <a:ext cx="12194574" cy="6858000"/>
          </a:xfrm>
          <a:prstGeom prst="rect">
            <a:avLst/>
          </a:prstGeom>
          <a:ln>
            <a:solidFill>
              <a:srgbClr val="EAEAEA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AF3017-D08C-6A2B-5E8B-CC63093D81E1}"/>
              </a:ext>
            </a:extLst>
          </p:cNvPr>
          <p:cNvSpPr txBox="1"/>
          <p:nvPr/>
        </p:nvSpPr>
        <p:spPr>
          <a:xfrm>
            <a:off x="2983023" y="2413337"/>
            <a:ext cx="62233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CYBER SECURITY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51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6C3214-00C5-4837-87EA-CC0DD1B3F708}"/>
              </a:ext>
            </a:extLst>
          </p:cNvPr>
          <p:cNvSpPr txBox="1"/>
          <p:nvPr/>
        </p:nvSpPr>
        <p:spPr>
          <a:xfrm>
            <a:off x="-1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5C7BC-1131-4CD9-BCC0-03FB3E868A62}"/>
              </a:ext>
            </a:extLst>
          </p:cNvPr>
          <p:cNvSpPr txBox="1"/>
          <p:nvPr/>
        </p:nvSpPr>
        <p:spPr>
          <a:xfrm>
            <a:off x="543339" y="861392"/>
            <a:ext cx="322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INTRODUCTION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D61C-19C7-4B7D-A324-E93468BFCBCF}"/>
              </a:ext>
            </a:extLst>
          </p:cNvPr>
          <p:cNvSpPr txBox="1"/>
          <p:nvPr/>
        </p:nvSpPr>
        <p:spPr>
          <a:xfrm>
            <a:off x="609600" y="1920632"/>
            <a:ext cx="10243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dirty="0">
                <a:latin typeface="Bahnschrift" panose="020B0502040204020203" pitchFamily="34" charset="0"/>
              </a:rPr>
              <a:t>The term cyber security is used to refer to the security offered </a:t>
            </a:r>
          </a:p>
          <a:p>
            <a:r>
              <a:rPr lang="en-US" dirty="0">
                <a:latin typeface="Bahnschrift" panose="020B0502040204020203" pitchFamily="34" charset="0"/>
              </a:rPr>
              <a:t>Through on-line services to protect your online information.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  With an increasing amount of people getting connected to</a:t>
            </a:r>
          </a:p>
          <a:p>
            <a:r>
              <a:rPr lang="en-US" dirty="0">
                <a:latin typeface="Bahnschrift" panose="020B0502040204020203" pitchFamily="34" charset="0"/>
              </a:rPr>
              <a:t>Internet, the security threats that cause massive harm are </a:t>
            </a:r>
          </a:p>
          <a:p>
            <a:r>
              <a:rPr lang="en-US" dirty="0">
                <a:latin typeface="Bahnschrift" panose="020B0502040204020203" pitchFamily="34" charset="0"/>
              </a:rPr>
              <a:t>Increasing also.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0CFA6C70-0FEB-4733-9853-29D30AE18471}"/>
              </a:ext>
            </a:extLst>
          </p:cNvPr>
          <p:cNvSpPr/>
          <p:nvPr/>
        </p:nvSpPr>
        <p:spPr>
          <a:xfrm>
            <a:off x="543339" y="1995464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5FADF86-4011-4313-9482-84F244EEC0D5}"/>
              </a:ext>
            </a:extLst>
          </p:cNvPr>
          <p:cNvSpPr/>
          <p:nvPr/>
        </p:nvSpPr>
        <p:spPr>
          <a:xfrm>
            <a:off x="543339" y="2835211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</a:t>
            </a:r>
            <a:endParaRPr lang="en-IN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39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5D8E23-78DA-44B6-803B-C4BF81EC2119}"/>
              </a:ext>
            </a:extLst>
          </p:cNvPr>
          <p:cNvSpPr txBox="1"/>
          <p:nvPr/>
        </p:nvSpPr>
        <p:spPr>
          <a:xfrm>
            <a:off x="1" y="18796"/>
            <a:ext cx="12191999" cy="6857999"/>
          </a:xfrm>
          <a:prstGeom prst="rect">
            <a:avLst/>
          </a:prstGeom>
          <a:solidFill>
            <a:srgbClr val="54AEC0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A21DEB-A807-4C22-95CA-F01482E40D91}"/>
              </a:ext>
            </a:extLst>
          </p:cNvPr>
          <p:cNvSpPr/>
          <p:nvPr/>
        </p:nvSpPr>
        <p:spPr>
          <a:xfrm rot="2692621">
            <a:off x="4654592" y="2951690"/>
            <a:ext cx="2882814" cy="279565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0B335-8ABC-4498-BA34-EBB1E9840CB5}"/>
              </a:ext>
            </a:extLst>
          </p:cNvPr>
          <p:cNvSpPr txBox="1"/>
          <p:nvPr/>
        </p:nvSpPr>
        <p:spPr>
          <a:xfrm>
            <a:off x="4157865" y="2814813"/>
            <a:ext cx="1456111" cy="1200329"/>
          </a:xfrm>
          <a:prstGeom prst="rect">
            <a:avLst/>
          </a:prstGeom>
          <a:solidFill>
            <a:srgbClr val="54AEC0"/>
          </a:solidFill>
          <a:ln w="41275" cap="sq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what is the</a:t>
            </a:r>
          </a:p>
          <a:p>
            <a:r>
              <a:rPr lang="en-US" dirty="0">
                <a:solidFill>
                  <a:schemeClr val="bg1"/>
                </a:solidFill>
              </a:rPr>
              <a:t>  Meaning of        </a:t>
            </a:r>
          </a:p>
          <a:p>
            <a:r>
              <a:rPr lang="en-US" dirty="0">
                <a:solidFill>
                  <a:schemeClr val="bg1"/>
                </a:solidFill>
              </a:rPr>
              <a:t>   the word </a:t>
            </a:r>
          </a:p>
          <a:p>
            <a:r>
              <a:rPr lang="en-US" dirty="0">
                <a:solidFill>
                  <a:schemeClr val="bg1"/>
                </a:solidFill>
              </a:rPr>
              <a:t>      CYBER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9EFE4-A1B9-46B2-A8AB-1C665B5635DE}"/>
              </a:ext>
            </a:extLst>
          </p:cNvPr>
          <p:cNvSpPr txBox="1"/>
          <p:nvPr/>
        </p:nvSpPr>
        <p:spPr>
          <a:xfrm>
            <a:off x="4031155" y="4688332"/>
            <a:ext cx="1709530" cy="1200329"/>
          </a:xfrm>
          <a:prstGeom prst="rect">
            <a:avLst/>
          </a:prstGeom>
          <a:solidFill>
            <a:srgbClr val="54AEC0"/>
          </a:solidFill>
          <a:ln w="41275" cap="sq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dirty="0">
                <a:solidFill>
                  <a:schemeClr val="bg1"/>
                </a:solidFill>
              </a:rPr>
              <a:t>what are the </a:t>
            </a:r>
          </a:p>
          <a:p>
            <a:r>
              <a:rPr lang="en-US" dirty="0">
                <a:solidFill>
                  <a:schemeClr val="bg1"/>
                </a:solidFill>
              </a:rPr>
              <a:t>      security</a:t>
            </a:r>
          </a:p>
          <a:p>
            <a:r>
              <a:rPr lang="en-US" dirty="0">
                <a:solidFill>
                  <a:schemeClr val="bg1"/>
                </a:solidFill>
              </a:rPr>
              <a:t>  Problems in</a:t>
            </a:r>
          </a:p>
          <a:p>
            <a:r>
              <a:rPr lang="en-US" dirty="0">
                <a:solidFill>
                  <a:schemeClr val="bg1"/>
                </a:solidFill>
              </a:rPr>
              <a:t>   Cyber field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379AB1-FA0E-4F49-8FFF-B630315D7771}"/>
              </a:ext>
            </a:extLst>
          </p:cNvPr>
          <p:cNvSpPr/>
          <p:nvPr/>
        </p:nvSpPr>
        <p:spPr>
          <a:xfrm>
            <a:off x="4088295" y="852483"/>
            <a:ext cx="4015408" cy="962771"/>
          </a:xfrm>
          <a:prstGeom prst="roundRect">
            <a:avLst/>
          </a:prstGeom>
          <a:solidFill>
            <a:srgbClr val="54AEC0"/>
          </a:solidFill>
          <a:ln w="44450"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439C1-2746-4F81-B1CD-CEC7EEB026E5}"/>
              </a:ext>
            </a:extLst>
          </p:cNvPr>
          <p:cNvSpPr txBox="1"/>
          <p:nvPr/>
        </p:nvSpPr>
        <p:spPr>
          <a:xfrm>
            <a:off x="4195126" y="938313"/>
            <a:ext cx="3801745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4800" dirty="0">
                <a:ln w="0"/>
                <a:solidFill>
                  <a:srgbClr val="CC99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To </a:t>
            </a:r>
            <a:r>
              <a:rPr lang="en-US" sz="4800" dirty="0">
                <a:ln w="0">
                  <a:noFill/>
                </a:ln>
                <a:solidFill>
                  <a:srgbClr val="CC99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Understand</a:t>
            </a:r>
            <a:endParaRPr lang="en-IN" sz="4800" dirty="0">
              <a:ln w="0">
                <a:noFill/>
              </a:ln>
              <a:solidFill>
                <a:srgbClr val="CC99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7270D-2768-4850-8506-A7AE958BD7B3}"/>
              </a:ext>
            </a:extLst>
          </p:cNvPr>
          <p:cNvSpPr txBox="1"/>
          <p:nvPr/>
        </p:nvSpPr>
        <p:spPr>
          <a:xfrm>
            <a:off x="6438924" y="3000238"/>
            <a:ext cx="2014330" cy="646331"/>
          </a:xfrm>
          <a:prstGeom prst="rect">
            <a:avLst/>
          </a:prstGeom>
          <a:solidFill>
            <a:srgbClr val="54AEC0"/>
          </a:solidFill>
          <a:ln w="41275" cap="sq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</a:t>
            </a:r>
            <a:r>
              <a:rPr lang="en-US" dirty="0">
                <a:solidFill>
                  <a:schemeClr val="bg1"/>
                </a:solidFill>
              </a:rPr>
              <a:t>What is the need</a:t>
            </a:r>
          </a:p>
          <a:p>
            <a:r>
              <a:rPr lang="en-US" dirty="0">
                <a:solidFill>
                  <a:schemeClr val="bg1"/>
                </a:solidFill>
              </a:rPr>
              <a:t>  of Cyber security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1F2878-0F62-4520-809C-CC97464BCA51}"/>
              </a:ext>
            </a:extLst>
          </p:cNvPr>
          <p:cNvSpPr txBox="1"/>
          <p:nvPr/>
        </p:nvSpPr>
        <p:spPr>
          <a:xfrm>
            <a:off x="6451317" y="4134335"/>
            <a:ext cx="2014330" cy="1754326"/>
          </a:xfrm>
          <a:prstGeom prst="rect">
            <a:avLst/>
          </a:prstGeom>
          <a:solidFill>
            <a:srgbClr val="54AEC0"/>
          </a:solidFill>
          <a:ln w="41275" cap="sq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</a:t>
            </a:r>
            <a:r>
              <a:rPr lang="en-US" dirty="0">
                <a:solidFill>
                  <a:schemeClr val="bg1"/>
                </a:solidFill>
              </a:rPr>
              <a:t>How to  </a:t>
            </a:r>
          </a:p>
          <a:p>
            <a:r>
              <a:rPr lang="en-US" dirty="0">
                <a:solidFill>
                  <a:schemeClr val="bg1"/>
                </a:solidFill>
              </a:rPr>
              <a:t>   Implement and</a:t>
            </a:r>
          </a:p>
          <a:p>
            <a:r>
              <a:rPr lang="en-US" dirty="0">
                <a:solidFill>
                  <a:schemeClr val="bg1"/>
                </a:solidFill>
              </a:rPr>
              <a:t>         maintain</a:t>
            </a:r>
          </a:p>
          <a:p>
            <a:r>
              <a:rPr lang="en-US" dirty="0">
                <a:solidFill>
                  <a:schemeClr val="bg1"/>
                </a:solidFill>
              </a:rPr>
              <a:t>      security of a</a:t>
            </a:r>
          </a:p>
          <a:p>
            <a:r>
              <a:rPr lang="en-US" dirty="0">
                <a:solidFill>
                  <a:schemeClr val="bg1"/>
                </a:solidFill>
              </a:rPr>
              <a:t>        Cyber field</a:t>
            </a:r>
          </a:p>
          <a:p>
            <a:r>
              <a:rPr lang="en-US" dirty="0">
                <a:solidFill>
                  <a:schemeClr val="bg1"/>
                </a:solidFill>
              </a:rPr>
              <a:t>         around us.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03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8C28E0-AB34-40EE-8565-744845F3C9C9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131B5-98C3-4289-B9CD-41ADD0C1127B}"/>
              </a:ext>
            </a:extLst>
          </p:cNvPr>
          <p:cNvSpPr txBox="1"/>
          <p:nvPr/>
        </p:nvSpPr>
        <p:spPr>
          <a:xfrm>
            <a:off x="636104" y="861391"/>
            <a:ext cx="4412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Meaning of the Word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8A086-1FAC-4E6C-8CA5-1667B63B11CD}"/>
              </a:ext>
            </a:extLst>
          </p:cNvPr>
          <p:cNvSpPr txBox="1"/>
          <p:nvPr/>
        </p:nvSpPr>
        <p:spPr>
          <a:xfrm>
            <a:off x="503583" y="1908314"/>
            <a:ext cx="532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</a:t>
            </a:r>
            <a:r>
              <a:rPr lang="en-US" dirty="0">
                <a:latin typeface="Bahnschrift" panose="020B0502040204020203" pitchFamily="34" charset="0"/>
              </a:rPr>
              <a:t>It is a combining from relating to information </a:t>
            </a:r>
          </a:p>
          <a:p>
            <a:r>
              <a:rPr lang="en-US" dirty="0">
                <a:latin typeface="Bahnschrift" panose="020B0502040204020203" pitchFamily="34" charset="0"/>
              </a:rPr>
              <a:t>       technology, the internet, and virtual reality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E6ADE3E-21E8-4FBB-9537-B05A2453A8E6}"/>
              </a:ext>
            </a:extLst>
          </p:cNvPr>
          <p:cNvSpPr/>
          <p:nvPr/>
        </p:nvSpPr>
        <p:spPr>
          <a:xfrm>
            <a:off x="742121" y="2019445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E2DB45-9F15-4CD3-880D-1FC2100E3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984" y="34290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8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CAF0FC-54F6-49F3-95F2-1AD10F684A95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67BF2-5DC2-4F83-BF10-9E7C6FEBD73D}"/>
              </a:ext>
            </a:extLst>
          </p:cNvPr>
          <p:cNvSpPr txBox="1"/>
          <p:nvPr/>
        </p:nvSpPr>
        <p:spPr>
          <a:xfrm>
            <a:off x="808382" y="914399"/>
            <a:ext cx="5989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Need of cyber security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1571DEF-42B6-401B-AC47-9E25ACCB423E}"/>
              </a:ext>
            </a:extLst>
          </p:cNvPr>
          <p:cNvSpPr/>
          <p:nvPr/>
        </p:nvSpPr>
        <p:spPr>
          <a:xfrm>
            <a:off x="954155" y="2054086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6C10F-6C68-4B82-97A9-2CF158526ACE}"/>
              </a:ext>
            </a:extLst>
          </p:cNvPr>
          <p:cNvSpPr txBox="1"/>
          <p:nvPr/>
        </p:nvSpPr>
        <p:spPr>
          <a:xfrm>
            <a:off x="1020416" y="1933952"/>
            <a:ext cx="7235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Bahnschrift" panose="020B0502040204020203" pitchFamily="34" charset="0"/>
              </a:rPr>
              <a:t>cyber security in necessary </a:t>
            </a:r>
            <a:r>
              <a:rPr lang="en-US" dirty="0" err="1">
                <a:latin typeface="Bahnschrift" panose="020B0502040204020203" pitchFamily="34" charset="0"/>
              </a:rPr>
              <a:t>sicne</a:t>
            </a:r>
            <a:r>
              <a:rPr lang="en-US" dirty="0">
                <a:latin typeface="Bahnschrift" panose="020B0502040204020203" pitchFamily="34" charset="0"/>
              </a:rPr>
              <a:t> it help in</a:t>
            </a:r>
          </a:p>
          <a:p>
            <a:r>
              <a:rPr lang="en-US" dirty="0">
                <a:latin typeface="Bahnschrift" panose="020B0502040204020203" pitchFamily="34" charset="0"/>
              </a:rPr>
              <a:t>Securing data from threats such as data theft or </a:t>
            </a:r>
          </a:p>
          <a:p>
            <a:r>
              <a:rPr lang="en-US" dirty="0">
                <a:latin typeface="Bahnschrift" panose="020B0502040204020203" pitchFamily="34" charset="0"/>
              </a:rPr>
              <a:t>Misuse, also safeguards your system from viruses.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711F2D-5A3E-4AA9-B478-FC7B53A87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89" y="3230504"/>
            <a:ext cx="4797288" cy="324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3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32D97-3251-4BEC-85E6-3EADE70FFE07}"/>
              </a:ext>
            </a:extLst>
          </p:cNvPr>
          <p:cNvSpPr txBox="1"/>
          <p:nvPr/>
        </p:nvSpPr>
        <p:spPr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E3856-87E4-4CB3-B43E-7862019C42A8}"/>
              </a:ext>
            </a:extLst>
          </p:cNvPr>
          <p:cNvSpPr txBox="1"/>
          <p:nvPr/>
        </p:nvSpPr>
        <p:spPr>
          <a:xfrm>
            <a:off x="702365" y="940904"/>
            <a:ext cx="5234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Major security problems 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401E9F2D-0CFA-4948-9974-D20C2EAB0689}"/>
              </a:ext>
            </a:extLst>
          </p:cNvPr>
          <p:cNvSpPr/>
          <p:nvPr/>
        </p:nvSpPr>
        <p:spPr>
          <a:xfrm>
            <a:off x="901147" y="2620615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37100CCD-89C3-4249-9C6B-0ED2D481DB2D}"/>
              </a:ext>
            </a:extLst>
          </p:cNvPr>
          <p:cNvSpPr/>
          <p:nvPr/>
        </p:nvSpPr>
        <p:spPr>
          <a:xfrm>
            <a:off x="901147" y="4290391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827CDBC9-C505-4614-B5A8-D74A94241F7D}"/>
              </a:ext>
            </a:extLst>
          </p:cNvPr>
          <p:cNvSpPr/>
          <p:nvPr/>
        </p:nvSpPr>
        <p:spPr>
          <a:xfrm>
            <a:off x="901147" y="3747912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284B4380-8035-49E3-8085-1CDE29546DBB}"/>
              </a:ext>
            </a:extLst>
          </p:cNvPr>
          <p:cNvSpPr/>
          <p:nvPr/>
        </p:nvSpPr>
        <p:spPr>
          <a:xfrm>
            <a:off x="901147" y="4832870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E9DBB17-4BE2-494A-BECE-DEC7B75E98AA}"/>
              </a:ext>
            </a:extLst>
          </p:cNvPr>
          <p:cNvSpPr/>
          <p:nvPr/>
        </p:nvSpPr>
        <p:spPr>
          <a:xfrm>
            <a:off x="901147" y="3203714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A0634-6964-4A6C-ACA6-5ADCEB941C37}"/>
              </a:ext>
            </a:extLst>
          </p:cNvPr>
          <p:cNvSpPr txBox="1"/>
          <p:nvPr/>
        </p:nvSpPr>
        <p:spPr>
          <a:xfrm>
            <a:off x="967408" y="2528138"/>
            <a:ext cx="5353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  Virus 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  Hacker 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  Malware 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  Trojan horses 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  Password cracking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513734-58AA-4E89-91E8-8DD3995C3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105" y="5113461"/>
            <a:ext cx="1139688" cy="115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2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B3A3C0-8144-4418-8904-6CE7024C7E72}"/>
              </a:ext>
            </a:extLst>
          </p:cNvPr>
          <p:cNvSpPr txBox="1"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85A79-861B-4C62-8A15-80C79B94332C}"/>
              </a:ext>
            </a:extLst>
          </p:cNvPr>
          <p:cNvSpPr txBox="1"/>
          <p:nvPr/>
        </p:nvSpPr>
        <p:spPr>
          <a:xfrm>
            <a:off x="702365" y="967409"/>
            <a:ext cx="5950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Virus and Worms 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DC09955-45C8-47D0-8C97-9A3698FEFE83}"/>
              </a:ext>
            </a:extLst>
          </p:cNvPr>
          <p:cNvSpPr/>
          <p:nvPr/>
        </p:nvSpPr>
        <p:spPr>
          <a:xfrm>
            <a:off x="834887" y="2218227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7C0FF-B5EB-41F9-8317-92F021C67709}"/>
              </a:ext>
            </a:extLst>
          </p:cNvPr>
          <p:cNvSpPr txBox="1"/>
          <p:nvPr/>
        </p:nvSpPr>
        <p:spPr>
          <a:xfrm>
            <a:off x="1080051" y="2076144"/>
            <a:ext cx="5393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 virus is a “program that is loaded onto your computer without your knowledge and runs against your wishes 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3032F3-6261-4029-B39C-0D8F2D678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51" y="3461878"/>
            <a:ext cx="5751443" cy="29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0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ADEFA7-5126-45E8-A5DC-C5EDDAA387FC}"/>
              </a:ext>
            </a:extLst>
          </p:cNvPr>
          <p:cNvSpPr txBox="1"/>
          <p:nvPr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649FB-2C62-4D61-800B-DBDE7CAF6948}"/>
              </a:ext>
            </a:extLst>
          </p:cNvPr>
          <p:cNvSpPr txBox="1"/>
          <p:nvPr/>
        </p:nvSpPr>
        <p:spPr>
          <a:xfrm>
            <a:off x="728869" y="967409"/>
            <a:ext cx="1868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Solution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1AC1C-C971-4407-BEEE-E15D6CD81467}"/>
              </a:ext>
            </a:extLst>
          </p:cNvPr>
          <p:cNvSpPr txBox="1"/>
          <p:nvPr/>
        </p:nvSpPr>
        <p:spPr>
          <a:xfrm>
            <a:off x="887895" y="2090818"/>
            <a:ext cx="7726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Install a security suite that protects the computer</a:t>
            </a:r>
          </a:p>
          <a:p>
            <a:r>
              <a:rPr lang="en-US" dirty="0">
                <a:latin typeface="Bahnschrift" panose="020B0502040204020203" pitchFamily="34" charset="0"/>
              </a:rPr>
              <a:t>Against threats such as viruses and worms.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C26D9B-09A4-417D-906F-096A68CBA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64" y="3381789"/>
            <a:ext cx="4185616" cy="2476500"/>
          </a:xfrm>
          <a:prstGeom prst="rect">
            <a:avLst/>
          </a:prstGeom>
        </p:spPr>
      </p:pic>
      <p:sp>
        <p:nvSpPr>
          <p:cNvPr id="8" name="Arrow: Chevron 7">
            <a:extLst>
              <a:ext uri="{FF2B5EF4-FFF2-40B4-BE49-F238E27FC236}">
                <a16:creationId xmlns:a16="http://schemas.microsoft.com/office/drawing/2014/main" id="{D916151C-8CC6-41E6-9DBB-4F71AD0213E5}"/>
              </a:ext>
            </a:extLst>
          </p:cNvPr>
          <p:cNvSpPr/>
          <p:nvPr/>
        </p:nvSpPr>
        <p:spPr>
          <a:xfrm>
            <a:off x="755373" y="2195897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23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E23FE-EBDE-4553-B366-2F7663FF01E4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E283A-FE02-40D1-883D-F96D6ABB5D47}"/>
              </a:ext>
            </a:extLst>
          </p:cNvPr>
          <p:cNvSpPr txBox="1"/>
          <p:nvPr/>
        </p:nvSpPr>
        <p:spPr>
          <a:xfrm>
            <a:off x="728871" y="1060174"/>
            <a:ext cx="19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Hackers 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25B1F-2F86-4781-9D29-4EB656310FB7}"/>
              </a:ext>
            </a:extLst>
          </p:cNvPr>
          <p:cNvSpPr txBox="1"/>
          <p:nvPr/>
        </p:nvSpPr>
        <p:spPr>
          <a:xfrm>
            <a:off x="861393" y="2267453"/>
            <a:ext cx="6904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In common a Hacker is a person who breaks into computers, usually by gaining access to administrative controls. 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5C8DDA0-9E79-4607-9BA8-3BA7448222D2}"/>
              </a:ext>
            </a:extLst>
          </p:cNvPr>
          <p:cNvSpPr/>
          <p:nvPr/>
        </p:nvSpPr>
        <p:spPr>
          <a:xfrm>
            <a:off x="728871" y="2399973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24BFAA-6027-4010-AFB7-7BDE5BECF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644" y="3715602"/>
            <a:ext cx="2093844" cy="161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3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76F053-B4F6-4FC1-A709-7F622732F1CF}"/>
              </a:ext>
            </a:extLst>
          </p:cNvPr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5C063-428F-4F37-98B3-21AD6A80FB7A}"/>
              </a:ext>
            </a:extLst>
          </p:cNvPr>
          <p:cNvSpPr txBox="1"/>
          <p:nvPr/>
        </p:nvSpPr>
        <p:spPr>
          <a:xfrm>
            <a:off x="636105" y="1046921"/>
            <a:ext cx="4969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How to prevent hacking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BDFC8-8363-42CC-BD91-50B8C7D8DD77}"/>
              </a:ext>
            </a:extLst>
          </p:cNvPr>
          <p:cNvSpPr txBox="1"/>
          <p:nvPr/>
        </p:nvSpPr>
        <p:spPr>
          <a:xfrm>
            <a:off x="901148" y="2173356"/>
            <a:ext cx="5632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It may be impossible to prevent computer hacking, however effective security controls including strong passwords, and the use of firewalls can helps.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F6297724-7B0B-408C-AB47-789A00DD78A4}"/>
              </a:ext>
            </a:extLst>
          </p:cNvPr>
          <p:cNvSpPr/>
          <p:nvPr/>
        </p:nvSpPr>
        <p:spPr>
          <a:xfrm>
            <a:off x="768626" y="2297740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5E88D9-5556-4E86-A878-791E9D3F4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57" y="3761315"/>
            <a:ext cx="2816087" cy="196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7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A799BD-D270-4019-9EFA-597CE8827D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CA9CA-DCE1-42AC-A443-8C5B5EFBABF2}"/>
              </a:ext>
            </a:extLst>
          </p:cNvPr>
          <p:cNvSpPr txBox="1"/>
          <p:nvPr/>
        </p:nvSpPr>
        <p:spPr>
          <a:xfrm>
            <a:off x="675861" y="1007165"/>
            <a:ext cx="1934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Malware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9D68E-EEDF-4CBB-84E2-E8DDB42148AA}"/>
              </a:ext>
            </a:extLst>
          </p:cNvPr>
          <p:cNvSpPr txBox="1"/>
          <p:nvPr/>
        </p:nvSpPr>
        <p:spPr>
          <a:xfrm>
            <a:off x="675861" y="1987826"/>
            <a:ext cx="64405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word “malware” comes from term </a:t>
            </a:r>
          </a:p>
          <a:p>
            <a:r>
              <a:rPr lang="en-US" dirty="0"/>
              <a:t>“</a:t>
            </a:r>
            <a:r>
              <a:rPr lang="en-US" dirty="0" err="1">
                <a:solidFill>
                  <a:srgbClr val="C00000"/>
                </a:solidFill>
              </a:rPr>
              <a:t>MAL</a:t>
            </a:r>
            <a:r>
              <a:rPr lang="en-US" dirty="0" err="1"/>
              <a:t>icious</a:t>
            </a:r>
            <a:r>
              <a:rPr lang="en-US" dirty="0"/>
              <a:t> soft</a:t>
            </a:r>
            <a:r>
              <a:rPr lang="en-US" dirty="0">
                <a:solidFill>
                  <a:srgbClr val="C00000"/>
                </a:solidFill>
              </a:rPr>
              <a:t>ware.</a:t>
            </a:r>
            <a:r>
              <a:rPr lang="en-US" dirty="0"/>
              <a:t>”</a:t>
            </a:r>
          </a:p>
          <a:p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r>
              <a:rPr lang="en-US" dirty="0"/>
              <a:t>Malware is any software that infects and damages a computer system without the owner’s knowledge or permission.</a:t>
            </a:r>
          </a:p>
          <a:p>
            <a:endParaRPr lang="en-IN" dirty="0"/>
          </a:p>
        </p:txBody>
      </p:sp>
      <p:pic>
        <p:nvPicPr>
          <p:cNvPr id="5" name="Picture 4" descr="A diagram of malware and malware&#10;&#10;AI-generated content may be incorrect.">
            <a:extLst>
              <a:ext uri="{FF2B5EF4-FFF2-40B4-BE49-F238E27FC236}">
                <a16:creationId xmlns:a16="http://schemas.microsoft.com/office/drawing/2014/main" id="{B4AF8D20-C562-1483-C066-82EFB9FFF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61" y="3873137"/>
            <a:ext cx="5181600" cy="24551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6514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C277A7-8A4C-53DE-B92E-597409CFFB37}"/>
              </a:ext>
            </a:extLst>
          </p:cNvPr>
          <p:cNvSpPr txBox="1"/>
          <p:nvPr/>
        </p:nvSpPr>
        <p:spPr>
          <a:xfrm flipH="1" flipV="1"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F751C-B3F9-F606-3E29-DB215C914F3A}"/>
              </a:ext>
            </a:extLst>
          </p:cNvPr>
          <p:cNvSpPr txBox="1"/>
          <p:nvPr/>
        </p:nvSpPr>
        <p:spPr>
          <a:xfrm>
            <a:off x="661850" y="1045029"/>
            <a:ext cx="355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To Stop Malware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6474FD-7385-36AC-029D-0EB713E1479F}"/>
              </a:ext>
            </a:extLst>
          </p:cNvPr>
          <p:cNvSpPr txBox="1"/>
          <p:nvPr/>
        </p:nvSpPr>
        <p:spPr>
          <a:xfrm>
            <a:off x="769004" y="2312885"/>
            <a:ext cx="39970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Download an anti-malware program </a:t>
            </a:r>
          </a:p>
          <a:p>
            <a:r>
              <a:rPr lang="en-US" dirty="0">
                <a:latin typeface="Bahnschrift" panose="020B0502040204020203" pitchFamily="34" charset="0"/>
              </a:rPr>
              <a:t>that also help prevent infection. 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Activate network threat</a:t>
            </a:r>
          </a:p>
          <a:p>
            <a:r>
              <a:rPr lang="en-US" dirty="0">
                <a:latin typeface="Bahnschrift" panose="020B0502040204020203" pitchFamily="34" charset="0"/>
              </a:rPr>
              <a:t>protection, firewall, antivirus.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A051856F-C640-FCE4-2BDC-37E6DBE6CFA7}"/>
              </a:ext>
            </a:extLst>
          </p:cNvPr>
          <p:cNvSpPr/>
          <p:nvPr/>
        </p:nvSpPr>
        <p:spPr>
          <a:xfrm>
            <a:off x="595589" y="2454494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5E1CA988-DDDE-E142-7F98-FC6B8DC3D7C3}"/>
              </a:ext>
            </a:extLst>
          </p:cNvPr>
          <p:cNvSpPr/>
          <p:nvPr/>
        </p:nvSpPr>
        <p:spPr>
          <a:xfrm>
            <a:off x="595589" y="3523187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23" name="Picture 22" descr="A black spider with a red circle with a red cross">
            <a:extLst>
              <a:ext uri="{FF2B5EF4-FFF2-40B4-BE49-F238E27FC236}">
                <a16:creationId xmlns:a16="http://schemas.microsoft.com/office/drawing/2014/main" id="{1CC1E38B-1791-BEBB-C55E-1744FA18A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895" y="2312885"/>
            <a:ext cx="2090058" cy="209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54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145B3-7A72-B23C-705A-4C9880A451B0}"/>
              </a:ext>
            </a:extLst>
          </p:cNvPr>
          <p:cNvSpPr txBox="1"/>
          <p:nvPr/>
        </p:nvSpPr>
        <p:spPr>
          <a:xfrm flipH="1" flipV="1">
            <a:off x="-2275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BBF1E-7D53-30F5-2C3E-5B943A49AFC1}"/>
              </a:ext>
            </a:extLst>
          </p:cNvPr>
          <p:cNvSpPr txBox="1"/>
          <p:nvPr/>
        </p:nvSpPr>
        <p:spPr>
          <a:xfrm>
            <a:off x="682387" y="1033818"/>
            <a:ext cx="3043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Trojan Horses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6A218-297A-68B3-9AB9-3AFDCB1034E4}"/>
              </a:ext>
            </a:extLst>
          </p:cNvPr>
          <p:cNvSpPr txBox="1"/>
          <p:nvPr/>
        </p:nvSpPr>
        <p:spPr>
          <a:xfrm>
            <a:off x="943282" y="2080357"/>
            <a:ext cx="7136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Trojan horses are email viruses that can</a:t>
            </a:r>
          </a:p>
          <a:p>
            <a:r>
              <a:rPr lang="en-US" dirty="0">
                <a:latin typeface="Bahnschrift" panose="020B0502040204020203" pitchFamily="34" charset="0"/>
              </a:rPr>
              <a:t>duplicate themselves, steal information,</a:t>
            </a:r>
          </a:p>
          <a:p>
            <a:r>
              <a:rPr lang="en-US" dirty="0">
                <a:latin typeface="Bahnschrift" panose="020B0502040204020203" pitchFamily="34" charset="0"/>
              </a:rPr>
              <a:t> or harm the computer system.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These viruses are the most serious</a:t>
            </a:r>
          </a:p>
          <a:p>
            <a:r>
              <a:rPr lang="en-US" dirty="0">
                <a:latin typeface="Bahnschrift" panose="020B0502040204020203" pitchFamily="34" charset="0"/>
              </a:rPr>
              <a:t> threats to computers.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7807B6C4-F7A6-0BFA-E3E9-7A3A055F2734}"/>
              </a:ext>
            </a:extLst>
          </p:cNvPr>
          <p:cNvSpPr/>
          <p:nvPr/>
        </p:nvSpPr>
        <p:spPr>
          <a:xfrm>
            <a:off x="810759" y="2208434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4D98807-0D65-EFC4-A195-DCAB7DB381D3}"/>
              </a:ext>
            </a:extLst>
          </p:cNvPr>
          <p:cNvSpPr/>
          <p:nvPr/>
        </p:nvSpPr>
        <p:spPr>
          <a:xfrm>
            <a:off x="810759" y="3289111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14" name="Picture 13" descr="A computer screen with a person and a horse&#10;&#10;AI-generated content may be incorrect.">
            <a:extLst>
              <a:ext uri="{FF2B5EF4-FFF2-40B4-BE49-F238E27FC236}">
                <a16:creationId xmlns:a16="http://schemas.microsoft.com/office/drawing/2014/main" id="{63E11CE4-C5DA-9C9B-AC02-C6E166E3A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524" y="3111690"/>
            <a:ext cx="3930557" cy="307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21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0F7532-8084-6D8D-0DDE-C0C717D25AC7}"/>
              </a:ext>
            </a:extLst>
          </p:cNvPr>
          <p:cNvSpPr txBox="1"/>
          <p:nvPr/>
        </p:nvSpPr>
        <p:spPr>
          <a:xfrm flipH="1" flipV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D4A9F-708A-4640-022A-FD3DC5E9903B}"/>
              </a:ext>
            </a:extLst>
          </p:cNvPr>
          <p:cNvSpPr txBox="1"/>
          <p:nvPr/>
        </p:nvSpPr>
        <p:spPr>
          <a:xfrm>
            <a:off x="655093" y="1009935"/>
            <a:ext cx="4394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How to avoid trojans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4F33B-480D-081B-AA4B-1D7D649C48C7}"/>
              </a:ext>
            </a:extLst>
          </p:cNvPr>
          <p:cNvSpPr txBox="1"/>
          <p:nvPr/>
        </p:nvSpPr>
        <p:spPr>
          <a:xfrm>
            <a:off x="978090" y="2101756"/>
            <a:ext cx="3621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Security suites, such as Avast internet security, will prevent you from downloading</a:t>
            </a:r>
          </a:p>
          <a:p>
            <a:r>
              <a:rPr lang="en-US" dirty="0">
                <a:latin typeface="Bahnschrift" panose="020B0502040204020203" pitchFamily="34" charset="0"/>
              </a:rPr>
              <a:t> trojan horses.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CAD090A2-F910-EF93-C5B5-F4F40F91BE1F}"/>
              </a:ext>
            </a:extLst>
          </p:cNvPr>
          <p:cNvSpPr/>
          <p:nvPr/>
        </p:nvSpPr>
        <p:spPr>
          <a:xfrm>
            <a:off x="750629" y="2210940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8" name="Picture 7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0B882E9D-E678-9968-EB65-3452CCAAC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036" y="1801504"/>
            <a:ext cx="5623415" cy="43945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340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56F223-8DBF-1949-A415-6993E02B7C85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51F35-3EA1-BD2D-FF99-0715DC2FB7BB}"/>
              </a:ext>
            </a:extLst>
          </p:cNvPr>
          <p:cNvSpPr txBox="1"/>
          <p:nvPr/>
        </p:nvSpPr>
        <p:spPr>
          <a:xfrm>
            <a:off x="696035" y="996285"/>
            <a:ext cx="421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Password cracking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6F128-F61E-8614-3477-B3BA79C2DC0F}"/>
              </a:ext>
            </a:extLst>
          </p:cNvPr>
          <p:cNvSpPr txBox="1"/>
          <p:nvPr/>
        </p:nvSpPr>
        <p:spPr>
          <a:xfrm>
            <a:off x="946476" y="1993711"/>
            <a:ext cx="6619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Password attacks are attacks by hackers that are able to determine passwords or find password to different protected electronic areas and social network sites.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BA303F89-D556-FFBC-956C-06605E5C35E8}"/>
              </a:ext>
            </a:extLst>
          </p:cNvPr>
          <p:cNvSpPr/>
          <p:nvPr/>
        </p:nvSpPr>
        <p:spPr>
          <a:xfrm>
            <a:off x="813954" y="2102895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10" name="Picture 9" descr="Close-up of a login screen&#10;&#10;AI-generated content may be incorrect.">
            <a:extLst>
              <a:ext uri="{FF2B5EF4-FFF2-40B4-BE49-F238E27FC236}">
                <a16:creationId xmlns:a16="http://schemas.microsoft.com/office/drawing/2014/main" id="{6E281E96-BA2D-20A6-7640-3A99FAFE5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65" y="3429000"/>
            <a:ext cx="4053384" cy="243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89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A8C109-9C93-C277-1345-5B159D4652B2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4529A-C66D-D0D8-37E6-F182166A6426}"/>
              </a:ext>
            </a:extLst>
          </p:cNvPr>
          <p:cNvSpPr txBox="1"/>
          <p:nvPr/>
        </p:nvSpPr>
        <p:spPr>
          <a:xfrm>
            <a:off x="696036" y="996287"/>
            <a:ext cx="405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Securing password</a:t>
            </a:r>
            <a:endParaRPr lang="en-IN" sz="3600" u="sng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40145-2AF4-D552-4792-4FD2619C2783}"/>
              </a:ext>
            </a:extLst>
          </p:cNvPr>
          <p:cNvSpPr txBox="1"/>
          <p:nvPr/>
        </p:nvSpPr>
        <p:spPr>
          <a:xfrm>
            <a:off x="946772" y="2177240"/>
            <a:ext cx="5281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Use always strong password. 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Never use same password for tow different sites.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3683F04B-4A34-5155-D6C6-5D7AE94D1326}"/>
              </a:ext>
            </a:extLst>
          </p:cNvPr>
          <p:cNvSpPr/>
          <p:nvPr/>
        </p:nvSpPr>
        <p:spPr>
          <a:xfrm>
            <a:off x="814250" y="2308536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DADBB12C-BE5B-522E-C803-C73B81C678D3}"/>
              </a:ext>
            </a:extLst>
          </p:cNvPr>
          <p:cNvSpPr/>
          <p:nvPr/>
        </p:nvSpPr>
        <p:spPr>
          <a:xfrm>
            <a:off x="814250" y="2861453"/>
            <a:ext cx="132522" cy="145774"/>
          </a:xfrm>
          <a:prstGeom prst="chevron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00" dirty="0">
              <a:solidFill>
                <a:schemeClr val="tx1"/>
              </a:solidFill>
            </a:endParaRPr>
          </a:p>
        </p:txBody>
      </p:sp>
      <p:pic>
        <p:nvPicPr>
          <p:cNvPr id="10" name="Picture 9" descr="A close-up of a lock and password&#10;&#10;AI-generated content may be incorrect.">
            <a:extLst>
              <a:ext uri="{FF2B5EF4-FFF2-40B4-BE49-F238E27FC236}">
                <a16:creationId xmlns:a16="http://schemas.microsoft.com/office/drawing/2014/main" id="{A4556EBC-4720-5B56-1573-9C99DEB74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38" y="3429000"/>
            <a:ext cx="4062768" cy="263060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657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4A338C-4B12-612F-F46B-01BBCADE3E8D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8ADEC-841C-8586-E54A-32F2AB9590A5}"/>
              </a:ext>
            </a:extLst>
          </p:cNvPr>
          <p:cNvSpPr txBox="1"/>
          <p:nvPr/>
        </p:nvSpPr>
        <p:spPr>
          <a:xfrm>
            <a:off x="2424751" y="1446663"/>
            <a:ext cx="837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CYBER SECURITY IS EVERYONE’S RESPONSIBILITY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pic>
        <p:nvPicPr>
          <p:cNvPr id="9" name="Picture 8" descr="A group of people holding hands together&#10;&#10;AI-generated content may be incorrect.">
            <a:extLst>
              <a:ext uri="{FF2B5EF4-FFF2-40B4-BE49-F238E27FC236}">
                <a16:creationId xmlns:a16="http://schemas.microsoft.com/office/drawing/2014/main" id="{FBC1435A-C9E9-C1FC-D892-41B8A9165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18" y="2251096"/>
            <a:ext cx="6414961" cy="3556810"/>
          </a:xfrm>
          <a:prstGeom prst="rect">
            <a:avLst/>
          </a:prstGeom>
          <a:ln>
            <a:solidFill>
              <a:srgbClr val="ADC1E5"/>
            </a:solidFill>
          </a:ln>
        </p:spPr>
      </p:pic>
    </p:spTree>
    <p:extLst>
      <p:ext uri="{BB962C8B-B14F-4D97-AF65-F5344CB8AC3E}">
        <p14:creationId xmlns:p14="http://schemas.microsoft.com/office/powerpoint/2010/main" val="2178469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60C9F1-828B-F3AE-876A-F8D0CF55BA79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ADC1E5">
                  <a:tint val="66000"/>
                  <a:satMod val="160000"/>
                </a:srgbClr>
              </a:gs>
              <a:gs pos="50000">
                <a:srgbClr val="ADC1E5">
                  <a:tint val="44500"/>
                  <a:satMod val="160000"/>
                </a:srgbClr>
              </a:gs>
              <a:gs pos="100000">
                <a:srgbClr val="ADC1E5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9AAAA-3C1E-92F3-FA90-51C35A060E1A}"/>
              </a:ext>
            </a:extLst>
          </p:cNvPr>
          <p:cNvSpPr txBox="1"/>
          <p:nvPr/>
        </p:nvSpPr>
        <p:spPr>
          <a:xfrm>
            <a:off x="4826758" y="1372211"/>
            <a:ext cx="2538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Britannic Bold" panose="020B0903060703020204" pitchFamily="34" charset="0"/>
              </a:rPr>
              <a:t>Conclusion</a:t>
            </a:r>
            <a:r>
              <a:rPr lang="en-US" sz="3600" dirty="0">
                <a:latin typeface="Britannic Bold" panose="020B0903060703020204" pitchFamily="34" charset="0"/>
              </a:rPr>
              <a:t> </a:t>
            </a:r>
            <a:endParaRPr lang="en-IN" sz="3600" dirty="0"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EB913-EF58-20DC-479C-57D4BCD9482D}"/>
              </a:ext>
            </a:extLst>
          </p:cNvPr>
          <p:cNvSpPr txBox="1"/>
          <p:nvPr/>
        </p:nvSpPr>
        <p:spPr>
          <a:xfrm>
            <a:off x="2265528" y="2681068"/>
            <a:ext cx="7660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I hope my presentation will be helpful for my audience to improve their knowledge about cyber security. Also it helps to spread awareness among normal people about emerging security threats.</a:t>
            </a:r>
            <a:endParaRPr lang="en-IN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98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48EDBA-0181-6E57-BCD3-71361E798FF2}"/>
              </a:ext>
            </a:extLst>
          </p:cNvPr>
          <p:cNvSpPr txBox="1"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 descr="A thank you note on a white surface&#10;&#10;AI-generated content may be incorrect.">
            <a:extLst>
              <a:ext uri="{FF2B5EF4-FFF2-40B4-BE49-F238E27FC236}">
                <a16:creationId xmlns:a16="http://schemas.microsoft.com/office/drawing/2014/main" id="{19297B2C-02FC-8185-8939-665C3551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6069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453</Words>
  <Application>Microsoft Office PowerPoint</Application>
  <PresentationFormat>Widescreen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Algerian</vt:lpstr>
      <vt:lpstr>Arial</vt:lpstr>
      <vt:lpstr>Arial Black</vt:lpstr>
      <vt:lpstr>Bahnschrift</vt:lpstr>
      <vt:lpstr>Bahnschrift SemiBold</vt:lpstr>
      <vt:lpstr>Britannic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MAAYA-15</dc:creator>
  <cp:lastModifiedBy>MAAYA-17</cp:lastModifiedBy>
  <cp:revision>30</cp:revision>
  <dcterms:created xsi:type="dcterms:W3CDTF">2026-03-26T09:44:47Z</dcterms:created>
  <dcterms:modified xsi:type="dcterms:W3CDTF">2026-03-30T10:51:20Z</dcterms:modified>
</cp:coreProperties>
</file>